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8" r:id="rId3"/>
    <p:sldId id="259" r:id="rId4"/>
    <p:sldId id="260" r:id="rId5"/>
    <p:sldId id="261" r:id="rId6"/>
    <p:sldId id="262" r:id="rId7"/>
    <p:sldId id="263" r:id="rId8"/>
    <p:sldId id="270" r:id="rId9"/>
    <p:sldId id="271" r:id="rId10"/>
    <p:sldId id="272" r:id="rId11"/>
    <p:sldId id="273" r:id="rId12"/>
    <p:sldId id="268" r:id="rId13"/>
    <p:sldId id="269" r:id="rId14"/>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6D948"/>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1BFBA1C-3D63-4560-A42E-34867285C482}" v="28" dt="2026-06-26T19:23:14.89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05" d="100"/>
          <a:sy n="105" d="100"/>
        </p:scale>
        <p:origin x="798" y="9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issette Diaz" userId="3a6a6417acab1291" providerId="LiveId" clId="{FB6E4C15-FBEE-4DCC-B100-6036B25C0B75}"/>
    <pc:docChg chg="modSld">
      <pc:chgData name="Lissette Diaz" userId="3a6a6417acab1291" providerId="LiveId" clId="{FB6E4C15-FBEE-4DCC-B100-6036B25C0B75}" dt="2026-06-26T19:32:18.841" v="10" actId="20577"/>
      <pc:docMkLst>
        <pc:docMk/>
      </pc:docMkLst>
      <pc:sldChg chg="modNotesTx">
        <pc:chgData name="Lissette Diaz" userId="3a6a6417acab1291" providerId="LiveId" clId="{FB6E4C15-FBEE-4DCC-B100-6036B25C0B75}" dt="2026-06-26T19:32:18.841" v="10" actId="20577"/>
        <pc:sldMkLst>
          <pc:docMk/>
          <pc:sldMk cId="0" sldId="256"/>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L"/>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699B4B5-4098-49B4-AF9B-06A79BDE6A77}" type="datetimeFigureOut">
              <a:rPr lang="es-CL" smtClean="0"/>
              <a:t>26-06-2026</a:t>
            </a:fld>
            <a:endParaRPr lang="es-CL"/>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CL"/>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CL"/>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L"/>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FC073EB-3053-48EF-8468-C6EBFD6E86D4}" type="slidenum">
              <a:rPr lang="es-CL" smtClean="0"/>
              <a:t>‹#›</a:t>
            </a:fld>
            <a:endParaRPr lang="es-CL"/>
          </a:p>
        </p:txBody>
      </p:sp>
    </p:spTree>
    <p:extLst>
      <p:ext uri="{BB962C8B-B14F-4D97-AF65-F5344CB8AC3E}">
        <p14:creationId xmlns:p14="http://schemas.microsoft.com/office/powerpoint/2010/main" val="31029725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t>
            </a:r>
            <a:r>
              <a:rPr lang="en-US"/>
              <a:t>afternoon. Today </a:t>
            </a:r>
            <a:r>
              <a:rPr lang="en-US" dirty="0"/>
              <a:t>we present our Enterprise Risk Management analysis of Shopify's acquisition of Vantage Discovery. This is not a theoretical exercise — Shopify made this acquisition in March 2025, and the decisions being made right now will define whether it creates or destroys value. Let's get into it.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Shopify is not a small company. $3.17 billion in Q1 2026 revenue, up 34% year over year, with $476 million in free cash flow. The acquisition of Vantage Discovery cost approximately $65 million and brought AI-powered search technology directly into Shopify's platform. The problem: by doing this, Shopify entered a space dominated by Amazon and Google, companies that have invested billions in AI search for years. The window before they reach parity? 6 to 18 months. That window is the core tension of everything we are about to show you.</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SWOT identifies where Shopify is strong and where it is exposed. On the strengths side: global reach, strong cash position, and a brand that merchants trust. On the weaknesses side: Vantage Discovery's team is small, integration timelines are slipping, and Shopify has never competed at this level in AI search. The opportunities are real — particularly capturing merchants frustrated with Amazon's fees — but they are time-sensitive. And the threats are serious: Amazon and Google have years of AI investment ahead, and the regulatory environment is getting more complex. Every element here connects directly to the three risks we are about to quantify.</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identified three critical risks. Risk 1: merchant churn — if the AI integration is slow or inferior, merchants move to competitors. Risk 2: regulatory non-compliance — the LLM technology processes user data across multiple jurisdictions, creating exposure under GDPR, the EU AI Act, and PIPEDA. Risk 3 is a positive risk — the AI-first merchant acquisition window. If Shopify moves fast, there is significant upside. If it does not, that window closes permanently. All three are HIGH priority. And here is what makes this analysis different: we did not stop at qualitative scores. We quantified them.</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get the full picture, we evaluated 24 risk scenarios across six categories. The heat map shows where risks concentrate. Three risks exceed our high-risk threshold: R23 — a zero-day exploit in the Vantage Discovery LLM endpoint, R14 — a cybersecurity incident during integration, and R15 — Amazon and Google AI search dominance reducing Shopify Plus merchant retention. The Monte Carlo simulation confirmed what the heat map shows: Risk 1 has a 100% probability of breaching our warning threshold, Risk 2 has 70.4%, and Risk 3 has a 45.1% chance of capturing the full upside. This is not gut feeling — it is probability-weighted financial exposure.</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talk numbers. For Risk 1 — merchant churn — the median outcome is a $133.8 million ARR loss. Under pessimistic conditions, that rises to $380 million. And critically: 100% of our 10,000 simulations breached the L1 warning threshold. This is not a tail risk — it is a near-certain event that must be actively managed from day one. For Risk 2 — regulatory non-compliance — the median fine exposure is $128 million, but the tail risk under a pessimistic GDPR scenario reaches $508 million. That is 4% of Shopify's entire annual revenue. These numbers justify board-level attention.</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 3 is different — it is an opportunity. The Monte Carlo gives us a median upside of $491.3 million in incremental ARR if Shopify successfully captures dissatisfied merchants during the integration window. But here is the critical point: that window is 6 to 18 months. After that, Amazon and Google reach AI search parity and the opportunity disappears permanently. Our KRI traffic light system translates these thresholds into operational triggers. Green means normal operations. Amber means elevated monitoring. Red means immediate escalation. The simulation gives us the thresholds — the KRI system makes them actionable.</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merchant churn, the optimal strategy is a phased rollout with performance gates. Deploy Vantage Discovery to a controlled group first, measure NPS and churn, and only expand when KRIs stay green. Bundle AI search with Shopify Payments and Fulfillment to increase switching costs — making it harder for merchants to leave even if a competitor offers similar AI features. What you do not do: cut fees reactively, wait for churn signals to appear in reported data, or try to match every Amazon feature as it launches. By the time you react, the merchants have already decided.</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regulatory risk, Privacy-by-Design must be embedded into the LLM architecture before any merchant data flows through it. Retroactive compliance is exponentially more expensive than proactive design. We recommend an AI Governance Committee with quarterly privacy impact assessments, and a dedicated legal team monitoring PIPEDA, GDPR, and the EU AI Act across all jurisdictions. What does not work: treating insurance as your primary defense. Insurance transfers financial exposure but does not prevent the fine — and it does not cover reputational damage or operational shutdown orders.</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market opportunity, the strategy is targeted go-to-market within the 6 to 18 month window. Focus on merchants on Amazon Seller Central showing dissatisfaction: high ad costs, limited brand control, algorithmic search opacity. Position Shopify Plus plus AI search as the differentiated alternative. Prioritize markets where Amazon's AI search is weakest — where Shopify already has merchant presence. What you do not do: wait for full integration before communicating, launch broadly without premium positioning, or rely on organic discovery. The merchants most likely to switch are not searching for Shopify — Shopify needs to find them.</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monitoring framework assigns a risk owner, a KRI, and a review frequency to each risk. Merchant churn goes to the CTO — reviewed monthly. Regulatory exposure goes to the CLO and DPO — reviewed quarterly. The market window goes to the CMO — also monthly. Any L2 breach triggers escalation within 48 hours. Every quarter, all 24 risks are reviewed independently. Every six months, the full ERM summary goes to the board. This is how the early warning system stays active after today's presentation ends.</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things to take away. First: merchant churn is near-certain — 100% L1 breach probability — and must be the highest-frequency management activity from day one. Second: a $508 million regulatory tail risk requires board-level ownership, not just a legal department response. Privacy-by-Design at the architecture level is the only measure that addresses both the fine risk and the reputational consequences. Third: the $491 million ARR opportunity exists only for the next 6 to 18 months. This is the most urgent finding of the analysis — and the one most likely to be set aside while the team focuses on integration. With this framework, the acquisition of Vantage Discovery stops being a strategic bet and becomes an informed, manageable decision. Thank you.</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6/26/2026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6/26/2026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6/26/2026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6/26/2026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6/26/2026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6/26/2026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2.emf"/></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hyperlink" Target="https://github.com/Lissdi/ALY-6130-Risk-Management" TargetMode="External"/><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s-CL" dirty="0"/>
              <a:t> 	</a:t>
            </a:r>
            <a:endParaRPr dirty="0"/>
          </a:p>
        </p:txBody>
      </p:sp>
      <p:sp>
        <p:nvSpPr>
          <p:cNvPr id="3" name="Rectangle 2"/>
          <p:cNvSpPr/>
          <p:nvPr/>
        </p:nvSpPr>
        <p:spPr>
          <a:xfrm>
            <a:off x="0" y="0"/>
            <a:ext cx="502920" cy="6858000"/>
          </a:xfrm>
          <a:prstGeom prst="rect">
            <a:avLst/>
          </a:prstGeom>
          <a:solidFill>
            <a:schemeClr val="accent5">
              <a:lumMod val="5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6" name="TextBox 5"/>
          <p:cNvSpPr txBox="1"/>
          <p:nvPr/>
        </p:nvSpPr>
        <p:spPr>
          <a:xfrm>
            <a:off x="758952" y="770537"/>
            <a:ext cx="10058400" cy="923330"/>
          </a:xfrm>
          <a:prstGeom prst="rect">
            <a:avLst/>
          </a:prstGeom>
          <a:noFill/>
        </p:spPr>
        <p:txBody>
          <a:bodyPr wrap="square">
            <a:spAutoFit/>
          </a:bodyPr>
          <a:lstStyle/>
          <a:p>
            <a:pPr algn="l"/>
            <a:r>
              <a:rPr sz="4000" b="0" i="0" dirty="0">
                <a:solidFill>
                  <a:srgbClr val="E8F5EE"/>
                </a:solidFill>
              </a:rPr>
              <a:t>Shopify's Acquisition of Vantage Discovery</a:t>
            </a:r>
            <a:endParaRPr lang="en-CA" sz="4000" b="0" i="0" dirty="0">
              <a:solidFill>
                <a:srgbClr val="E8F5EE"/>
              </a:solidFill>
            </a:endParaRPr>
          </a:p>
          <a:p>
            <a:pPr algn="l"/>
            <a:r>
              <a:rPr lang="es-CL" sz="1400" b="1" dirty="0">
                <a:solidFill>
                  <a:srgbClr val="FFC200"/>
                </a:solidFill>
              </a:rPr>
              <a:t>Start-Up </a:t>
            </a:r>
            <a:r>
              <a:rPr lang="es-CL" sz="1400" b="1" dirty="0" err="1">
                <a:solidFill>
                  <a:srgbClr val="FFC200"/>
                </a:solidFill>
              </a:rPr>
              <a:t>Acquisition</a:t>
            </a:r>
            <a:endParaRPr sz="1400" b="1" dirty="0">
              <a:solidFill>
                <a:srgbClr val="FFC200"/>
              </a:solidFill>
            </a:endParaRPr>
          </a:p>
        </p:txBody>
      </p:sp>
      <p:sp>
        <p:nvSpPr>
          <p:cNvPr id="7" name="Rectangle 6"/>
          <p:cNvSpPr/>
          <p:nvPr/>
        </p:nvSpPr>
        <p:spPr>
          <a:xfrm>
            <a:off x="822960" y="2075688"/>
            <a:ext cx="7772400" cy="36576"/>
          </a:xfrm>
          <a:prstGeom prst="rect">
            <a:avLst/>
          </a:prstGeom>
          <a:solidFill>
            <a:srgbClr val="FFF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18" name="Group 17">
            <a:extLst>
              <a:ext uri="{FF2B5EF4-FFF2-40B4-BE49-F238E27FC236}">
                <a16:creationId xmlns:a16="http://schemas.microsoft.com/office/drawing/2014/main" id="{CD545A78-8E66-8FE7-1143-7A525C40F703}"/>
              </a:ext>
            </a:extLst>
          </p:cNvPr>
          <p:cNvGrpSpPr/>
          <p:nvPr/>
        </p:nvGrpSpPr>
        <p:grpSpPr>
          <a:xfrm>
            <a:off x="822960" y="2825496"/>
            <a:ext cx="5568604" cy="2240742"/>
            <a:chOff x="822960" y="3291840"/>
            <a:chExt cx="5568604" cy="2240742"/>
          </a:xfrm>
        </p:grpSpPr>
        <p:sp>
          <p:nvSpPr>
            <p:cNvPr id="9" name="Rectangle 8"/>
            <p:cNvSpPr/>
            <p:nvPr/>
          </p:nvSpPr>
          <p:spPr>
            <a:xfrm>
              <a:off x="822960" y="3291840"/>
              <a:ext cx="5568604" cy="2240742"/>
            </a:xfrm>
            <a:prstGeom prst="rect">
              <a:avLst/>
            </a:prstGeom>
            <a:solidFill>
              <a:srgbClr val="1A4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dirty="0">
                <a:latin typeface="Arial" panose="020B0604020202020204" pitchFamily="34" charset="0"/>
                <a:cs typeface="Arial" panose="020B0604020202020204" pitchFamily="34" charset="0"/>
              </a:endParaRPr>
            </a:p>
          </p:txBody>
        </p:sp>
        <p:sp>
          <p:nvSpPr>
            <p:cNvPr id="10" name="TextBox 9"/>
            <p:cNvSpPr txBox="1"/>
            <p:nvPr/>
          </p:nvSpPr>
          <p:spPr>
            <a:xfrm>
              <a:off x="1005840" y="3429000"/>
              <a:ext cx="4572000" cy="276999"/>
            </a:xfrm>
            <a:prstGeom prst="rect">
              <a:avLst/>
            </a:prstGeom>
            <a:noFill/>
          </p:spPr>
          <p:txBody>
            <a:bodyPr wrap="square">
              <a:spAutoFit/>
            </a:bodyPr>
            <a:lstStyle/>
            <a:p>
              <a:pPr algn="l"/>
              <a:r>
                <a:rPr sz="1200" b="1" i="0" dirty="0">
                  <a:solidFill>
                    <a:srgbClr val="FFC200"/>
                  </a:solidFill>
                  <a:latin typeface="Arial" panose="020B0604020202020204" pitchFamily="34" charset="0"/>
                  <a:cs typeface="Arial" panose="020B0604020202020204" pitchFamily="34" charset="0"/>
                </a:rPr>
                <a:t>Group 1</a:t>
              </a:r>
              <a:r>
                <a:rPr lang="es-CL" sz="1200" b="1" i="0" dirty="0">
                  <a:solidFill>
                    <a:srgbClr val="FFC200"/>
                  </a:solidFill>
                  <a:latin typeface="Arial" panose="020B0604020202020204" pitchFamily="34" charset="0"/>
                  <a:cs typeface="Arial" panose="020B0604020202020204" pitchFamily="34" charset="0"/>
                </a:rPr>
                <a:t>:</a:t>
              </a:r>
              <a:endParaRPr sz="1200" b="1" i="0" dirty="0">
                <a:solidFill>
                  <a:srgbClr val="FFC200"/>
                </a:solidFill>
                <a:latin typeface="Arial" panose="020B0604020202020204" pitchFamily="34" charset="0"/>
                <a:cs typeface="Arial" panose="020B0604020202020204" pitchFamily="34" charset="0"/>
              </a:endParaRPr>
            </a:p>
          </p:txBody>
        </p:sp>
        <p:sp>
          <p:nvSpPr>
            <p:cNvPr id="11" name="TextBox 10"/>
            <p:cNvSpPr txBox="1"/>
            <p:nvPr/>
          </p:nvSpPr>
          <p:spPr>
            <a:xfrm>
              <a:off x="1005840" y="3886200"/>
              <a:ext cx="2194560" cy="276999"/>
            </a:xfrm>
            <a:prstGeom prst="rect">
              <a:avLst/>
            </a:prstGeom>
            <a:noFill/>
          </p:spPr>
          <p:txBody>
            <a:bodyPr wrap="square">
              <a:spAutoFit/>
            </a:bodyPr>
            <a:lstStyle/>
            <a:p>
              <a:pPr algn="l"/>
              <a:r>
                <a:rPr sz="1200" b="1" i="0" dirty="0">
                  <a:solidFill>
                    <a:srgbClr val="FFFFFF"/>
                  </a:solidFill>
                  <a:latin typeface="+mj-lt"/>
                </a:rPr>
                <a:t>Lissette Diaz</a:t>
              </a:r>
            </a:p>
          </p:txBody>
        </p:sp>
        <p:sp>
          <p:nvSpPr>
            <p:cNvPr id="12" name="TextBox 11"/>
            <p:cNvSpPr txBox="1"/>
            <p:nvPr/>
          </p:nvSpPr>
          <p:spPr>
            <a:xfrm>
              <a:off x="3246120" y="3886200"/>
              <a:ext cx="2743200" cy="461665"/>
            </a:xfrm>
            <a:prstGeom prst="rect">
              <a:avLst/>
            </a:prstGeom>
            <a:noFill/>
          </p:spPr>
          <p:txBody>
            <a:bodyPr wrap="square">
              <a:spAutoFit/>
            </a:bodyPr>
            <a:lstStyle/>
            <a:p>
              <a:pPr algn="l"/>
              <a:r>
                <a:rPr sz="1200" b="0" i="1" dirty="0">
                  <a:solidFill>
                    <a:srgbClr val="E8F5EE"/>
                  </a:solidFill>
                </a:rPr>
                <a:t>Part 1 · Context · SWOT · Risk Register</a:t>
              </a:r>
              <a:r>
                <a:rPr lang="es-CL" sz="1200" b="0" i="1" dirty="0">
                  <a:solidFill>
                    <a:srgbClr val="E8F5EE"/>
                  </a:solidFill>
                </a:rPr>
                <a:t> </a:t>
              </a:r>
            </a:p>
            <a:p>
              <a:r>
                <a:rPr lang="es-CL" sz="1200" i="1" dirty="0">
                  <a:solidFill>
                    <a:srgbClr val="E8F5EE"/>
                  </a:solidFill>
                </a:rPr>
                <a:t>Part 4 · </a:t>
              </a:r>
              <a:r>
                <a:rPr lang="es-CL" sz="1200" i="1" dirty="0" err="1">
                  <a:solidFill>
                    <a:srgbClr val="E8F5EE"/>
                  </a:solidFill>
                </a:rPr>
                <a:t>Conclusions</a:t>
              </a:r>
              <a:endParaRPr sz="1200" b="0" i="1" dirty="0">
                <a:solidFill>
                  <a:srgbClr val="E8F5EE"/>
                </a:solidFill>
              </a:endParaRPr>
            </a:p>
          </p:txBody>
        </p:sp>
        <p:sp>
          <p:nvSpPr>
            <p:cNvPr id="13" name="TextBox 12"/>
            <p:cNvSpPr txBox="1"/>
            <p:nvPr/>
          </p:nvSpPr>
          <p:spPr>
            <a:xfrm>
              <a:off x="1005840" y="4389120"/>
              <a:ext cx="2194560" cy="276999"/>
            </a:xfrm>
            <a:prstGeom prst="rect">
              <a:avLst/>
            </a:prstGeom>
            <a:noFill/>
          </p:spPr>
          <p:txBody>
            <a:bodyPr wrap="square">
              <a:spAutoFit/>
            </a:bodyPr>
            <a:lstStyle/>
            <a:p>
              <a:pPr algn="l"/>
              <a:r>
                <a:rPr sz="1200" b="1" i="0" dirty="0">
                  <a:solidFill>
                    <a:srgbClr val="FFFFFF"/>
                  </a:solidFill>
                  <a:latin typeface="+mj-lt"/>
                  <a:cs typeface="Times New Roman" panose="02020603050405020304" pitchFamily="18" charset="0"/>
                </a:rPr>
                <a:t>Terry Lucas Boye</a:t>
              </a:r>
            </a:p>
          </p:txBody>
        </p:sp>
        <p:sp>
          <p:nvSpPr>
            <p:cNvPr id="14" name="TextBox 13"/>
            <p:cNvSpPr txBox="1"/>
            <p:nvPr/>
          </p:nvSpPr>
          <p:spPr>
            <a:xfrm>
              <a:off x="3246120" y="4389120"/>
              <a:ext cx="2743200" cy="276999"/>
            </a:xfrm>
            <a:prstGeom prst="rect">
              <a:avLst/>
            </a:prstGeom>
            <a:noFill/>
          </p:spPr>
          <p:txBody>
            <a:bodyPr wrap="square">
              <a:spAutoFit/>
            </a:bodyPr>
            <a:lstStyle/>
            <a:p>
              <a:pPr algn="l"/>
              <a:r>
                <a:rPr sz="1200" b="0" i="1" dirty="0">
                  <a:solidFill>
                    <a:srgbClr val="E8F5EE"/>
                  </a:solidFill>
                </a:rPr>
                <a:t>Part 2 · Heat Map · Monte Carlo · KRIs</a:t>
              </a:r>
            </a:p>
          </p:txBody>
        </p:sp>
        <p:sp>
          <p:nvSpPr>
            <p:cNvPr id="15" name="TextBox 14"/>
            <p:cNvSpPr txBox="1"/>
            <p:nvPr/>
          </p:nvSpPr>
          <p:spPr>
            <a:xfrm>
              <a:off x="1005840" y="4892040"/>
              <a:ext cx="2194560" cy="276999"/>
            </a:xfrm>
            <a:prstGeom prst="rect">
              <a:avLst/>
            </a:prstGeom>
            <a:noFill/>
          </p:spPr>
          <p:txBody>
            <a:bodyPr wrap="square">
              <a:spAutoFit/>
            </a:bodyPr>
            <a:lstStyle/>
            <a:p>
              <a:pPr algn="l"/>
              <a:r>
                <a:rPr sz="1200" b="1" i="0" dirty="0">
                  <a:solidFill>
                    <a:srgbClr val="FFFFFF"/>
                  </a:solidFill>
                  <a:latin typeface="+mj-lt"/>
                </a:rPr>
                <a:t>Ekene </a:t>
              </a:r>
              <a:r>
                <a:rPr sz="1200" b="1" i="0" dirty="0" err="1">
                  <a:solidFill>
                    <a:srgbClr val="FFFFFF"/>
                  </a:solidFill>
                  <a:latin typeface="+mj-lt"/>
                </a:rPr>
                <a:t>Onyemanjo</a:t>
              </a:r>
              <a:endParaRPr sz="1200" b="1" i="0" dirty="0">
                <a:solidFill>
                  <a:srgbClr val="FFFFFF"/>
                </a:solidFill>
                <a:latin typeface="+mj-lt"/>
              </a:endParaRPr>
            </a:p>
          </p:txBody>
        </p:sp>
        <p:sp>
          <p:nvSpPr>
            <p:cNvPr id="16" name="TextBox 15"/>
            <p:cNvSpPr txBox="1"/>
            <p:nvPr/>
          </p:nvSpPr>
          <p:spPr>
            <a:xfrm>
              <a:off x="3246119" y="4892040"/>
              <a:ext cx="2979189" cy="276999"/>
            </a:xfrm>
            <a:prstGeom prst="rect">
              <a:avLst/>
            </a:prstGeom>
            <a:noFill/>
          </p:spPr>
          <p:txBody>
            <a:bodyPr wrap="square">
              <a:spAutoFit/>
            </a:bodyPr>
            <a:lstStyle/>
            <a:p>
              <a:pPr algn="l"/>
              <a:r>
                <a:rPr sz="1200" b="0" i="1" dirty="0">
                  <a:solidFill>
                    <a:srgbClr val="E8F5EE"/>
                  </a:solidFill>
                </a:rPr>
                <a:t>Part 3 · Mitigation · Monitoring</a:t>
              </a:r>
            </a:p>
          </p:txBody>
        </p:sp>
      </p:grpSp>
      <p:sp>
        <p:nvSpPr>
          <p:cNvPr id="17" name="TextBox 16"/>
          <p:cNvSpPr txBox="1"/>
          <p:nvPr/>
        </p:nvSpPr>
        <p:spPr>
          <a:xfrm>
            <a:off x="822960" y="6126480"/>
            <a:ext cx="11018058" cy="600164"/>
          </a:xfrm>
          <a:prstGeom prst="rect">
            <a:avLst/>
          </a:prstGeom>
          <a:noFill/>
        </p:spPr>
        <p:txBody>
          <a:bodyPr wrap="square">
            <a:spAutoFit/>
          </a:bodyPr>
          <a:lstStyle/>
          <a:p>
            <a:pPr algn="ctr"/>
            <a:r>
              <a:rPr lang="en-US" sz="1100" b="1" dirty="0">
                <a:solidFill>
                  <a:srgbClr val="FFC200"/>
                </a:solidFill>
              </a:rPr>
              <a:t>ALY 6130 Risk Management Analytics</a:t>
            </a:r>
          </a:p>
          <a:p>
            <a:pPr algn="ctr"/>
            <a:r>
              <a:rPr lang="en-CA" sz="1100" b="1" dirty="0">
                <a:solidFill>
                  <a:srgbClr val="FFC200"/>
                </a:solidFill>
              </a:rPr>
              <a:t>Instructor: Abeba Nigussie Turi</a:t>
            </a:r>
          </a:p>
          <a:p>
            <a:pPr algn="ctr"/>
            <a:r>
              <a:rPr lang="es-CL" sz="1100" b="1" dirty="0">
                <a:solidFill>
                  <a:srgbClr val="FFC200"/>
                </a:solidFill>
              </a:rPr>
              <a:t> </a:t>
            </a:r>
            <a:r>
              <a:rPr sz="1100" b="1" dirty="0">
                <a:solidFill>
                  <a:srgbClr val="FFC200"/>
                </a:solidFill>
              </a:rPr>
              <a:t>Northeastern University</a:t>
            </a:r>
            <a:r>
              <a:rPr lang="en-CA" sz="1100" b="1" dirty="0">
                <a:solidFill>
                  <a:srgbClr val="FFC200"/>
                </a:solidFill>
              </a:rPr>
              <a:t>,</a:t>
            </a:r>
            <a:r>
              <a:rPr sz="1100" b="1" dirty="0">
                <a:solidFill>
                  <a:srgbClr val="FFC200"/>
                </a:solidFill>
              </a:rPr>
              <a:t> </a:t>
            </a:r>
            <a:r>
              <a:rPr lang="es-CL" sz="1100" b="1" dirty="0">
                <a:solidFill>
                  <a:srgbClr val="FFC200"/>
                </a:solidFill>
              </a:rPr>
              <a:t>26th </a:t>
            </a:r>
            <a:r>
              <a:rPr sz="1100" b="1" dirty="0">
                <a:solidFill>
                  <a:srgbClr val="FFC200"/>
                </a:solidFill>
              </a:rPr>
              <a:t>June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280160"/>
          </a:xfrm>
          <a:prstGeom prst="rect">
            <a:avLst/>
          </a:prstGeom>
          <a:solidFill>
            <a:schemeClr val="accent5">
              <a:lumMod val="5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4" name="TextBox 3"/>
          <p:cNvSpPr txBox="1"/>
          <p:nvPr/>
        </p:nvSpPr>
        <p:spPr>
          <a:xfrm>
            <a:off x="365760" y="182880"/>
            <a:ext cx="10972800" cy="553998"/>
          </a:xfrm>
          <a:prstGeom prst="rect">
            <a:avLst/>
          </a:prstGeom>
          <a:noFill/>
        </p:spPr>
        <p:txBody>
          <a:bodyPr wrap="square">
            <a:spAutoFit/>
          </a:bodyPr>
          <a:lstStyle/>
          <a:p>
            <a:pPr algn="l"/>
            <a:r>
              <a:rPr sz="3000" b="1" i="0" dirty="0">
                <a:solidFill>
                  <a:srgbClr val="FFFFFF"/>
                </a:solidFill>
              </a:rPr>
              <a:t>Shopify + Vantage Discovery: Why This Acquisition Matters</a:t>
            </a:r>
            <a:r>
              <a:rPr lang="es-CL" sz="3000" b="1" i="0" dirty="0">
                <a:solidFill>
                  <a:srgbClr val="FFFFFF"/>
                </a:solidFill>
              </a:rPr>
              <a:t>?</a:t>
            </a:r>
            <a:endParaRPr sz="3000" b="1" i="0" dirty="0">
              <a:solidFill>
                <a:srgbClr val="FFFFFF"/>
              </a:solidFill>
            </a:endParaRPr>
          </a:p>
        </p:txBody>
      </p:sp>
      <p:sp>
        <p:nvSpPr>
          <p:cNvPr id="5" name="TextBox 4"/>
          <p:cNvSpPr txBox="1"/>
          <p:nvPr/>
        </p:nvSpPr>
        <p:spPr>
          <a:xfrm>
            <a:off x="365760" y="914400"/>
            <a:ext cx="10972800" cy="365760"/>
          </a:xfrm>
          <a:prstGeom prst="rect">
            <a:avLst/>
          </a:prstGeom>
          <a:noFill/>
        </p:spPr>
        <p:txBody>
          <a:bodyPr wrap="square">
            <a:spAutoFit/>
          </a:bodyPr>
          <a:lstStyle/>
          <a:p>
            <a:pPr algn="l"/>
            <a:r>
              <a:rPr sz="1300" b="0" i="0" dirty="0">
                <a:solidFill>
                  <a:srgbClr val="E8F5EE"/>
                </a:solidFill>
              </a:rPr>
              <a:t>Part 1 · Lissette Diaz</a:t>
            </a:r>
          </a:p>
        </p:txBody>
      </p:sp>
      <p:sp>
        <p:nvSpPr>
          <p:cNvPr id="6" name="Rectangle 5"/>
          <p:cNvSpPr/>
          <p:nvPr/>
        </p:nvSpPr>
        <p:spPr>
          <a:xfrm>
            <a:off x="274320" y="1463040"/>
            <a:ext cx="5394960" cy="5029200"/>
          </a:xfrm>
          <a:prstGeom prst="rect">
            <a:avLst/>
          </a:prstGeom>
          <a:solidFill>
            <a:srgbClr val="FFFFFF"/>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7" name="TextBox 6"/>
          <p:cNvSpPr txBox="1"/>
          <p:nvPr/>
        </p:nvSpPr>
        <p:spPr>
          <a:xfrm>
            <a:off x="502920" y="1600200"/>
            <a:ext cx="4937760" cy="365760"/>
          </a:xfrm>
          <a:prstGeom prst="rect">
            <a:avLst/>
          </a:prstGeom>
          <a:noFill/>
        </p:spPr>
        <p:txBody>
          <a:bodyPr wrap="square">
            <a:spAutoFit/>
          </a:bodyPr>
          <a:lstStyle/>
          <a:p>
            <a:pPr algn="l"/>
            <a:r>
              <a:rPr sz="1600" b="1" i="0">
                <a:solidFill>
                  <a:srgbClr val="008C5A"/>
                </a:solidFill>
              </a:rPr>
              <a:t>Shopify Inc.</a:t>
            </a:r>
          </a:p>
        </p:txBody>
      </p:sp>
      <p:sp>
        <p:nvSpPr>
          <p:cNvPr id="8" name="TextBox 7"/>
          <p:cNvSpPr txBox="1"/>
          <p:nvPr/>
        </p:nvSpPr>
        <p:spPr>
          <a:xfrm>
            <a:off x="502920" y="1965960"/>
            <a:ext cx="4937760" cy="261610"/>
          </a:xfrm>
          <a:prstGeom prst="rect">
            <a:avLst/>
          </a:prstGeom>
          <a:noFill/>
        </p:spPr>
        <p:txBody>
          <a:bodyPr wrap="square">
            <a:spAutoFit/>
          </a:bodyPr>
          <a:lstStyle/>
          <a:p>
            <a:r>
              <a:rPr sz="1100" b="0" i="1" dirty="0">
                <a:solidFill>
                  <a:srgbClr val="64748B"/>
                </a:solidFill>
              </a:rPr>
              <a:t>Ottawa, Ontario · Founded 2006 · </a:t>
            </a:r>
            <a:r>
              <a:rPr lang="es-CL" sz="1100" i="1" dirty="0">
                <a:solidFill>
                  <a:srgbClr val="64748B"/>
                </a:solidFill>
              </a:rPr>
              <a:t>TSX: SHOP · NYSE: SHOP</a:t>
            </a:r>
            <a:endParaRPr sz="1100" i="1" dirty="0">
              <a:solidFill>
                <a:srgbClr val="64748B"/>
              </a:solidFill>
            </a:endParaRPr>
          </a:p>
        </p:txBody>
      </p:sp>
      <p:sp>
        <p:nvSpPr>
          <p:cNvPr id="9" name="Rectangle 8"/>
          <p:cNvSpPr/>
          <p:nvPr/>
        </p:nvSpPr>
        <p:spPr>
          <a:xfrm>
            <a:off x="411480" y="2423160"/>
            <a:ext cx="1371600" cy="685800"/>
          </a:xfrm>
          <a:prstGeom prst="rect">
            <a:avLst/>
          </a:prstGeom>
          <a:solidFill>
            <a:schemeClr val="accent5">
              <a:lumMod val="5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57200" y="2578608"/>
            <a:ext cx="1280160" cy="365760"/>
          </a:xfrm>
          <a:prstGeom prst="rect">
            <a:avLst/>
          </a:prstGeom>
          <a:noFill/>
        </p:spPr>
        <p:txBody>
          <a:bodyPr wrap="square">
            <a:spAutoFit/>
          </a:bodyPr>
          <a:lstStyle/>
          <a:p>
            <a:pPr algn="ctr"/>
            <a:r>
              <a:rPr sz="1800" b="1" i="0" dirty="0">
                <a:solidFill>
                  <a:schemeClr val="bg1"/>
                </a:solidFill>
              </a:rPr>
              <a:t>175+</a:t>
            </a:r>
          </a:p>
        </p:txBody>
      </p:sp>
      <p:sp>
        <p:nvSpPr>
          <p:cNvPr id="11" name="TextBox 10"/>
          <p:cNvSpPr txBox="1"/>
          <p:nvPr/>
        </p:nvSpPr>
        <p:spPr>
          <a:xfrm>
            <a:off x="1874519" y="2587752"/>
            <a:ext cx="3566160" cy="276999"/>
          </a:xfrm>
          <a:prstGeom prst="rect">
            <a:avLst/>
          </a:prstGeom>
          <a:noFill/>
        </p:spPr>
        <p:txBody>
          <a:bodyPr wrap="square">
            <a:spAutoFit/>
          </a:bodyPr>
          <a:lstStyle/>
          <a:p>
            <a:pPr algn="l"/>
            <a:r>
              <a:rPr lang="es-CL" sz="1200" b="0" i="0" dirty="0">
                <a:solidFill>
                  <a:srgbClr val="0A1A2E"/>
                </a:solidFill>
              </a:rPr>
              <a:t>C</a:t>
            </a:r>
            <a:r>
              <a:rPr sz="1200" b="0" i="0" dirty="0" err="1">
                <a:solidFill>
                  <a:srgbClr val="0A1A2E"/>
                </a:solidFill>
              </a:rPr>
              <a:t>ountries</a:t>
            </a:r>
            <a:r>
              <a:rPr sz="1200" b="0" i="0" dirty="0">
                <a:solidFill>
                  <a:srgbClr val="0A1A2E"/>
                </a:solidFill>
              </a:rPr>
              <a:t> of operation</a:t>
            </a:r>
            <a:r>
              <a:rPr lang="es-CL" sz="1200" b="0" i="0" dirty="0">
                <a:solidFill>
                  <a:srgbClr val="0A1A2E"/>
                </a:solidFill>
              </a:rPr>
              <a:t>.</a:t>
            </a:r>
            <a:endParaRPr sz="1200" b="0" i="0" dirty="0">
              <a:solidFill>
                <a:srgbClr val="0A1A2E"/>
              </a:solidFill>
            </a:endParaRPr>
          </a:p>
        </p:txBody>
      </p:sp>
      <p:sp>
        <p:nvSpPr>
          <p:cNvPr id="12" name="Rectangle 11"/>
          <p:cNvSpPr/>
          <p:nvPr/>
        </p:nvSpPr>
        <p:spPr>
          <a:xfrm>
            <a:off x="411480" y="3291839"/>
            <a:ext cx="1371600" cy="685800"/>
          </a:xfrm>
          <a:prstGeom prst="rect">
            <a:avLst/>
          </a:prstGeom>
          <a:solidFill>
            <a:schemeClr val="accent5">
              <a:lumMod val="5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57200" y="3429000"/>
            <a:ext cx="1280160" cy="365760"/>
          </a:xfrm>
          <a:prstGeom prst="rect">
            <a:avLst/>
          </a:prstGeom>
          <a:noFill/>
        </p:spPr>
        <p:txBody>
          <a:bodyPr wrap="square">
            <a:spAutoFit/>
          </a:bodyPr>
          <a:lstStyle/>
          <a:p>
            <a:pPr algn="ctr"/>
            <a:r>
              <a:rPr sz="1800" b="1" i="0" dirty="0">
                <a:solidFill>
                  <a:schemeClr val="bg1"/>
                </a:solidFill>
              </a:rPr>
              <a:t>$3.17B</a:t>
            </a:r>
          </a:p>
        </p:txBody>
      </p:sp>
      <p:sp>
        <p:nvSpPr>
          <p:cNvPr id="14" name="TextBox 13"/>
          <p:cNvSpPr txBox="1"/>
          <p:nvPr/>
        </p:nvSpPr>
        <p:spPr>
          <a:xfrm>
            <a:off x="1874519" y="3456432"/>
            <a:ext cx="3566160" cy="276999"/>
          </a:xfrm>
          <a:prstGeom prst="rect">
            <a:avLst/>
          </a:prstGeom>
          <a:noFill/>
        </p:spPr>
        <p:txBody>
          <a:bodyPr wrap="square">
            <a:spAutoFit/>
          </a:bodyPr>
          <a:lstStyle/>
          <a:p>
            <a:pPr algn="l"/>
            <a:r>
              <a:rPr sz="1200" b="0" i="0" dirty="0">
                <a:solidFill>
                  <a:srgbClr val="0A1A2E"/>
                </a:solidFill>
              </a:rPr>
              <a:t>Q1 2026 Revenue (+</a:t>
            </a:r>
            <a:r>
              <a:rPr lang="es-CL" sz="1200" dirty="0">
                <a:solidFill>
                  <a:srgbClr val="0A1A2E"/>
                </a:solidFill>
              </a:rPr>
              <a:t>3</a:t>
            </a:r>
            <a:r>
              <a:rPr lang="es-CL" sz="1200" b="0" i="0" dirty="0">
                <a:solidFill>
                  <a:srgbClr val="0A1A2E"/>
                </a:solidFill>
              </a:rPr>
              <a:t>4</a:t>
            </a:r>
            <a:r>
              <a:rPr sz="1200" b="0" i="0" dirty="0">
                <a:solidFill>
                  <a:srgbClr val="0A1A2E"/>
                </a:solidFill>
              </a:rPr>
              <a:t>% Y</a:t>
            </a:r>
            <a:r>
              <a:rPr lang="es-CL" sz="1200" b="0" i="0" dirty="0" err="1">
                <a:solidFill>
                  <a:srgbClr val="0A1A2E"/>
                </a:solidFill>
              </a:rPr>
              <a:t>ear</a:t>
            </a:r>
            <a:r>
              <a:rPr lang="es-CL" sz="1200" b="0" i="0" dirty="0">
                <a:solidFill>
                  <a:srgbClr val="0A1A2E"/>
                </a:solidFill>
              </a:rPr>
              <a:t> </a:t>
            </a:r>
            <a:r>
              <a:rPr sz="1200" b="0" i="0" dirty="0">
                <a:solidFill>
                  <a:srgbClr val="0A1A2E"/>
                </a:solidFill>
              </a:rPr>
              <a:t>o</a:t>
            </a:r>
            <a:r>
              <a:rPr lang="es-CL" sz="1200" b="0" i="0" dirty="0">
                <a:solidFill>
                  <a:srgbClr val="0A1A2E"/>
                </a:solidFill>
              </a:rPr>
              <a:t>ver </a:t>
            </a:r>
            <a:r>
              <a:rPr sz="1200" b="0" i="0" dirty="0">
                <a:solidFill>
                  <a:srgbClr val="0A1A2E"/>
                </a:solidFill>
              </a:rPr>
              <a:t>Y</a:t>
            </a:r>
            <a:r>
              <a:rPr lang="es-CL" sz="1200" b="0" i="0" dirty="0" err="1">
                <a:solidFill>
                  <a:srgbClr val="0A1A2E"/>
                </a:solidFill>
              </a:rPr>
              <a:t>ear</a:t>
            </a:r>
            <a:r>
              <a:rPr lang="es-CL" sz="1200" b="0" i="0" dirty="0">
                <a:solidFill>
                  <a:srgbClr val="0A1A2E"/>
                </a:solidFill>
              </a:rPr>
              <a:t> (YoY)</a:t>
            </a:r>
            <a:r>
              <a:rPr sz="1200" b="0" i="0" dirty="0">
                <a:solidFill>
                  <a:srgbClr val="0A1A2E"/>
                </a:solidFill>
              </a:rPr>
              <a:t>)</a:t>
            </a:r>
            <a:r>
              <a:rPr lang="es-CL" sz="1200" b="0" i="0" dirty="0">
                <a:solidFill>
                  <a:srgbClr val="0A1A2E"/>
                </a:solidFill>
              </a:rPr>
              <a:t>.</a:t>
            </a:r>
            <a:endParaRPr sz="1200" b="0" i="0" dirty="0">
              <a:solidFill>
                <a:srgbClr val="0A1A2E"/>
              </a:solidFill>
            </a:endParaRPr>
          </a:p>
        </p:txBody>
      </p:sp>
      <p:sp>
        <p:nvSpPr>
          <p:cNvPr id="15" name="Rectangle 14"/>
          <p:cNvSpPr/>
          <p:nvPr/>
        </p:nvSpPr>
        <p:spPr>
          <a:xfrm>
            <a:off x="411480" y="4160520"/>
            <a:ext cx="1371600" cy="685800"/>
          </a:xfrm>
          <a:prstGeom prst="rect">
            <a:avLst/>
          </a:prstGeom>
          <a:solidFill>
            <a:schemeClr val="accent5">
              <a:lumMod val="5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57200" y="4298142"/>
            <a:ext cx="1280160" cy="365760"/>
          </a:xfrm>
          <a:prstGeom prst="rect">
            <a:avLst/>
          </a:prstGeom>
          <a:noFill/>
        </p:spPr>
        <p:txBody>
          <a:bodyPr wrap="square">
            <a:spAutoFit/>
          </a:bodyPr>
          <a:lstStyle/>
          <a:p>
            <a:pPr algn="ctr"/>
            <a:r>
              <a:rPr sz="1800" b="1" i="0" dirty="0">
                <a:solidFill>
                  <a:schemeClr val="bg1"/>
                </a:solidFill>
              </a:rPr>
              <a:t>$476M</a:t>
            </a:r>
          </a:p>
        </p:txBody>
      </p:sp>
      <p:sp>
        <p:nvSpPr>
          <p:cNvPr id="17" name="TextBox 16"/>
          <p:cNvSpPr txBox="1"/>
          <p:nvPr/>
        </p:nvSpPr>
        <p:spPr>
          <a:xfrm>
            <a:off x="1874519" y="4325112"/>
            <a:ext cx="3566160" cy="276999"/>
          </a:xfrm>
          <a:prstGeom prst="rect">
            <a:avLst/>
          </a:prstGeom>
          <a:noFill/>
        </p:spPr>
        <p:txBody>
          <a:bodyPr wrap="square">
            <a:spAutoFit/>
          </a:bodyPr>
          <a:lstStyle/>
          <a:p>
            <a:pPr algn="l"/>
            <a:r>
              <a:rPr sz="1200" b="0" i="0" dirty="0">
                <a:solidFill>
                  <a:srgbClr val="0A1A2E"/>
                </a:solidFill>
              </a:rPr>
              <a:t>Free Cash Flow</a:t>
            </a:r>
            <a:r>
              <a:rPr lang="es-CL" sz="1200" b="0" i="0" dirty="0">
                <a:solidFill>
                  <a:srgbClr val="0A1A2E"/>
                </a:solidFill>
              </a:rPr>
              <a:t> (FCF)</a:t>
            </a:r>
            <a:r>
              <a:rPr sz="1200" b="0" i="0" dirty="0">
                <a:solidFill>
                  <a:srgbClr val="0A1A2E"/>
                </a:solidFill>
              </a:rPr>
              <a:t> — Q1 2026</a:t>
            </a:r>
            <a:r>
              <a:rPr lang="es-CL" sz="1200" b="0" i="0" dirty="0">
                <a:solidFill>
                  <a:srgbClr val="0A1A2E"/>
                </a:solidFill>
              </a:rPr>
              <a:t>.</a:t>
            </a:r>
            <a:endParaRPr sz="1200" b="0" i="0" dirty="0">
              <a:solidFill>
                <a:srgbClr val="0A1A2E"/>
              </a:solidFill>
            </a:endParaRPr>
          </a:p>
        </p:txBody>
      </p:sp>
      <p:sp>
        <p:nvSpPr>
          <p:cNvPr id="18" name="Rectangle 17"/>
          <p:cNvSpPr/>
          <p:nvPr/>
        </p:nvSpPr>
        <p:spPr>
          <a:xfrm>
            <a:off x="411480" y="5029200"/>
            <a:ext cx="1371600" cy="685800"/>
          </a:xfrm>
          <a:prstGeom prst="rect">
            <a:avLst/>
          </a:prstGeom>
          <a:solidFill>
            <a:schemeClr val="accent5">
              <a:lumMod val="5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57200" y="5193792"/>
            <a:ext cx="1280160" cy="365760"/>
          </a:xfrm>
          <a:prstGeom prst="rect">
            <a:avLst/>
          </a:prstGeom>
          <a:noFill/>
        </p:spPr>
        <p:txBody>
          <a:bodyPr wrap="square">
            <a:spAutoFit/>
          </a:bodyPr>
          <a:lstStyle/>
          <a:p>
            <a:pPr algn="ctr"/>
            <a:r>
              <a:rPr lang="es-CL" b="1" dirty="0">
                <a:solidFill>
                  <a:schemeClr val="bg1"/>
                </a:solidFill>
              </a:rPr>
              <a:t>$750M</a:t>
            </a:r>
          </a:p>
        </p:txBody>
      </p:sp>
      <p:sp>
        <p:nvSpPr>
          <p:cNvPr id="20" name="TextBox 19"/>
          <p:cNvSpPr txBox="1"/>
          <p:nvPr/>
        </p:nvSpPr>
        <p:spPr>
          <a:xfrm>
            <a:off x="1874519" y="5193792"/>
            <a:ext cx="3566160" cy="461665"/>
          </a:xfrm>
          <a:prstGeom prst="rect">
            <a:avLst/>
          </a:prstGeom>
          <a:noFill/>
        </p:spPr>
        <p:txBody>
          <a:bodyPr wrap="square">
            <a:spAutoFit/>
          </a:bodyPr>
          <a:lstStyle/>
          <a:p>
            <a:r>
              <a:rPr lang="es-CL" sz="1200" dirty="0" err="1"/>
              <a:t>Subscription</a:t>
            </a:r>
            <a:r>
              <a:rPr lang="es-CL" sz="1200" dirty="0"/>
              <a:t> </a:t>
            </a:r>
            <a:r>
              <a:rPr lang="es-CL" sz="1200" dirty="0" err="1"/>
              <a:t>Solutions</a:t>
            </a:r>
            <a:r>
              <a:rPr lang="es-CL" sz="1200" dirty="0"/>
              <a:t> </a:t>
            </a:r>
            <a:r>
              <a:rPr lang="es-CL" sz="1200" dirty="0" err="1"/>
              <a:t>Revenue</a:t>
            </a:r>
            <a:r>
              <a:rPr lang="es-CL" sz="1200" dirty="0"/>
              <a:t> — Q1 2026 </a:t>
            </a:r>
          </a:p>
          <a:p>
            <a:r>
              <a:rPr lang="es-CL" sz="1200" b="0" i="0" dirty="0">
                <a:solidFill>
                  <a:srgbClr val="0A1A2E"/>
                </a:solidFill>
              </a:rPr>
              <a:t>(+21% YoY</a:t>
            </a:r>
            <a:r>
              <a:rPr lang="es-CL" sz="1200" dirty="0">
                <a:solidFill>
                  <a:srgbClr val="0A1A2E"/>
                </a:solidFill>
              </a:rPr>
              <a:t>)</a:t>
            </a:r>
            <a:endParaRPr sz="1200" b="0" i="0" dirty="0">
              <a:solidFill>
                <a:srgbClr val="0A1A2E"/>
              </a:solidFill>
            </a:endParaRPr>
          </a:p>
        </p:txBody>
      </p:sp>
      <p:sp>
        <p:nvSpPr>
          <p:cNvPr id="21" name="Rectangle 20"/>
          <p:cNvSpPr/>
          <p:nvPr/>
        </p:nvSpPr>
        <p:spPr>
          <a:xfrm>
            <a:off x="6035040" y="1463040"/>
            <a:ext cx="5852160" cy="5029200"/>
          </a:xfrm>
          <a:prstGeom prst="rect">
            <a:avLst/>
          </a:prstGeom>
          <a:solidFill>
            <a:srgbClr val="FFFFFF"/>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263640" y="1600200"/>
            <a:ext cx="5394960" cy="338554"/>
          </a:xfrm>
          <a:prstGeom prst="rect">
            <a:avLst/>
          </a:prstGeom>
          <a:noFill/>
        </p:spPr>
        <p:txBody>
          <a:bodyPr wrap="square">
            <a:spAutoFit/>
          </a:bodyPr>
          <a:lstStyle/>
          <a:p>
            <a:pPr algn="l"/>
            <a:r>
              <a:rPr sz="1600" b="1" i="0" dirty="0">
                <a:solidFill>
                  <a:srgbClr val="008C5A"/>
                </a:solidFill>
              </a:rPr>
              <a:t>The Acquisition</a:t>
            </a:r>
            <a:r>
              <a:rPr lang="es-CL" sz="1600" b="1" i="0" dirty="0">
                <a:solidFill>
                  <a:srgbClr val="008C5A"/>
                </a:solidFill>
              </a:rPr>
              <a:t>: </a:t>
            </a:r>
            <a:r>
              <a:rPr lang="es-CL" sz="1600" b="1" i="0" dirty="0" err="1">
                <a:solidFill>
                  <a:srgbClr val="008C5A"/>
                </a:solidFill>
              </a:rPr>
              <a:t>Vantage</a:t>
            </a:r>
            <a:r>
              <a:rPr lang="es-CL" sz="1600" b="1" i="0" dirty="0">
                <a:solidFill>
                  <a:srgbClr val="008C5A"/>
                </a:solidFill>
              </a:rPr>
              <a:t> Discovery</a:t>
            </a:r>
            <a:endParaRPr sz="1600" b="1" i="0" dirty="0">
              <a:solidFill>
                <a:srgbClr val="008C5A"/>
              </a:solidFill>
            </a:endParaRPr>
          </a:p>
        </p:txBody>
      </p:sp>
      <p:sp>
        <p:nvSpPr>
          <p:cNvPr id="23" name="TextBox 22"/>
          <p:cNvSpPr txBox="1"/>
          <p:nvPr/>
        </p:nvSpPr>
        <p:spPr>
          <a:xfrm>
            <a:off x="6263640" y="1965960"/>
            <a:ext cx="5394960" cy="261610"/>
          </a:xfrm>
          <a:prstGeom prst="rect">
            <a:avLst/>
          </a:prstGeom>
          <a:noFill/>
        </p:spPr>
        <p:txBody>
          <a:bodyPr wrap="square">
            <a:spAutoFit/>
          </a:bodyPr>
          <a:lstStyle/>
          <a:p>
            <a:pPr algn="l"/>
            <a:r>
              <a:rPr sz="1100" b="0" i="1" dirty="0">
                <a:solidFill>
                  <a:srgbClr val="64748B"/>
                </a:solidFill>
              </a:rPr>
              <a:t>Vantage Discovery · </a:t>
            </a:r>
            <a:r>
              <a:rPr lang="es-CL" sz="1100" b="0" i="1" dirty="0">
                <a:solidFill>
                  <a:srgbClr val="64748B"/>
                </a:solidFill>
              </a:rPr>
              <a:t>San Francisco</a:t>
            </a:r>
            <a:r>
              <a:rPr sz="1100" b="0" i="1" dirty="0">
                <a:solidFill>
                  <a:srgbClr val="64748B"/>
                </a:solidFill>
              </a:rPr>
              <a:t>, </a:t>
            </a:r>
            <a:r>
              <a:rPr lang="es-CL" sz="1100" b="0" i="1" dirty="0">
                <a:solidFill>
                  <a:srgbClr val="64748B"/>
                </a:solidFill>
              </a:rPr>
              <a:t>CA</a:t>
            </a:r>
            <a:r>
              <a:rPr sz="1100" b="0" i="1" dirty="0">
                <a:solidFill>
                  <a:srgbClr val="64748B"/>
                </a:solidFill>
              </a:rPr>
              <a:t> · March 2025</a:t>
            </a:r>
          </a:p>
        </p:txBody>
      </p:sp>
      <p:sp>
        <p:nvSpPr>
          <p:cNvPr id="24" name="Rectangle 23"/>
          <p:cNvSpPr/>
          <p:nvPr/>
        </p:nvSpPr>
        <p:spPr>
          <a:xfrm>
            <a:off x="6172200" y="2423160"/>
            <a:ext cx="5577840" cy="685800"/>
          </a:xfrm>
          <a:prstGeom prst="rect">
            <a:avLst/>
          </a:prstGeom>
          <a:solidFill>
            <a:srgbClr val="E8F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263640" y="2450591"/>
            <a:ext cx="5394960" cy="307777"/>
          </a:xfrm>
          <a:prstGeom prst="rect">
            <a:avLst/>
          </a:prstGeom>
          <a:noFill/>
        </p:spPr>
        <p:txBody>
          <a:bodyPr wrap="square">
            <a:spAutoFit/>
          </a:bodyPr>
          <a:lstStyle/>
          <a:p>
            <a:pPr algn="l"/>
            <a:r>
              <a:rPr sz="1400" b="1" i="0" dirty="0">
                <a:solidFill>
                  <a:srgbClr val="1A4A3A"/>
                </a:solidFill>
              </a:rPr>
              <a:t>$</a:t>
            </a:r>
            <a:r>
              <a:rPr lang="es-CL" sz="1400" b="1" i="0" dirty="0">
                <a:solidFill>
                  <a:srgbClr val="1A4A3A"/>
                </a:solidFill>
              </a:rPr>
              <a:t>65</a:t>
            </a:r>
            <a:r>
              <a:rPr sz="1400" b="1" i="0" dirty="0">
                <a:solidFill>
                  <a:srgbClr val="1A4A3A"/>
                </a:solidFill>
              </a:rPr>
              <a:t>M cash + restricted Class A shares</a:t>
            </a:r>
          </a:p>
        </p:txBody>
      </p:sp>
      <p:sp>
        <p:nvSpPr>
          <p:cNvPr id="26" name="TextBox 25"/>
          <p:cNvSpPr txBox="1"/>
          <p:nvPr/>
        </p:nvSpPr>
        <p:spPr>
          <a:xfrm>
            <a:off x="6263640" y="2788920"/>
            <a:ext cx="5394960" cy="261610"/>
          </a:xfrm>
          <a:prstGeom prst="rect">
            <a:avLst/>
          </a:prstGeom>
          <a:noFill/>
        </p:spPr>
        <p:txBody>
          <a:bodyPr wrap="square">
            <a:spAutoFit/>
          </a:bodyPr>
          <a:lstStyle/>
          <a:p>
            <a:pPr algn="l"/>
            <a:r>
              <a:rPr sz="1100" b="0" i="1" dirty="0">
                <a:solidFill>
                  <a:srgbClr val="64748B"/>
                </a:solidFill>
              </a:rPr>
              <a:t>Acquisition value</a:t>
            </a:r>
            <a:r>
              <a:rPr lang="es-CL" sz="1100" b="0" i="1" dirty="0">
                <a:solidFill>
                  <a:srgbClr val="64748B"/>
                </a:solidFill>
              </a:rPr>
              <a:t> – </a:t>
            </a:r>
            <a:r>
              <a:rPr lang="es-CL" sz="1100" b="0" i="1" dirty="0" err="1">
                <a:solidFill>
                  <a:srgbClr val="64748B"/>
                </a:solidFill>
              </a:rPr>
              <a:t>includes</a:t>
            </a:r>
            <a:r>
              <a:rPr lang="es-CL" sz="1100" b="0" i="1" dirty="0">
                <a:solidFill>
                  <a:srgbClr val="64748B"/>
                </a:solidFill>
              </a:rPr>
              <a:t> $6M </a:t>
            </a:r>
            <a:r>
              <a:rPr lang="es-CL" sz="1100" b="0" i="1" dirty="0" err="1">
                <a:solidFill>
                  <a:srgbClr val="64748B"/>
                </a:solidFill>
              </a:rPr>
              <a:t>retention</a:t>
            </a:r>
            <a:r>
              <a:rPr lang="es-CL" sz="1100" b="0" i="1" dirty="0">
                <a:solidFill>
                  <a:srgbClr val="64748B"/>
                </a:solidFill>
              </a:rPr>
              <a:t> </a:t>
            </a:r>
            <a:r>
              <a:rPr lang="es-CL" sz="1100" b="0" i="1" dirty="0" err="1">
                <a:solidFill>
                  <a:srgbClr val="64748B"/>
                </a:solidFill>
              </a:rPr>
              <a:t>compensation</a:t>
            </a:r>
            <a:r>
              <a:rPr lang="es-CL" sz="1100" b="0" i="1" dirty="0">
                <a:solidFill>
                  <a:srgbClr val="64748B"/>
                </a:solidFill>
              </a:rPr>
              <a:t>.</a:t>
            </a:r>
            <a:endParaRPr sz="1100" b="0" i="1" dirty="0">
              <a:solidFill>
                <a:srgbClr val="64748B"/>
              </a:solidFill>
            </a:endParaRPr>
          </a:p>
        </p:txBody>
      </p:sp>
      <p:sp>
        <p:nvSpPr>
          <p:cNvPr id="27" name="Rectangle 26"/>
          <p:cNvSpPr/>
          <p:nvPr/>
        </p:nvSpPr>
        <p:spPr>
          <a:xfrm>
            <a:off x="6172200" y="3291839"/>
            <a:ext cx="5577840" cy="685800"/>
          </a:xfrm>
          <a:prstGeom prst="rect">
            <a:avLst/>
          </a:prstGeom>
          <a:solidFill>
            <a:srgbClr val="E8F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263640" y="3319271"/>
            <a:ext cx="5394960" cy="307777"/>
          </a:xfrm>
          <a:prstGeom prst="rect">
            <a:avLst/>
          </a:prstGeom>
          <a:noFill/>
        </p:spPr>
        <p:txBody>
          <a:bodyPr wrap="square">
            <a:spAutoFit/>
          </a:bodyPr>
          <a:lstStyle/>
          <a:p>
            <a:pPr algn="l"/>
            <a:r>
              <a:rPr sz="1400" b="1" i="0" dirty="0">
                <a:solidFill>
                  <a:srgbClr val="1A4A3A"/>
                </a:solidFill>
              </a:rPr>
              <a:t>L</a:t>
            </a:r>
            <a:r>
              <a:rPr lang="es-CL" sz="1400" b="1" i="0" dirty="0" err="1">
                <a:solidFill>
                  <a:srgbClr val="1A4A3A"/>
                </a:solidFill>
              </a:rPr>
              <a:t>arge</a:t>
            </a:r>
            <a:r>
              <a:rPr lang="es-CL" sz="1400" b="1" i="0" dirty="0">
                <a:solidFill>
                  <a:srgbClr val="1A4A3A"/>
                </a:solidFill>
              </a:rPr>
              <a:t> </a:t>
            </a:r>
            <a:r>
              <a:rPr sz="1400" b="1" i="0" dirty="0">
                <a:solidFill>
                  <a:srgbClr val="1A4A3A"/>
                </a:solidFill>
              </a:rPr>
              <a:t>L</a:t>
            </a:r>
            <a:r>
              <a:rPr lang="es-CL" sz="1400" b="1" i="0" dirty="0" err="1">
                <a:solidFill>
                  <a:srgbClr val="1A4A3A"/>
                </a:solidFill>
              </a:rPr>
              <a:t>anguage</a:t>
            </a:r>
            <a:r>
              <a:rPr lang="es-CL" sz="1400" b="1" i="0" dirty="0">
                <a:solidFill>
                  <a:srgbClr val="1A4A3A"/>
                </a:solidFill>
              </a:rPr>
              <a:t> </a:t>
            </a:r>
            <a:r>
              <a:rPr sz="1400" b="1" i="0" dirty="0">
                <a:solidFill>
                  <a:srgbClr val="1A4A3A"/>
                </a:solidFill>
              </a:rPr>
              <a:t>M</a:t>
            </a:r>
            <a:r>
              <a:rPr lang="es-CL" sz="1400" b="1" i="0" dirty="0" err="1">
                <a:solidFill>
                  <a:srgbClr val="1A4A3A"/>
                </a:solidFill>
              </a:rPr>
              <a:t>odel</a:t>
            </a:r>
            <a:r>
              <a:rPr lang="es-CL" sz="1400" b="1" i="0" dirty="0">
                <a:solidFill>
                  <a:srgbClr val="1A4A3A"/>
                </a:solidFill>
              </a:rPr>
              <a:t> (LLM)</a:t>
            </a:r>
            <a:r>
              <a:rPr sz="1400" b="1" i="0" dirty="0">
                <a:solidFill>
                  <a:srgbClr val="1A4A3A"/>
                </a:solidFill>
              </a:rPr>
              <a:t>-based AI product search</a:t>
            </a:r>
          </a:p>
        </p:txBody>
      </p:sp>
      <p:sp>
        <p:nvSpPr>
          <p:cNvPr id="29" name="TextBox 28"/>
          <p:cNvSpPr txBox="1"/>
          <p:nvPr/>
        </p:nvSpPr>
        <p:spPr>
          <a:xfrm>
            <a:off x="6263640" y="3657599"/>
            <a:ext cx="5394960" cy="261610"/>
          </a:xfrm>
          <a:prstGeom prst="rect">
            <a:avLst/>
          </a:prstGeom>
          <a:noFill/>
        </p:spPr>
        <p:txBody>
          <a:bodyPr wrap="square">
            <a:spAutoFit/>
          </a:bodyPr>
          <a:lstStyle/>
          <a:p>
            <a:pPr algn="l"/>
            <a:r>
              <a:rPr sz="1100" b="0" i="1" dirty="0">
                <a:solidFill>
                  <a:srgbClr val="64748B"/>
                </a:solidFill>
              </a:rPr>
              <a:t>Core technology acquired</a:t>
            </a:r>
            <a:r>
              <a:rPr lang="es-CL" sz="1100" b="0" i="1" dirty="0">
                <a:solidFill>
                  <a:srgbClr val="64748B"/>
                </a:solidFill>
              </a:rPr>
              <a:t>.</a:t>
            </a:r>
            <a:endParaRPr sz="1100" b="0" i="1" dirty="0">
              <a:solidFill>
                <a:srgbClr val="64748B"/>
              </a:solidFill>
            </a:endParaRPr>
          </a:p>
        </p:txBody>
      </p:sp>
      <p:sp>
        <p:nvSpPr>
          <p:cNvPr id="30" name="Rectangle 29"/>
          <p:cNvSpPr/>
          <p:nvPr/>
        </p:nvSpPr>
        <p:spPr>
          <a:xfrm>
            <a:off x="6172200" y="4160520"/>
            <a:ext cx="5577840" cy="685800"/>
          </a:xfrm>
          <a:prstGeom prst="rect">
            <a:avLst/>
          </a:prstGeom>
          <a:solidFill>
            <a:srgbClr val="E8F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263640" y="4187952"/>
            <a:ext cx="5394960" cy="365760"/>
          </a:xfrm>
          <a:prstGeom prst="rect">
            <a:avLst/>
          </a:prstGeom>
          <a:noFill/>
        </p:spPr>
        <p:txBody>
          <a:bodyPr wrap="square">
            <a:spAutoFit/>
          </a:bodyPr>
          <a:lstStyle/>
          <a:p>
            <a:pPr algn="l"/>
            <a:r>
              <a:rPr sz="1400" b="1" i="0" dirty="0">
                <a:solidFill>
                  <a:srgbClr val="1A4A3A"/>
                </a:solidFill>
              </a:rPr>
              <a:t>Amazon · Google · Microsoft</a:t>
            </a:r>
          </a:p>
        </p:txBody>
      </p:sp>
      <p:sp>
        <p:nvSpPr>
          <p:cNvPr id="32" name="TextBox 31"/>
          <p:cNvSpPr txBox="1"/>
          <p:nvPr/>
        </p:nvSpPr>
        <p:spPr>
          <a:xfrm>
            <a:off x="6263640" y="4526280"/>
            <a:ext cx="5394960" cy="261610"/>
          </a:xfrm>
          <a:prstGeom prst="rect">
            <a:avLst/>
          </a:prstGeom>
          <a:noFill/>
        </p:spPr>
        <p:txBody>
          <a:bodyPr wrap="square">
            <a:spAutoFit/>
          </a:bodyPr>
          <a:lstStyle/>
          <a:p>
            <a:pPr algn="l"/>
            <a:r>
              <a:rPr sz="1100" b="0" i="1" dirty="0">
                <a:solidFill>
                  <a:srgbClr val="64748B"/>
                </a:solidFill>
              </a:rPr>
              <a:t>Competitive landscape entered</a:t>
            </a:r>
            <a:r>
              <a:rPr lang="es-CL" sz="1100" b="0" i="1" dirty="0">
                <a:solidFill>
                  <a:srgbClr val="64748B"/>
                </a:solidFill>
              </a:rPr>
              <a:t>.</a:t>
            </a:r>
            <a:endParaRPr sz="1100" b="0" i="1" dirty="0">
              <a:solidFill>
                <a:srgbClr val="64748B"/>
              </a:solidFill>
            </a:endParaRPr>
          </a:p>
        </p:txBody>
      </p:sp>
      <p:sp>
        <p:nvSpPr>
          <p:cNvPr id="33" name="Rectangle 32"/>
          <p:cNvSpPr/>
          <p:nvPr/>
        </p:nvSpPr>
        <p:spPr>
          <a:xfrm>
            <a:off x="6172200" y="5029200"/>
            <a:ext cx="5577840" cy="685800"/>
          </a:xfrm>
          <a:prstGeom prst="rect">
            <a:avLst/>
          </a:prstGeom>
          <a:solidFill>
            <a:srgbClr val="E8F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263640" y="5056632"/>
            <a:ext cx="5394960" cy="307777"/>
          </a:xfrm>
          <a:prstGeom prst="rect">
            <a:avLst/>
          </a:prstGeom>
          <a:noFill/>
        </p:spPr>
        <p:txBody>
          <a:bodyPr wrap="square">
            <a:spAutoFit/>
          </a:bodyPr>
          <a:lstStyle/>
          <a:p>
            <a:pPr algn="l"/>
            <a:r>
              <a:rPr sz="1400" b="1" i="0" dirty="0">
                <a:solidFill>
                  <a:srgbClr val="1A4A3A"/>
                </a:solidFill>
              </a:rPr>
              <a:t>6–18 months</a:t>
            </a:r>
            <a:r>
              <a:rPr lang="es-CL" sz="1400" b="1" i="0" dirty="0">
                <a:solidFill>
                  <a:srgbClr val="1A4A3A"/>
                </a:solidFill>
              </a:rPr>
              <a:t>*</a:t>
            </a:r>
            <a:endParaRPr sz="1400" b="1" i="0" dirty="0">
              <a:solidFill>
                <a:srgbClr val="1A4A3A"/>
              </a:solidFill>
            </a:endParaRPr>
          </a:p>
        </p:txBody>
      </p:sp>
      <p:sp>
        <p:nvSpPr>
          <p:cNvPr id="35" name="TextBox 34"/>
          <p:cNvSpPr txBox="1"/>
          <p:nvPr/>
        </p:nvSpPr>
        <p:spPr>
          <a:xfrm>
            <a:off x="6263640" y="5394960"/>
            <a:ext cx="5394960" cy="261610"/>
          </a:xfrm>
          <a:prstGeom prst="rect">
            <a:avLst/>
          </a:prstGeom>
          <a:noFill/>
        </p:spPr>
        <p:txBody>
          <a:bodyPr wrap="square">
            <a:spAutoFit/>
          </a:bodyPr>
          <a:lstStyle/>
          <a:p>
            <a:r>
              <a:rPr lang="es-CL" sz="1100" i="1" dirty="0">
                <a:solidFill>
                  <a:srgbClr val="64748B"/>
                </a:solidFill>
              </a:rPr>
              <a:t>Competitive </a:t>
            </a:r>
            <a:r>
              <a:rPr lang="es-CL" sz="1100" i="1" dirty="0" err="1">
                <a:solidFill>
                  <a:srgbClr val="64748B"/>
                </a:solidFill>
              </a:rPr>
              <a:t>advantage</a:t>
            </a:r>
            <a:r>
              <a:rPr lang="es-CL" sz="1100" i="1" dirty="0">
                <a:solidFill>
                  <a:srgbClr val="64748B"/>
                </a:solidFill>
              </a:rPr>
              <a:t> </a:t>
            </a:r>
            <a:r>
              <a:rPr lang="es-CL" sz="1100" i="1" dirty="0" err="1">
                <a:solidFill>
                  <a:srgbClr val="64748B"/>
                </a:solidFill>
              </a:rPr>
              <a:t>window</a:t>
            </a:r>
            <a:r>
              <a:rPr lang="es-CL" sz="1100" i="1" dirty="0">
                <a:solidFill>
                  <a:srgbClr val="64748B"/>
                </a:solidFill>
              </a:rPr>
              <a:t> </a:t>
            </a:r>
            <a:r>
              <a:rPr lang="es-CL" sz="1100" i="1" dirty="0" err="1">
                <a:solidFill>
                  <a:srgbClr val="64748B"/>
                </a:solidFill>
              </a:rPr>
              <a:t>before</a:t>
            </a:r>
            <a:r>
              <a:rPr lang="es-CL" sz="1100" i="1" dirty="0">
                <a:solidFill>
                  <a:srgbClr val="64748B"/>
                </a:solidFill>
              </a:rPr>
              <a:t> Amazon &amp; Google </a:t>
            </a:r>
            <a:r>
              <a:rPr lang="es-CL" sz="1100" i="1" dirty="0" err="1">
                <a:solidFill>
                  <a:srgbClr val="64748B"/>
                </a:solidFill>
              </a:rPr>
              <a:t>reach</a:t>
            </a:r>
            <a:r>
              <a:rPr lang="es-CL" sz="1100" i="1" dirty="0">
                <a:solidFill>
                  <a:srgbClr val="64748B"/>
                </a:solidFill>
              </a:rPr>
              <a:t> AI </a:t>
            </a:r>
            <a:r>
              <a:rPr lang="es-CL" sz="1100" i="1" dirty="0" err="1">
                <a:solidFill>
                  <a:srgbClr val="64748B"/>
                </a:solidFill>
              </a:rPr>
              <a:t>search</a:t>
            </a:r>
            <a:r>
              <a:rPr lang="es-CL" sz="1100" i="1" dirty="0">
                <a:solidFill>
                  <a:srgbClr val="64748B"/>
                </a:solidFill>
              </a:rPr>
              <a:t> </a:t>
            </a:r>
            <a:r>
              <a:rPr lang="es-CL" sz="1100" i="1" dirty="0" err="1">
                <a:solidFill>
                  <a:srgbClr val="64748B"/>
                </a:solidFill>
              </a:rPr>
              <a:t>parity</a:t>
            </a:r>
            <a:r>
              <a:rPr lang="es-CL" sz="1100" i="1" dirty="0">
                <a:solidFill>
                  <a:srgbClr val="64748B"/>
                </a:solidFill>
              </a:rPr>
              <a:t>.</a:t>
            </a:r>
            <a:endParaRPr sz="1100" i="1" dirty="0">
              <a:solidFill>
                <a:srgbClr val="64748B"/>
              </a:solidFill>
            </a:endParaRPr>
          </a:p>
        </p:txBody>
      </p:sp>
      <p:sp>
        <p:nvSpPr>
          <p:cNvPr id="37" name="TextBox 36">
            <a:extLst>
              <a:ext uri="{FF2B5EF4-FFF2-40B4-BE49-F238E27FC236}">
                <a16:creationId xmlns:a16="http://schemas.microsoft.com/office/drawing/2014/main" id="{5143C6F9-4D54-A485-4045-87DFB28174E1}"/>
              </a:ext>
            </a:extLst>
          </p:cNvPr>
          <p:cNvSpPr txBox="1"/>
          <p:nvPr/>
        </p:nvSpPr>
        <p:spPr>
          <a:xfrm>
            <a:off x="457200" y="3673944"/>
            <a:ext cx="1280160" cy="261610"/>
          </a:xfrm>
          <a:prstGeom prst="rect">
            <a:avLst/>
          </a:prstGeom>
          <a:noFill/>
        </p:spPr>
        <p:txBody>
          <a:bodyPr wrap="square">
            <a:spAutoFit/>
          </a:bodyPr>
          <a:lstStyle/>
          <a:p>
            <a:pPr algn="ctr"/>
            <a:r>
              <a:rPr lang="es-CL" sz="1050" b="1" i="0" dirty="0">
                <a:solidFill>
                  <a:schemeClr val="bg1"/>
                </a:solidFill>
              </a:rPr>
              <a:t>USD</a:t>
            </a:r>
            <a:endParaRPr sz="1050" b="1" i="0" dirty="0">
              <a:solidFill>
                <a:schemeClr val="bg1"/>
              </a:solidFill>
            </a:endParaRPr>
          </a:p>
        </p:txBody>
      </p:sp>
      <p:sp>
        <p:nvSpPr>
          <p:cNvPr id="38" name="TextBox 37">
            <a:extLst>
              <a:ext uri="{FF2B5EF4-FFF2-40B4-BE49-F238E27FC236}">
                <a16:creationId xmlns:a16="http://schemas.microsoft.com/office/drawing/2014/main" id="{F1C3F6C6-2BDC-63DA-4A9E-188C8B35972B}"/>
              </a:ext>
            </a:extLst>
          </p:cNvPr>
          <p:cNvSpPr txBox="1"/>
          <p:nvPr/>
        </p:nvSpPr>
        <p:spPr>
          <a:xfrm>
            <a:off x="457199" y="4538990"/>
            <a:ext cx="1280160" cy="261610"/>
          </a:xfrm>
          <a:prstGeom prst="rect">
            <a:avLst/>
          </a:prstGeom>
          <a:noFill/>
        </p:spPr>
        <p:txBody>
          <a:bodyPr wrap="square">
            <a:spAutoFit/>
          </a:bodyPr>
          <a:lstStyle/>
          <a:p>
            <a:pPr algn="ctr"/>
            <a:r>
              <a:rPr lang="es-CL" sz="1050" b="1" i="0" dirty="0">
                <a:solidFill>
                  <a:schemeClr val="bg1"/>
                </a:solidFill>
              </a:rPr>
              <a:t>USD</a:t>
            </a:r>
            <a:endParaRPr sz="1050" b="1" i="0" dirty="0">
              <a:solidFill>
                <a:schemeClr val="bg1"/>
              </a:solidFill>
            </a:endParaRPr>
          </a:p>
        </p:txBody>
      </p:sp>
      <p:sp>
        <p:nvSpPr>
          <p:cNvPr id="39" name="TextBox 38">
            <a:extLst>
              <a:ext uri="{FF2B5EF4-FFF2-40B4-BE49-F238E27FC236}">
                <a16:creationId xmlns:a16="http://schemas.microsoft.com/office/drawing/2014/main" id="{7EA0173C-BEDC-5BCE-CFCB-30A57C19BA15}"/>
              </a:ext>
            </a:extLst>
          </p:cNvPr>
          <p:cNvSpPr txBox="1"/>
          <p:nvPr/>
        </p:nvSpPr>
        <p:spPr>
          <a:xfrm>
            <a:off x="438785" y="5391967"/>
            <a:ext cx="1280160" cy="261610"/>
          </a:xfrm>
          <a:prstGeom prst="rect">
            <a:avLst/>
          </a:prstGeom>
          <a:noFill/>
        </p:spPr>
        <p:txBody>
          <a:bodyPr wrap="square">
            <a:spAutoFit/>
          </a:bodyPr>
          <a:lstStyle/>
          <a:p>
            <a:pPr algn="ctr"/>
            <a:r>
              <a:rPr lang="es-CL" sz="1050" b="1" i="0" dirty="0">
                <a:solidFill>
                  <a:schemeClr val="bg1"/>
                </a:solidFill>
              </a:rPr>
              <a:t>USD</a:t>
            </a:r>
            <a:endParaRPr sz="1050" b="1" i="0" dirty="0">
              <a:solidFill>
                <a:schemeClr val="bg1"/>
              </a:solidFill>
            </a:endParaRPr>
          </a:p>
        </p:txBody>
      </p:sp>
      <p:sp>
        <p:nvSpPr>
          <p:cNvPr id="40" name="TextBox 39">
            <a:extLst>
              <a:ext uri="{FF2B5EF4-FFF2-40B4-BE49-F238E27FC236}">
                <a16:creationId xmlns:a16="http://schemas.microsoft.com/office/drawing/2014/main" id="{7B2DC687-0E65-E969-687B-48D0BA427329}"/>
              </a:ext>
            </a:extLst>
          </p:cNvPr>
          <p:cNvSpPr txBox="1"/>
          <p:nvPr/>
        </p:nvSpPr>
        <p:spPr>
          <a:xfrm>
            <a:off x="6172200" y="6003636"/>
            <a:ext cx="5577840" cy="430887"/>
          </a:xfrm>
          <a:prstGeom prst="rect">
            <a:avLst/>
          </a:prstGeom>
          <a:noFill/>
        </p:spPr>
        <p:txBody>
          <a:bodyPr wrap="square" rtlCol="0">
            <a:spAutoFit/>
          </a:bodyPr>
          <a:lstStyle/>
          <a:p>
            <a:pPr algn="just"/>
            <a:r>
              <a:rPr lang="es-CL" sz="1100" i="1" dirty="0">
                <a:solidFill>
                  <a:srgbClr val="64748B"/>
                </a:solidFill>
              </a:rPr>
              <a:t>* Based </a:t>
            </a:r>
            <a:r>
              <a:rPr lang="es-CL" sz="1100" i="1" dirty="0" err="1">
                <a:solidFill>
                  <a:srgbClr val="64748B"/>
                </a:solidFill>
              </a:rPr>
              <a:t>on</a:t>
            </a:r>
            <a:r>
              <a:rPr lang="es-CL" sz="1100" i="1" dirty="0">
                <a:solidFill>
                  <a:srgbClr val="64748B"/>
                </a:solidFill>
              </a:rPr>
              <a:t> </a:t>
            </a:r>
            <a:r>
              <a:rPr lang="es-CL" sz="1100" i="1" dirty="0" err="1">
                <a:solidFill>
                  <a:srgbClr val="64748B"/>
                </a:solidFill>
              </a:rPr>
              <a:t>industry</a:t>
            </a:r>
            <a:r>
              <a:rPr lang="es-CL" sz="1100" i="1" dirty="0">
                <a:solidFill>
                  <a:srgbClr val="64748B"/>
                </a:solidFill>
              </a:rPr>
              <a:t> </a:t>
            </a:r>
            <a:r>
              <a:rPr lang="es-CL" sz="1100" i="1" dirty="0" err="1">
                <a:solidFill>
                  <a:srgbClr val="64748B"/>
                </a:solidFill>
              </a:rPr>
              <a:t>sources</a:t>
            </a:r>
            <a:r>
              <a:rPr lang="es-CL" sz="1100" i="1" dirty="0">
                <a:solidFill>
                  <a:srgbClr val="64748B"/>
                </a:solidFill>
              </a:rPr>
              <a:t> (</a:t>
            </a:r>
            <a:r>
              <a:rPr lang="es-CL" sz="1100" i="1" dirty="0" err="1">
                <a:solidFill>
                  <a:srgbClr val="64748B"/>
                </a:solidFill>
              </a:rPr>
              <a:t>BetaKit</a:t>
            </a:r>
            <a:r>
              <a:rPr lang="es-CL" sz="1100" i="1" dirty="0">
                <a:solidFill>
                  <a:srgbClr val="64748B"/>
                </a:solidFill>
              </a:rPr>
              <a:t>, 2025). The </a:t>
            </a:r>
            <a:r>
              <a:rPr lang="es-CL" sz="1100" i="1" dirty="0" err="1">
                <a:solidFill>
                  <a:srgbClr val="64748B"/>
                </a:solidFill>
              </a:rPr>
              <a:t>estimate</a:t>
            </a:r>
            <a:r>
              <a:rPr lang="es-CL" sz="1100" i="1" dirty="0">
                <a:solidFill>
                  <a:srgbClr val="64748B"/>
                </a:solidFill>
              </a:rPr>
              <a:t> </a:t>
            </a:r>
            <a:r>
              <a:rPr lang="es-CL" sz="1100" i="1" dirty="0" err="1">
                <a:solidFill>
                  <a:srgbClr val="64748B"/>
                </a:solidFill>
              </a:rPr>
              <a:t>reflects</a:t>
            </a:r>
            <a:r>
              <a:rPr lang="es-CL" sz="1100" i="1" dirty="0">
                <a:solidFill>
                  <a:srgbClr val="64748B"/>
                </a:solidFill>
              </a:rPr>
              <a:t> </a:t>
            </a:r>
            <a:r>
              <a:rPr lang="es-CL" sz="1100" i="1" dirty="0" err="1">
                <a:solidFill>
                  <a:srgbClr val="64748B"/>
                </a:solidFill>
              </a:rPr>
              <a:t>the</a:t>
            </a:r>
            <a:r>
              <a:rPr lang="es-CL" sz="1100" i="1" dirty="0">
                <a:solidFill>
                  <a:srgbClr val="64748B"/>
                </a:solidFill>
              </a:rPr>
              <a:t> </a:t>
            </a:r>
            <a:r>
              <a:rPr lang="es-CL" sz="1100" i="1" dirty="0" err="1">
                <a:solidFill>
                  <a:srgbClr val="64748B"/>
                </a:solidFill>
              </a:rPr>
              <a:t>observed</a:t>
            </a:r>
            <a:r>
              <a:rPr lang="es-CL" sz="1100" i="1" dirty="0">
                <a:solidFill>
                  <a:srgbClr val="64748B"/>
                </a:solidFill>
              </a:rPr>
              <a:t> pace </a:t>
            </a:r>
            <a:r>
              <a:rPr lang="es-CL" sz="1100" i="1" dirty="0" err="1">
                <a:solidFill>
                  <a:srgbClr val="64748B"/>
                </a:solidFill>
              </a:rPr>
              <a:t>of</a:t>
            </a:r>
            <a:r>
              <a:rPr lang="es-CL" sz="1100" i="1" dirty="0">
                <a:solidFill>
                  <a:srgbClr val="64748B"/>
                </a:solidFill>
              </a:rPr>
              <a:t> AI </a:t>
            </a:r>
            <a:r>
              <a:rPr lang="es-CL" sz="1100" i="1" dirty="0" err="1">
                <a:solidFill>
                  <a:srgbClr val="64748B"/>
                </a:solidFill>
              </a:rPr>
              <a:t>adoption</a:t>
            </a:r>
            <a:r>
              <a:rPr lang="es-CL" sz="1100" i="1" dirty="0">
                <a:solidFill>
                  <a:srgbClr val="64748B"/>
                </a:solidFill>
              </a:rPr>
              <a:t> in e-</a:t>
            </a:r>
            <a:r>
              <a:rPr lang="es-CL" sz="1100" i="1" dirty="0" err="1">
                <a:solidFill>
                  <a:srgbClr val="64748B"/>
                </a:solidFill>
              </a:rPr>
              <a:t>commerce</a:t>
            </a:r>
            <a:r>
              <a:rPr lang="es-CL" sz="1100" i="1" dirty="0">
                <a:solidFill>
                  <a:srgbClr val="64748B"/>
                </a:solidFill>
              </a:rPr>
              <a: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280160"/>
          </a:xfrm>
          <a:prstGeom prst="rect">
            <a:avLst/>
          </a:prstGeom>
          <a:solidFill>
            <a:schemeClr val="accent5">
              <a:lumMod val="5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182880"/>
            <a:ext cx="10972800" cy="553998"/>
          </a:xfrm>
          <a:prstGeom prst="rect">
            <a:avLst/>
          </a:prstGeom>
          <a:noFill/>
        </p:spPr>
        <p:txBody>
          <a:bodyPr wrap="square">
            <a:spAutoFit/>
          </a:bodyPr>
          <a:lstStyle/>
          <a:p>
            <a:r>
              <a:rPr lang="es-CL" sz="3000" b="1" dirty="0" err="1">
                <a:solidFill>
                  <a:srgbClr val="FFFFFF"/>
                </a:solidFill>
              </a:rPr>
              <a:t>Strategic</a:t>
            </a:r>
            <a:r>
              <a:rPr lang="es-CL" sz="3000" b="1" dirty="0">
                <a:solidFill>
                  <a:srgbClr val="FFFFFF"/>
                </a:solidFill>
              </a:rPr>
              <a:t> Risk </a:t>
            </a:r>
            <a:r>
              <a:rPr lang="es-CL" sz="3000" b="1" dirty="0" err="1">
                <a:solidFill>
                  <a:srgbClr val="FFFFFF"/>
                </a:solidFill>
              </a:rPr>
              <a:t>Assessment</a:t>
            </a:r>
            <a:r>
              <a:rPr lang="es-CL" sz="3000" b="1" dirty="0">
                <a:solidFill>
                  <a:srgbClr val="FFFFFF"/>
                </a:solidFill>
              </a:rPr>
              <a:t>: </a:t>
            </a:r>
            <a:r>
              <a:rPr lang="es-CL" sz="3000" b="1" dirty="0" err="1">
                <a:solidFill>
                  <a:srgbClr val="FFFFFF"/>
                </a:solidFill>
              </a:rPr>
              <a:t>Internal</a:t>
            </a:r>
            <a:r>
              <a:rPr lang="es-CL" sz="3000" b="1" dirty="0">
                <a:solidFill>
                  <a:srgbClr val="FFFFFF"/>
                </a:solidFill>
              </a:rPr>
              <a:t> &amp; </a:t>
            </a:r>
            <a:r>
              <a:rPr lang="es-CL" sz="3000" b="1" dirty="0" err="1">
                <a:solidFill>
                  <a:srgbClr val="FFFFFF"/>
                </a:solidFill>
              </a:rPr>
              <a:t>External</a:t>
            </a:r>
            <a:r>
              <a:rPr lang="es-CL" sz="3000" b="1" dirty="0">
                <a:solidFill>
                  <a:srgbClr val="FFFFFF"/>
                </a:solidFill>
              </a:rPr>
              <a:t> </a:t>
            </a:r>
            <a:r>
              <a:rPr lang="es-CL" sz="3000" b="1" dirty="0" err="1">
                <a:solidFill>
                  <a:srgbClr val="FFFFFF"/>
                </a:solidFill>
              </a:rPr>
              <a:t>Factors</a:t>
            </a:r>
            <a:endParaRPr sz="3000" b="1" dirty="0">
              <a:solidFill>
                <a:srgbClr val="FFFFFF"/>
              </a:solidFill>
            </a:endParaRPr>
          </a:p>
        </p:txBody>
      </p:sp>
      <p:sp>
        <p:nvSpPr>
          <p:cNvPr id="5" name="TextBox 4"/>
          <p:cNvSpPr txBox="1"/>
          <p:nvPr/>
        </p:nvSpPr>
        <p:spPr>
          <a:xfrm>
            <a:off x="365760" y="914400"/>
            <a:ext cx="10972800" cy="292388"/>
          </a:xfrm>
          <a:prstGeom prst="rect">
            <a:avLst/>
          </a:prstGeom>
          <a:noFill/>
        </p:spPr>
        <p:txBody>
          <a:bodyPr wrap="square">
            <a:spAutoFit/>
          </a:bodyPr>
          <a:lstStyle/>
          <a:p>
            <a:pPr algn="l"/>
            <a:r>
              <a:rPr sz="1300" b="0" i="0" dirty="0">
                <a:solidFill>
                  <a:srgbClr val="E8F5EE"/>
                </a:solidFill>
              </a:rPr>
              <a:t>Part 1 · Lissette Diaz</a:t>
            </a:r>
          </a:p>
        </p:txBody>
      </p:sp>
      <p:sp>
        <p:nvSpPr>
          <p:cNvPr id="6" name="Rectangle 5"/>
          <p:cNvSpPr/>
          <p:nvPr/>
        </p:nvSpPr>
        <p:spPr>
          <a:xfrm>
            <a:off x="274320" y="1463040"/>
            <a:ext cx="5577840" cy="2468880"/>
          </a:xfrm>
          <a:prstGeom prst="rect">
            <a:avLst/>
          </a:prstGeom>
          <a:solidFill>
            <a:srgbClr val="FFFFFF"/>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274320" y="1463040"/>
            <a:ext cx="5577840" cy="457200"/>
          </a:xfrm>
          <a:prstGeom prst="rect">
            <a:avLst/>
          </a:prstGeom>
          <a:solidFill>
            <a:srgbClr val="008C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35" name="Group 34">
            <a:extLst>
              <a:ext uri="{FF2B5EF4-FFF2-40B4-BE49-F238E27FC236}">
                <a16:creationId xmlns:a16="http://schemas.microsoft.com/office/drawing/2014/main" id="{22539752-AD63-C70C-FE5F-7809C252F9DB}"/>
              </a:ext>
            </a:extLst>
          </p:cNvPr>
          <p:cNvGrpSpPr/>
          <p:nvPr/>
        </p:nvGrpSpPr>
        <p:grpSpPr>
          <a:xfrm>
            <a:off x="384048" y="1527048"/>
            <a:ext cx="5303520" cy="2096655"/>
            <a:chOff x="384048" y="1527048"/>
            <a:chExt cx="5303520" cy="2096655"/>
          </a:xfrm>
        </p:grpSpPr>
        <p:sp>
          <p:nvSpPr>
            <p:cNvPr id="8" name="TextBox 7"/>
            <p:cNvSpPr txBox="1"/>
            <p:nvPr/>
          </p:nvSpPr>
          <p:spPr>
            <a:xfrm>
              <a:off x="384048" y="1527048"/>
              <a:ext cx="5303520" cy="347472"/>
            </a:xfrm>
            <a:prstGeom prst="rect">
              <a:avLst/>
            </a:prstGeom>
            <a:noFill/>
          </p:spPr>
          <p:txBody>
            <a:bodyPr wrap="square">
              <a:spAutoFit/>
            </a:bodyPr>
            <a:lstStyle/>
            <a:p>
              <a:pPr algn="l"/>
              <a:r>
                <a:rPr sz="1300" b="1" i="0">
                  <a:solidFill>
                    <a:srgbClr val="FFFFFF"/>
                  </a:solidFill>
                </a:rPr>
                <a:t>S  STRENGTHS</a:t>
              </a:r>
            </a:p>
          </p:txBody>
        </p:sp>
        <p:sp>
          <p:nvSpPr>
            <p:cNvPr id="9" name="TextBox 8"/>
            <p:cNvSpPr txBox="1"/>
            <p:nvPr/>
          </p:nvSpPr>
          <p:spPr>
            <a:xfrm>
              <a:off x="438912" y="2029968"/>
              <a:ext cx="5212080" cy="276999"/>
            </a:xfrm>
            <a:prstGeom prst="rect">
              <a:avLst/>
            </a:prstGeom>
            <a:noFill/>
          </p:spPr>
          <p:txBody>
            <a:bodyPr wrap="square">
              <a:spAutoFit/>
            </a:bodyPr>
            <a:lstStyle/>
            <a:p>
              <a:pPr algn="l"/>
              <a:r>
                <a:rPr sz="1200" b="0" i="0" dirty="0">
                  <a:solidFill>
                    <a:srgbClr val="0A1A2E"/>
                  </a:solidFill>
                  <a:latin typeface="+mj-lt"/>
                </a:rPr>
                <a:t>· Global merchant ecosystem across 175+ countries</a:t>
              </a:r>
              <a:r>
                <a:rPr lang="es-CL" sz="1200" b="0" i="0" dirty="0">
                  <a:solidFill>
                    <a:srgbClr val="0A1A2E"/>
                  </a:solidFill>
                  <a:latin typeface="+mj-lt"/>
                </a:rPr>
                <a:t>.</a:t>
              </a:r>
              <a:endParaRPr sz="1200" b="0" i="0" dirty="0">
                <a:solidFill>
                  <a:srgbClr val="0A1A2E"/>
                </a:solidFill>
                <a:latin typeface="+mj-lt"/>
              </a:endParaRPr>
            </a:p>
          </p:txBody>
        </p:sp>
        <p:sp>
          <p:nvSpPr>
            <p:cNvPr id="10" name="TextBox 9"/>
            <p:cNvSpPr txBox="1"/>
            <p:nvPr/>
          </p:nvSpPr>
          <p:spPr>
            <a:xfrm>
              <a:off x="438912" y="2468880"/>
              <a:ext cx="5212080" cy="276999"/>
            </a:xfrm>
            <a:prstGeom prst="rect">
              <a:avLst/>
            </a:prstGeom>
            <a:noFill/>
          </p:spPr>
          <p:txBody>
            <a:bodyPr wrap="square">
              <a:spAutoFit/>
            </a:bodyPr>
            <a:lstStyle/>
            <a:p>
              <a:pPr algn="l"/>
              <a:r>
                <a:rPr sz="1200" b="0" i="0" dirty="0">
                  <a:solidFill>
                    <a:srgbClr val="0A1A2E"/>
                  </a:solidFill>
                  <a:latin typeface="+mj-lt"/>
                </a:rPr>
                <a:t>· Strong cash position: $476M FCF in Q1 2026</a:t>
              </a:r>
              <a:r>
                <a:rPr lang="es-CL" sz="1200" b="0" i="0" dirty="0">
                  <a:solidFill>
                    <a:srgbClr val="0A1A2E"/>
                  </a:solidFill>
                  <a:latin typeface="+mj-lt"/>
                </a:rPr>
                <a:t>.</a:t>
              </a:r>
              <a:endParaRPr sz="1200" b="0" i="0" dirty="0">
                <a:solidFill>
                  <a:srgbClr val="0A1A2E"/>
                </a:solidFill>
                <a:latin typeface="+mj-lt"/>
              </a:endParaRPr>
            </a:p>
          </p:txBody>
        </p:sp>
        <p:sp>
          <p:nvSpPr>
            <p:cNvPr id="11" name="TextBox 10"/>
            <p:cNvSpPr txBox="1"/>
            <p:nvPr/>
          </p:nvSpPr>
          <p:spPr>
            <a:xfrm>
              <a:off x="438912" y="2907792"/>
              <a:ext cx="5212080" cy="276999"/>
            </a:xfrm>
            <a:prstGeom prst="rect">
              <a:avLst/>
            </a:prstGeom>
            <a:noFill/>
          </p:spPr>
          <p:txBody>
            <a:bodyPr wrap="square">
              <a:spAutoFit/>
            </a:bodyPr>
            <a:lstStyle/>
            <a:p>
              <a:pPr algn="l"/>
              <a:r>
                <a:rPr sz="1200" b="0" i="0" dirty="0">
                  <a:solidFill>
                    <a:srgbClr val="0A1A2E"/>
                  </a:solidFill>
                  <a:latin typeface="+mj-lt"/>
                </a:rPr>
                <a:t>· Pro-merchant brand vs. Amazon's seller-centric model</a:t>
              </a:r>
              <a:r>
                <a:rPr lang="es-CL" sz="1200" b="0" i="0" dirty="0">
                  <a:solidFill>
                    <a:srgbClr val="0A1A2E"/>
                  </a:solidFill>
                  <a:latin typeface="+mj-lt"/>
                </a:rPr>
                <a:t>.</a:t>
              </a:r>
              <a:endParaRPr sz="1200" b="0" i="0" dirty="0">
                <a:solidFill>
                  <a:srgbClr val="0A1A2E"/>
                </a:solidFill>
                <a:latin typeface="+mj-lt"/>
              </a:endParaRPr>
            </a:p>
          </p:txBody>
        </p:sp>
        <p:sp>
          <p:nvSpPr>
            <p:cNvPr id="12" name="TextBox 11"/>
            <p:cNvSpPr txBox="1"/>
            <p:nvPr/>
          </p:nvSpPr>
          <p:spPr>
            <a:xfrm>
              <a:off x="438912" y="3346704"/>
              <a:ext cx="5212080" cy="276999"/>
            </a:xfrm>
            <a:prstGeom prst="rect">
              <a:avLst/>
            </a:prstGeom>
            <a:noFill/>
          </p:spPr>
          <p:txBody>
            <a:bodyPr wrap="square">
              <a:spAutoFit/>
            </a:bodyPr>
            <a:lstStyle/>
            <a:p>
              <a:pPr algn="l"/>
              <a:r>
                <a:rPr sz="1200" b="0" i="0" dirty="0">
                  <a:solidFill>
                    <a:srgbClr val="0A1A2E"/>
                  </a:solidFill>
                  <a:latin typeface="+mj-lt"/>
                </a:rPr>
                <a:t>· Existing payment &amp; logistics infrastructure for AI integration</a:t>
              </a:r>
              <a:r>
                <a:rPr lang="es-CL" sz="1200" b="0" i="0" dirty="0">
                  <a:solidFill>
                    <a:srgbClr val="0A1A2E"/>
                  </a:solidFill>
                  <a:latin typeface="+mj-lt"/>
                </a:rPr>
                <a:t>.</a:t>
              </a:r>
              <a:endParaRPr sz="1200" b="0" i="0" dirty="0">
                <a:solidFill>
                  <a:srgbClr val="0A1A2E"/>
                </a:solidFill>
                <a:latin typeface="+mj-lt"/>
              </a:endParaRPr>
            </a:p>
          </p:txBody>
        </p:sp>
      </p:grpSp>
      <p:sp>
        <p:nvSpPr>
          <p:cNvPr id="13" name="Rectangle 12"/>
          <p:cNvSpPr/>
          <p:nvPr/>
        </p:nvSpPr>
        <p:spPr>
          <a:xfrm>
            <a:off x="6263640" y="1463040"/>
            <a:ext cx="5577840" cy="2468880"/>
          </a:xfrm>
          <a:prstGeom prst="rect">
            <a:avLst/>
          </a:prstGeom>
          <a:solidFill>
            <a:srgbClr val="FFFFFF"/>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6263640" y="1463040"/>
            <a:ext cx="5577840" cy="45720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36" name="Group 35">
            <a:extLst>
              <a:ext uri="{FF2B5EF4-FFF2-40B4-BE49-F238E27FC236}">
                <a16:creationId xmlns:a16="http://schemas.microsoft.com/office/drawing/2014/main" id="{2B31B909-7EA1-B0F9-943F-D2015F9184ED}"/>
              </a:ext>
            </a:extLst>
          </p:cNvPr>
          <p:cNvGrpSpPr/>
          <p:nvPr/>
        </p:nvGrpSpPr>
        <p:grpSpPr>
          <a:xfrm>
            <a:off x="6373368" y="1527048"/>
            <a:ext cx="5303520" cy="2096655"/>
            <a:chOff x="6373368" y="1527048"/>
            <a:chExt cx="5303520" cy="2096655"/>
          </a:xfrm>
        </p:grpSpPr>
        <p:sp>
          <p:nvSpPr>
            <p:cNvPr id="15" name="TextBox 14"/>
            <p:cNvSpPr txBox="1"/>
            <p:nvPr/>
          </p:nvSpPr>
          <p:spPr>
            <a:xfrm>
              <a:off x="6373368" y="1527048"/>
              <a:ext cx="5303520" cy="347472"/>
            </a:xfrm>
            <a:prstGeom prst="rect">
              <a:avLst/>
            </a:prstGeom>
            <a:noFill/>
          </p:spPr>
          <p:txBody>
            <a:bodyPr wrap="square">
              <a:spAutoFit/>
            </a:bodyPr>
            <a:lstStyle/>
            <a:p>
              <a:pPr algn="l"/>
              <a:r>
                <a:rPr sz="1300" b="1" i="0">
                  <a:solidFill>
                    <a:srgbClr val="FFFFFF"/>
                  </a:solidFill>
                </a:rPr>
                <a:t>W  WEAKNESSES</a:t>
              </a:r>
            </a:p>
          </p:txBody>
        </p:sp>
        <p:sp>
          <p:nvSpPr>
            <p:cNvPr id="16" name="TextBox 15"/>
            <p:cNvSpPr txBox="1"/>
            <p:nvPr/>
          </p:nvSpPr>
          <p:spPr>
            <a:xfrm>
              <a:off x="6428231" y="2029968"/>
              <a:ext cx="5212080" cy="276999"/>
            </a:xfrm>
            <a:prstGeom prst="rect">
              <a:avLst/>
            </a:prstGeom>
            <a:noFill/>
          </p:spPr>
          <p:txBody>
            <a:bodyPr wrap="square">
              <a:spAutoFit/>
            </a:bodyPr>
            <a:lstStyle/>
            <a:p>
              <a:pPr algn="l"/>
              <a:r>
                <a:rPr sz="1200" b="0" i="0" dirty="0">
                  <a:solidFill>
                    <a:srgbClr val="0A1A2E"/>
                  </a:solidFill>
                  <a:latin typeface="+mj-lt"/>
                </a:rPr>
                <a:t>· LLM integration timeline slower than initially projected</a:t>
              </a:r>
              <a:r>
                <a:rPr lang="es-CL" sz="1200" b="0" i="0" dirty="0">
                  <a:solidFill>
                    <a:srgbClr val="0A1A2E"/>
                  </a:solidFill>
                  <a:latin typeface="+mj-lt"/>
                </a:rPr>
                <a:t>.</a:t>
              </a:r>
              <a:endParaRPr sz="1200" b="0" i="0" dirty="0">
                <a:solidFill>
                  <a:srgbClr val="0A1A2E"/>
                </a:solidFill>
                <a:latin typeface="+mj-lt"/>
              </a:endParaRPr>
            </a:p>
          </p:txBody>
        </p:sp>
        <p:sp>
          <p:nvSpPr>
            <p:cNvPr id="17" name="TextBox 16"/>
            <p:cNvSpPr txBox="1"/>
            <p:nvPr/>
          </p:nvSpPr>
          <p:spPr>
            <a:xfrm>
              <a:off x="6428231" y="2468880"/>
              <a:ext cx="5212080" cy="461665"/>
            </a:xfrm>
            <a:prstGeom prst="rect">
              <a:avLst/>
            </a:prstGeom>
            <a:noFill/>
          </p:spPr>
          <p:txBody>
            <a:bodyPr wrap="square">
              <a:spAutoFit/>
            </a:bodyPr>
            <a:lstStyle/>
            <a:p>
              <a:pPr algn="just"/>
              <a:r>
                <a:rPr sz="1200" b="0" i="0" dirty="0">
                  <a:solidFill>
                    <a:srgbClr val="0A1A2E"/>
                  </a:solidFill>
                  <a:latin typeface="+mj-lt"/>
                </a:rPr>
                <a:t>· </a:t>
              </a:r>
              <a:r>
                <a:rPr lang="en-US" sz="1200" dirty="0">
                  <a:solidFill>
                    <a:srgbClr val="0A1A2E"/>
                  </a:solidFill>
                  <a:latin typeface="+mj-lt"/>
                </a:rPr>
                <a:t>The Vantage Discovery team is small, has a key-person dependency, and has </a:t>
              </a:r>
              <a:r>
                <a:rPr lang="es-CL" sz="1200" dirty="0" err="1">
                  <a:solidFill>
                    <a:srgbClr val="0A1A2E"/>
                  </a:solidFill>
                  <a:latin typeface="+mj-lt"/>
                </a:rPr>
                <a:t>talent</a:t>
              </a:r>
              <a:r>
                <a:rPr lang="es-CL" sz="1200" dirty="0">
                  <a:solidFill>
                    <a:srgbClr val="0A1A2E"/>
                  </a:solidFill>
                  <a:latin typeface="+mj-lt"/>
                </a:rPr>
                <a:t> </a:t>
              </a:r>
              <a:r>
                <a:rPr lang="es-CL" sz="1200" dirty="0" err="1">
                  <a:solidFill>
                    <a:srgbClr val="0A1A2E"/>
                  </a:solidFill>
                  <a:latin typeface="+mj-lt"/>
                </a:rPr>
                <a:t>retention</a:t>
              </a:r>
              <a:r>
                <a:rPr lang="es-CL" sz="1200" dirty="0">
                  <a:solidFill>
                    <a:srgbClr val="0A1A2E"/>
                  </a:solidFill>
                  <a:latin typeface="+mj-lt"/>
                </a:rPr>
                <a:t> </a:t>
              </a:r>
              <a:r>
                <a:rPr lang="es-CL" sz="1200" dirty="0" err="1">
                  <a:solidFill>
                    <a:srgbClr val="0A1A2E"/>
                  </a:solidFill>
                  <a:latin typeface="+mj-lt"/>
                </a:rPr>
                <a:t>risk</a:t>
              </a:r>
              <a:r>
                <a:rPr lang="es-CL" sz="1200" dirty="0">
                  <a:solidFill>
                    <a:srgbClr val="0A1A2E"/>
                  </a:solidFill>
                  <a:latin typeface="+mj-lt"/>
                </a:rPr>
                <a:t>.</a:t>
              </a:r>
              <a:endParaRPr sz="1200" dirty="0">
                <a:solidFill>
                  <a:srgbClr val="0A1A2E"/>
                </a:solidFill>
                <a:latin typeface="+mj-lt"/>
              </a:endParaRPr>
            </a:p>
          </p:txBody>
        </p:sp>
        <p:sp>
          <p:nvSpPr>
            <p:cNvPr id="18" name="TextBox 17"/>
            <p:cNvSpPr txBox="1"/>
            <p:nvPr/>
          </p:nvSpPr>
          <p:spPr>
            <a:xfrm>
              <a:off x="6428231" y="2907792"/>
              <a:ext cx="5212080" cy="276999"/>
            </a:xfrm>
            <a:prstGeom prst="rect">
              <a:avLst/>
            </a:prstGeom>
            <a:noFill/>
          </p:spPr>
          <p:txBody>
            <a:bodyPr wrap="square">
              <a:spAutoFit/>
            </a:bodyPr>
            <a:lstStyle/>
            <a:p>
              <a:pPr algn="l"/>
              <a:r>
                <a:rPr sz="1200" b="0" i="0" dirty="0">
                  <a:solidFill>
                    <a:srgbClr val="0A1A2E"/>
                  </a:solidFill>
                  <a:latin typeface="+mj-lt"/>
                </a:rPr>
                <a:t>· Limited prior experience competing in AI search space</a:t>
              </a:r>
              <a:r>
                <a:rPr lang="es-CL" sz="1200" b="0" i="0" dirty="0">
                  <a:solidFill>
                    <a:srgbClr val="0A1A2E"/>
                  </a:solidFill>
                  <a:latin typeface="+mj-lt"/>
                </a:rPr>
                <a:t>.</a:t>
              </a:r>
              <a:endParaRPr sz="1200" b="0" i="0" dirty="0">
                <a:solidFill>
                  <a:srgbClr val="0A1A2E"/>
                </a:solidFill>
                <a:latin typeface="+mj-lt"/>
              </a:endParaRPr>
            </a:p>
          </p:txBody>
        </p:sp>
        <p:sp>
          <p:nvSpPr>
            <p:cNvPr id="19" name="TextBox 18"/>
            <p:cNvSpPr txBox="1"/>
            <p:nvPr/>
          </p:nvSpPr>
          <p:spPr>
            <a:xfrm>
              <a:off x="6428231" y="3346704"/>
              <a:ext cx="5212080" cy="276999"/>
            </a:xfrm>
            <a:prstGeom prst="rect">
              <a:avLst/>
            </a:prstGeom>
            <a:noFill/>
          </p:spPr>
          <p:txBody>
            <a:bodyPr wrap="square">
              <a:spAutoFit/>
            </a:bodyPr>
            <a:lstStyle/>
            <a:p>
              <a:r>
                <a:rPr sz="1200" b="0" i="0" dirty="0">
                  <a:solidFill>
                    <a:srgbClr val="0A1A2E"/>
                  </a:solidFill>
                  <a:latin typeface="+mj-lt"/>
                </a:rPr>
                <a:t>· </a:t>
              </a:r>
              <a:r>
                <a:rPr lang="es-CL" sz="1200" dirty="0" err="1"/>
                <a:t>Reliance</a:t>
              </a:r>
              <a:r>
                <a:rPr lang="es-CL" sz="1200" dirty="0"/>
                <a:t> </a:t>
              </a:r>
              <a:r>
                <a:rPr lang="es-CL" sz="1200" dirty="0" err="1"/>
                <a:t>on</a:t>
              </a:r>
              <a:r>
                <a:rPr lang="es-CL" sz="1200" dirty="0"/>
                <a:t> </a:t>
              </a:r>
              <a:r>
                <a:rPr lang="es-CL" sz="1200" dirty="0" err="1"/>
                <a:t>external</a:t>
              </a:r>
              <a:r>
                <a:rPr lang="es-CL" sz="1200" dirty="0"/>
                <a:t> </a:t>
              </a:r>
              <a:r>
                <a:rPr lang="es-CL" sz="1200" dirty="0" err="1"/>
                <a:t>cloud</a:t>
              </a:r>
              <a:r>
                <a:rPr lang="es-CL" sz="1200" dirty="0"/>
                <a:t> </a:t>
              </a:r>
              <a:r>
                <a:rPr lang="es-CL" sz="1200" dirty="0" err="1"/>
                <a:t>providers</a:t>
              </a:r>
              <a:r>
                <a:rPr lang="es-CL" sz="1200" dirty="0"/>
                <a:t> </a:t>
              </a:r>
              <a:r>
                <a:rPr lang="es-CL" sz="1200" dirty="0" err="1"/>
                <a:t>to</a:t>
              </a:r>
              <a:r>
                <a:rPr lang="es-CL" sz="1200" dirty="0"/>
                <a:t> run AI </a:t>
              </a:r>
              <a:r>
                <a:rPr lang="es-CL" sz="1200" dirty="0" err="1"/>
                <a:t>operations</a:t>
              </a:r>
              <a:r>
                <a:rPr lang="es-CL" sz="1200" dirty="0"/>
                <a:t>.</a:t>
              </a:r>
              <a:endParaRPr sz="1200" b="0" i="0" dirty="0">
                <a:solidFill>
                  <a:srgbClr val="0A1A2E"/>
                </a:solidFill>
                <a:latin typeface="+mj-lt"/>
              </a:endParaRPr>
            </a:p>
          </p:txBody>
        </p:sp>
      </p:grpSp>
      <p:sp>
        <p:nvSpPr>
          <p:cNvPr id="20" name="Rectangle 19"/>
          <p:cNvSpPr/>
          <p:nvPr/>
        </p:nvSpPr>
        <p:spPr>
          <a:xfrm>
            <a:off x="274320" y="4069080"/>
            <a:ext cx="5577840" cy="2468880"/>
          </a:xfrm>
          <a:prstGeom prst="rect">
            <a:avLst/>
          </a:prstGeom>
          <a:solidFill>
            <a:srgbClr val="FFFFFF"/>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274320" y="4069080"/>
            <a:ext cx="5577840" cy="457200"/>
          </a:xfrm>
          <a:prstGeom prst="rect">
            <a:avLst/>
          </a:prstGeom>
          <a:solidFill>
            <a:srgbClr val="1A4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38" name="Group 37">
            <a:extLst>
              <a:ext uri="{FF2B5EF4-FFF2-40B4-BE49-F238E27FC236}">
                <a16:creationId xmlns:a16="http://schemas.microsoft.com/office/drawing/2014/main" id="{45A6D185-2CAB-2FA9-8620-783628B2FDEA}"/>
              </a:ext>
            </a:extLst>
          </p:cNvPr>
          <p:cNvGrpSpPr/>
          <p:nvPr/>
        </p:nvGrpSpPr>
        <p:grpSpPr>
          <a:xfrm>
            <a:off x="384048" y="4133088"/>
            <a:ext cx="5303520" cy="2096655"/>
            <a:chOff x="384048" y="4133088"/>
            <a:chExt cx="5303520" cy="2096655"/>
          </a:xfrm>
        </p:grpSpPr>
        <p:sp>
          <p:nvSpPr>
            <p:cNvPr id="22" name="TextBox 21"/>
            <p:cNvSpPr txBox="1"/>
            <p:nvPr/>
          </p:nvSpPr>
          <p:spPr>
            <a:xfrm>
              <a:off x="384048" y="4133088"/>
              <a:ext cx="5303520" cy="347472"/>
            </a:xfrm>
            <a:prstGeom prst="rect">
              <a:avLst/>
            </a:prstGeom>
            <a:noFill/>
          </p:spPr>
          <p:txBody>
            <a:bodyPr wrap="square">
              <a:spAutoFit/>
            </a:bodyPr>
            <a:lstStyle/>
            <a:p>
              <a:pPr algn="l"/>
              <a:r>
                <a:rPr sz="1300" b="1" i="0">
                  <a:solidFill>
                    <a:srgbClr val="FFFFFF"/>
                  </a:solidFill>
                </a:rPr>
                <a:t>O  OPPORTUNITIES</a:t>
              </a:r>
            </a:p>
          </p:txBody>
        </p:sp>
        <p:sp>
          <p:nvSpPr>
            <p:cNvPr id="23" name="TextBox 22"/>
            <p:cNvSpPr txBox="1"/>
            <p:nvPr/>
          </p:nvSpPr>
          <p:spPr>
            <a:xfrm>
              <a:off x="438912" y="4636008"/>
              <a:ext cx="5212080" cy="276999"/>
            </a:xfrm>
            <a:prstGeom prst="rect">
              <a:avLst/>
            </a:prstGeom>
            <a:noFill/>
          </p:spPr>
          <p:txBody>
            <a:bodyPr wrap="square">
              <a:spAutoFit/>
            </a:bodyPr>
            <a:lstStyle/>
            <a:p>
              <a:pPr algn="l"/>
              <a:r>
                <a:rPr sz="1200" b="0" i="0" dirty="0">
                  <a:solidFill>
                    <a:srgbClr val="0A1A2E"/>
                  </a:solidFill>
                  <a:latin typeface="+mj-lt"/>
                </a:rPr>
                <a:t>· Capture merchants dissatisfied with Amazon's fees</a:t>
              </a:r>
              <a:r>
                <a:rPr lang="es-CL" sz="1200" b="0" i="0" dirty="0">
                  <a:solidFill>
                    <a:srgbClr val="0A1A2E"/>
                  </a:solidFill>
                  <a:latin typeface="+mj-lt"/>
                </a:rPr>
                <a:t>.</a:t>
              </a:r>
              <a:endParaRPr sz="1200" b="0" i="0" dirty="0">
                <a:solidFill>
                  <a:srgbClr val="0A1A2E"/>
                </a:solidFill>
                <a:latin typeface="+mj-lt"/>
              </a:endParaRPr>
            </a:p>
          </p:txBody>
        </p:sp>
        <p:sp>
          <p:nvSpPr>
            <p:cNvPr id="24" name="TextBox 23"/>
            <p:cNvSpPr txBox="1"/>
            <p:nvPr/>
          </p:nvSpPr>
          <p:spPr>
            <a:xfrm>
              <a:off x="438912" y="5074920"/>
              <a:ext cx="5212080" cy="276999"/>
            </a:xfrm>
            <a:prstGeom prst="rect">
              <a:avLst/>
            </a:prstGeom>
            <a:noFill/>
          </p:spPr>
          <p:txBody>
            <a:bodyPr wrap="square">
              <a:spAutoFit/>
            </a:bodyPr>
            <a:lstStyle/>
            <a:p>
              <a:pPr algn="l"/>
              <a:r>
                <a:rPr sz="1200" b="0" i="0" dirty="0">
                  <a:solidFill>
                    <a:srgbClr val="0A1A2E"/>
                  </a:solidFill>
                  <a:latin typeface="+mj-lt"/>
                </a:rPr>
                <a:t>· Shopify Plus AI search as </a:t>
              </a:r>
              <a:r>
                <a:rPr lang="es-CL" sz="1200" b="0" i="0" dirty="0">
                  <a:solidFill>
                    <a:srgbClr val="0A1A2E"/>
                  </a:solidFill>
                  <a:latin typeface="+mj-lt"/>
                </a:rPr>
                <a:t>a </a:t>
              </a:r>
              <a:r>
                <a:rPr sz="1200" b="0" i="0" dirty="0">
                  <a:solidFill>
                    <a:srgbClr val="0A1A2E"/>
                  </a:solidFill>
                  <a:latin typeface="+mj-lt"/>
                </a:rPr>
                <a:t>premium differentiator</a:t>
              </a:r>
              <a:r>
                <a:rPr lang="es-CL" sz="1200" b="0" i="0" dirty="0">
                  <a:solidFill>
                    <a:srgbClr val="0A1A2E"/>
                  </a:solidFill>
                  <a:latin typeface="+mj-lt"/>
                </a:rPr>
                <a:t>.</a:t>
              </a:r>
              <a:endParaRPr sz="1200" b="0" i="0" dirty="0">
                <a:solidFill>
                  <a:srgbClr val="0A1A2E"/>
                </a:solidFill>
                <a:latin typeface="+mj-lt"/>
              </a:endParaRPr>
            </a:p>
          </p:txBody>
        </p:sp>
        <p:sp>
          <p:nvSpPr>
            <p:cNvPr id="25" name="TextBox 24"/>
            <p:cNvSpPr txBox="1"/>
            <p:nvPr/>
          </p:nvSpPr>
          <p:spPr>
            <a:xfrm>
              <a:off x="438912" y="5513832"/>
              <a:ext cx="5212080" cy="276999"/>
            </a:xfrm>
            <a:prstGeom prst="rect">
              <a:avLst/>
            </a:prstGeom>
            <a:noFill/>
          </p:spPr>
          <p:txBody>
            <a:bodyPr wrap="square">
              <a:spAutoFit/>
            </a:bodyPr>
            <a:lstStyle/>
            <a:p>
              <a:r>
                <a:rPr sz="1200" b="0" i="0" dirty="0">
                  <a:solidFill>
                    <a:srgbClr val="0A1A2E"/>
                  </a:solidFill>
                  <a:latin typeface="+mj-lt"/>
                </a:rPr>
                <a:t>· </a:t>
              </a:r>
              <a:r>
                <a:rPr lang="es-CL" sz="1200" dirty="0"/>
                <a:t>Global </a:t>
              </a:r>
              <a:r>
                <a:rPr lang="es-CL" sz="1200" dirty="0" err="1"/>
                <a:t>markets</a:t>
              </a:r>
              <a:r>
                <a:rPr lang="es-CL" sz="1200" dirty="0"/>
                <a:t> </a:t>
              </a:r>
              <a:r>
                <a:rPr lang="es-CL" sz="1200" dirty="0" err="1"/>
                <a:t>where</a:t>
              </a:r>
              <a:r>
                <a:rPr lang="es-CL" sz="1200" dirty="0"/>
                <a:t> Shopify can lead </a:t>
              </a:r>
              <a:r>
                <a:rPr lang="es-CL" sz="1200" dirty="0" err="1"/>
                <a:t>before</a:t>
              </a:r>
              <a:r>
                <a:rPr lang="es-CL" sz="1200" dirty="0"/>
                <a:t> Amazon and Google catch up.</a:t>
              </a:r>
              <a:endParaRPr sz="1200" b="0" i="0" dirty="0">
                <a:solidFill>
                  <a:srgbClr val="0A1A2E"/>
                </a:solidFill>
                <a:latin typeface="+mj-lt"/>
              </a:endParaRPr>
            </a:p>
          </p:txBody>
        </p:sp>
        <p:sp>
          <p:nvSpPr>
            <p:cNvPr id="26" name="TextBox 25"/>
            <p:cNvSpPr txBox="1"/>
            <p:nvPr/>
          </p:nvSpPr>
          <p:spPr>
            <a:xfrm>
              <a:off x="438912" y="5952744"/>
              <a:ext cx="5212080" cy="276999"/>
            </a:xfrm>
            <a:prstGeom prst="rect">
              <a:avLst/>
            </a:prstGeom>
            <a:noFill/>
          </p:spPr>
          <p:txBody>
            <a:bodyPr wrap="square">
              <a:spAutoFit/>
            </a:bodyPr>
            <a:lstStyle/>
            <a:p>
              <a:pPr algn="l"/>
              <a:r>
                <a:rPr sz="1200" b="0" i="0" dirty="0">
                  <a:solidFill>
                    <a:srgbClr val="0A1A2E"/>
                  </a:solidFill>
                  <a:latin typeface="+mj-lt"/>
                </a:rPr>
                <a:t>· 6–18 month window before competitive parity closes</a:t>
              </a:r>
              <a:r>
                <a:rPr lang="es-CL" sz="1200" b="0" i="0" dirty="0">
                  <a:solidFill>
                    <a:srgbClr val="0A1A2E"/>
                  </a:solidFill>
                  <a:latin typeface="+mj-lt"/>
                </a:rPr>
                <a:t>.</a:t>
              </a:r>
              <a:endParaRPr sz="1200" b="0" i="0" dirty="0">
                <a:solidFill>
                  <a:srgbClr val="0A1A2E"/>
                </a:solidFill>
                <a:latin typeface="+mj-lt"/>
              </a:endParaRPr>
            </a:p>
          </p:txBody>
        </p:sp>
      </p:grpSp>
      <p:sp>
        <p:nvSpPr>
          <p:cNvPr id="27" name="Rectangle 26"/>
          <p:cNvSpPr/>
          <p:nvPr/>
        </p:nvSpPr>
        <p:spPr>
          <a:xfrm>
            <a:off x="6263640" y="4069080"/>
            <a:ext cx="5577840" cy="2468880"/>
          </a:xfrm>
          <a:prstGeom prst="rect">
            <a:avLst/>
          </a:prstGeom>
          <a:solidFill>
            <a:srgbClr val="FFFFFF"/>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6263640" y="4069080"/>
            <a:ext cx="5577840" cy="457200"/>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37" name="Group 36">
            <a:extLst>
              <a:ext uri="{FF2B5EF4-FFF2-40B4-BE49-F238E27FC236}">
                <a16:creationId xmlns:a16="http://schemas.microsoft.com/office/drawing/2014/main" id="{1F1436F3-86E4-1DB2-AFCE-89DD2A413699}"/>
              </a:ext>
            </a:extLst>
          </p:cNvPr>
          <p:cNvGrpSpPr/>
          <p:nvPr/>
        </p:nvGrpSpPr>
        <p:grpSpPr>
          <a:xfrm>
            <a:off x="6373368" y="4133088"/>
            <a:ext cx="5303520" cy="2096655"/>
            <a:chOff x="6373368" y="4133088"/>
            <a:chExt cx="5303520" cy="2096655"/>
          </a:xfrm>
        </p:grpSpPr>
        <p:sp>
          <p:nvSpPr>
            <p:cNvPr id="29" name="TextBox 28"/>
            <p:cNvSpPr txBox="1"/>
            <p:nvPr/>
          </p:nvSpPr>
          <p:spPr>
            <a:xfrm>
              <a:off x="6373368" y="4133088"/>
              <a:ext cx="5303520" cy="347472"/>
            </a:xfrm>
            <a:prstGeom prst="rect">
              <a:avLst/>
            </a:prstGeom>
            <a:noFill/>
          </p:spPr>
          <p:txBody>
            <a:bodyPr wrap="square">
              <a:spAutoFit/>
            </a:bodyPr>
            <a:lstStyle/>
            <a:p>
              <a:pPr algn="l"/>
              <a:r>
                <a:rPr sz="1300" b="1" i="0">
                  <a:solidFill>
                    <a:srgbClr val="FFFFFF"/>
                  </a:solidFill>
                </a:rPr>
                <a:t>T  THREATS</a:t>
              </a:r>
            </a:p>
          </p:txBody>
        </p:sp>
        <p:sp>
          <p:nvSpPr>
            <p:cNvPr id="30" name="TextBox 29"/>
            <p:cNvSpPr txBox="1"/>
            <p:nvPr/>
          </p:nvSpPr>
          <p:spPr>
            <a:xfrm>
              <a:off x="6428231" y="4636008"/>
              <a:ext cx="5212080" cy="276999"/>
            </a:xfrm>
            <a:prstGeom prst="rect">
              <a:avLst/>
            </a:prstGeom>
            <a:noFill/>
          </p:spPr>
          <p:txBody>
            <a:bodyPr wrap="square">
              <a:spAutoFit/>
            </a:bodyPr>
            <a:lstStyle/>
            <a:p>
              <a:pPr algn="l"/>
              <a:r>
                <a:rPr sz="1200" b="0" i="0" dirty="0">
                  <a:solidFill>
                    <a:srgbClr val="0A1A2E"/>
                  </a:solidFill>
                  <a:latin typeface="+mj-lt"/>
                </a:rPr>
                <a:t>· Amazon &amp; Google: years of AI search investment lead</a:t>
              </a:r>
              <a:r>
                <a:rPr lang="es-CL" sz="1200" b="0" i="0" dirty="0">
                  <a:solidFill>
                    <a:srgbClr val="0A1A2E"/>
                  </a:solidFill>
                  <a:latin typeface="+mj-lt"/>
                </a:rPr>
                <a:t>.</a:t>
              </a:r>
              <a:endParaRPr sz="1200" b="0" i="0" dirty="0">
                <a:solidFill>
                  <a:srgbClr val="0A1A2E"/>
                </a:solidFill>
                <a:latin typeface="+mj-lt"/>
              </a:endParaRPr>
            </a:p>
          </p:txBody>
        </p:sp>
        <p:sp>
          <p:nvSpPr>
            <p:cNvPr id="31" name="TextBox 30"/>
            <p:cNvSpPr txBox="1"/>
            <p:nvPr/>
          </p:nvSpPr>
          <p:spPr>
            <a:xfrm>
              <a:off x="6428231" y="5074920"/>
              <a:ext cx="5212080" cy="276999"/>
            </a:xfrm>
            <a:prstGeom prst="rect">
              <a:avLst/>
            </a:prstGeom>
            <a:noFill/>
          </p:spPr>
          <p:txBody>
            <a:bodyPr wrap="square">
              <a:spAutoFit/>
            </a:bodyPr>
            <a:lstStyle/>
            <a:p>
              <a:r>
                <a:rPr lang="es-CL" sz="1200" dirty="0">
                  <a:solidFill>
                    <a:srgbClr val="0A1A2E"/>
                  </a:solidFill>
                </a:rPr>
                <a:t>· </a:t>
              </a:r>
              <a:r>
                <a:rPr lang="es-CL" sz="1200" dirty="0" err="1"/>
                <a:t>Increasing</a:t>
              </a:r>
              <a:r>
                <a:rPr lang="es-CL" sz="1200" dirty="0"/>
                <a:t> </a:t>
              </a:r>
              <a:r>
                <a:rPr lang="es-CL" sz="1200" dirty="0" err="1"/>
                <a:t>regulatory</a:t>
              </a:r>
              <a:r>
                <a:rPr lang="es-CL" sz="1200" dirty="0"/>
                <a:t> </a:t>
              </a:r>
              <a:r>
                <a:rPr lang="es-CL" sz="1200" dirty="0" err="1"/>
                <a:t>complexity</a:t>
              </a:r>
              <a:r>
                <a:rPr lang="es-CL" sz="1200" dirty="0"/>
                <a:t> </a:t>
              </a:r>
              <a:r>
                <a:rPr lang="es-CL" sz="1200" dirty="0" err="1"/>
                <a:t>around</a:t>
              </a:r>
              <a:r>
                <a:rPr lang="es-CL" sz="1200" dirty="0"/>
                <a:t> AI data </a:t>
              </a:r>
              <a:r>
                <a:rPr lang="es-CL" sz="1200" dirty="0" err="1"/>
                <a:t>privacy</a:t>
              </a:r>
              <a:r>
                <a:rPr lang="es-CL" sz="1200" dirty="0"/>
                <a:t> and </a:t>
              </a:r>
              <a:r>
                <a:rPr lang="es-CL" sz="1200" dirty="0" err="1"/>
                <a:t>governance</a:t>
              </a:r>
              <a:r>
                <a:rPr lang="es-CL" sz="1200" dirty="0"/>
                <a:t>.</a:t>
              </a:r>
              <a:endParaRPr sz="1200" b="0" i="0" dirty="0">
                <a:solidFill>
                  <a:srgbClr val="0A1A2E"/>
                </a:solidFill>
                <a:latin typeface="+mj-lt"/>
              </a:endParaRPr>
            </a:p>
          </p:txBody>
        </p:sp>
        <p:sp>
          <p:nvSpPr>
            <p:cNvPr id="32" name="TextBox 31"/>
            <p:cNvSpPr txBox="1"/>
            <p:nvPr/>
          </p:nvSpPr>
          <p:spPr>
            <a:xfrm>
              <a:off x="6428231" y="5513832"/>
              <a:ext cx="5212080" cy="276999"/>
            </a:xfrm>
            <a:prstGeom prst="rect">
              <a:avLst/>
            </a:prstGeom>
            <a:noFill/>
          </p:spPr>
          <p:txBody>
            <a:bodyPr wrap="square">
              <a:spAutoFit/>
            </a:bodyPr>
            <a:lstStyle/>
            <a:p>
              <a:pPr algn="l"/>
              <a:r>
                <a:rPr sz="1200" b="0" i="0" dirty="0">
                  <a:solidFill>
                    <a:srgbClr val="0A1A2E"/>
                  </a:solidFill>
                  <a:latin typeface="+mj-lt"/>
                </a:rPr>
                <a:t>· Merchant churn if integration is perceived as inferior</a:t>
              </a:r>
              <a:r>
                <a:rPr lang="es-CL" sz="1200" b="0" i="0" dirty="0">
                  <a:solidFill>
                    <a:srgbClr val="0A1A2E"/>
                  </a:solidFill>
                  <a:latin typeface="+mj-lt"/>
                </a:rPr>
                <a:t>.</a:t>
              </a:r>
              <a:endParaRPr sz="1200" b="0" i="0" dirty="0">
                <a:solidFill>
                  <a:srgbClr val="0A1A2E"/>
                </a:solidFill>
                <a:latin typeface="+mj-lt"/>
              </a:endParaRPr>
            </a:p>
          </p:txBody>
        </p:sp>
        <p:sp>
          <p:nvSpPr>
            <p:cNvPr id="33" name="TextBox 32"/>
            <p:cNvSpPr txBox="1"/>
            <p:nvPr/>
          </p:nvSpPr>
          <p:spPr>
            <a:xfrm>
              <a:off x="6428231" y="5952744"/>
              <a:ext cx="5212080" cy="276999"/>
            </a:xfrm>
            <a:prstGeom prst="rect">
              <a:avLst/>
            </a:prstGeom>
            <a:noFill/>
          </p:spPr>
          <p:txBody>
            <a:bodyPr wrap="square">
              <a:spAutoFit/>
            </a:bodyPr>
            <a:lstStyle/>
            <a:p>
              <a:r>
                <a:rPr lang="es-CL" sz="1200" dirty="0">
                  <a:solidFill>
                    <a:srgbClr val="0A1A2E"/>
                  </a:solidFill>
                </a:rPr>
                <a:t>· </a:t>
              </a:r>
              <a:r>
                <a:rPr lang="es-CL" sz="1200" dirty="0" err="1"/>
                <a:t>Competitors</a:t>
              </a:r>
              <a:r>
                <a:rPr lang="es-CL" sz="1200" dirty="0"/>
                <a:t> are </a:t>
              </a:r>
              <a:r>
                <a:rPr lang="es-CL" sz="1200" dirty="0" err="1"/>
                <a:t>closing</a:t>
              </a:r>
              <a:r>
                <a:rPr lang="es-CL" sz="1200" dirty="0"/>
                <a:t> </a:t>
              </a:r>
              <a:r>
                <a:rPr lang="es-CL" sz="1200" dirty="0" err="1"/>
                <a:t>the</a:t>
              </a:r>
              <a:r>
                <a:rPr lang="es-CL" sz="1200" dirty="0"/>
                <a:t> AI gap </a:t>
              </a:r>
              <a:r>
                <a:rPr lang="es-CL" sz="1200" dirty="0" err="1"/>
                <a:t>faster</a:t>
              </a:r>
              <a:r>
                <a:rPr lang="es-CL" sz="1200" dirty="0"/>
                <a:t> </a:t>
              </a:r>
              <a:r>
                <a:rPr lang="es-CL" sz="1200" dirty="0" err="1"/>
                <a:t>than</a:t>
              </a:r>
              <a:r>
                <a:rPr lang="es-CL" sz="1200" dirty="0"/>
                <a:t> </a:t>
              </a:r>
              <a:r>
                <a:rPr lang="es-CL" sz="1200" dirty="0" err="1"/>
                <a:t>anticipated</a:t>
              </a:r>
              <a:r>
                <a:rPr lang="es-CL" sz="1200" dirty="0"/>
                <a:t>.</a:t>
              </a:r>
              <a:endParaRPr sz="1200" b="0" i="0" dirty="0">
                <a:solidFill>
                  <a:srgbClr val="0A1A2E"/>
                </a:solidFill>
                <a:latin typeface="+mj-lt"/>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280160"/>
          </a:xfrm>
          <a:prstGeom prst="rect">
            <a:avLst/>
          </a:prstGeom>
          <a:solidFill>
            <a:schemeClr val="accent5">
              <a:lumMod val="5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182880"/>
            <a:ext cx="10972800" cy="553998"/>
          </a:xfrm>
          <a:prstGeom prst="rect">
            <a:avLst/>
          </a:prstGeom>
          <a:noFill/>
        </p:spPr>
        <p:txBody>
          <a:bodyPr wrap="square">
            <a:spAutoFit/>
          </a:bodyPr>
          <a:lstStyle/>
          <a:p>
            <a:r>
              <a:rPr lang="es-CL" sz="3000" b="1" dirty="0" err="1">
                <a:solidFill>
                  <a:srgbClr val="FFFFFF"/>
                </a:solidFill>
              </a:rPr>
              <a:t>Critical</a:t>
            </a:r>
            <a:r>
              <a:rPr lang="es-CL" sz="3000" b="1" dirty="0">
                <a:solidFill>
                  <a:srgbClr val="FFFFFF"/>
                </a:solidFill>
              </a:rPr>
              <a:t> Risk </a:t>
            </a:r>
            <a:r>
              <a:rPr lang="es-CL" sz="3000" b="1" dirty="0" err="1">
                <a:solidFill>
                  <a:srgbClr val="FFFFFF"/>
                </a:solidFill>
              </a:rPr>
              <a:t>Exposure</a:t>
            </a:r>
            <a:r>
              <a:rPr lang="es-CL" sz="3000" b="1" dirty="0">
                <a:solidFill>
                  <a:srgbClr val="FFFFFF"/>
                </a:solidFill>
              </a:rPr>
              <a:t> — Top 3 </a:t>
            </a:r>
            <a:r>
              <a:rPr lang="es-CL" sz="3000" b="1" dirty="0" err="1">
                <a:solidFill>
                  <a:srgbClr val="FFFFFF"/>
                </a:solidFill>
              </a:rPr>
              <a:t>Risks</a:t>
            </a:r>
            <a:r>
              <a:rPr lang="es-CL" sz="3000" b="1" dirty="0">
                <a:solidFill>
                  <a:srgbClr val="FFFFFF"/>
                </a:solidFill>
              </a:rPr>
              <a:t> </a:t>
            </a:r>
            <a:r>
              <a:rPr lang="es-CL" sz="3000" b="1" dirty="0" err="1">
                <a:solidFill>
                  <a:srgbClr val="FFFFFF"/>
                </a:solidFill>
              </a:rPr>
              <a:t>Requiring</a:t>
            </a:r>
            <a:r>
              <a:rPr lang="es-CL" sz="3000" b="1" dirty="0">
                <a:solidFill>
                  <a:srgbClr val="FFFFFF"/>
                </a:solidFill>
              </a:rPr>
              <a:t> </a:t>
            </a:r>
            <a:r>
              <a:rPr lang="es-CL" sz="3000" b="1" dirty="0" err="1">
                <a:solidFill>
                  <a:srgbClr val="FFFFFF"/>
                </a:solidFill>
              </a:rPr>
              <a:t>Immediate</a:t>
            </a:r>
            <a:r>
              <a:rPr lang="es-CL" sz="3000" b="1" dirty="0">
                <a:solidFill>
                  <a:srgbClr val="FFFFFF"/>
                </a:solidFill>
              </a:rPr>
              <a:t> </a:t>
            </a:r>
            <a:r>
              <a:rPr lang="es-CL" sz="3000" b="1" dirty="0" err="1">
                <a:solidFill>
                  <a:srgbClr val="FFFFFF"/>
                </a:solidFill>
              </a:rPr>
              <a:t>Attention</a:t>
            </a:r>
            <a:endParaRPr sz="3000" b="1" dirty="0">
              <a:solidFill>
                <a:srgbClr val="FFFFFF"/>
              </a:solidFill>
            </a:endParaRPr>
          </a:p>
        </p:txBody>
      </p:sp>
      <p:sp>
        <p:nvSpPr>
          <p:cNvPr id="5" name="TextBox 4"/>
          <p:cNvSpPr txBox="1"/>
          <p:nvPr/>
        </p:nvSpPr>
        <p:spPr>
          <a:xfrm>
            <a:off x="365760" y="914400"/>
            <a:ext cx="10972800" cy="292388"/>
          </a:xfrm>
          <a:prstGeom prst="rect">
            <a:avLst/>
          </a:prstGeom>
          <a:noFill/>
        </p:spPr>
        <p:txBody>
          <a:bodyPr wrap="square">
            <a:spAutoFit/>
          </a:bodyPr>
          <a:lstStyle/>
          <a:p>
            <a:pPr algn="l"/>
            <a:r>
              <a:rPr sz="1300" b="0" i="0" dirty="0">
                <a:solidFill>
                  <a:srgbClr val="E8F5EE"/>
                </a:solidFill>
              </a:rPr>
              <a:t>Part 1 · Lissette Diaz</a:t>
            </a:r>
          </a:p>
        </p:txBody>
      </p:sp>
      <p:sp>
        <p:nvSpPr>
          <p:cNvPr id="7" name="TextBox 6"/>
          <p:cNvSpPr txBox="1"/>
          <p:nvPr/>
        </p:nvSpPr>
        <p:spPr>
          <a:xfrm>
            <a:off x="320040" y="1536192"/>
            <a:ext cx="841248" cy="292608"/>
          </a:xfrm>
          <a:prstGeom prst="rect">
            <a:avLst/>
          </a:prstGeom>
          <a:noFill/>
        </p:spPr>
        <p:txBody>
          <a:bodyPr wrap="square">
            <a:spAutoFit/>
          </a:bodyPr>
          <a:lstStyle/>
          <a:p>
            <a:pPr algn="ctr"/>
            <a:r>
              <a:rPr sz="1100" b="1" i="0">
                <a:solidFill>
                  <a:srgbClr val="FFFFFF"/>
                </a:solidFill>
              </a:rPr>
              <a:t>Risk #</a:t>
            </a:r>
          </a:p>
        </p:txBody>
      </p:sp>
      <p:sp>
        <p:nvSpPr>
          <p:cNvPr id="8" name="Rectangle 7"/>
          <p:cNvSpPr/>
          <p:nvPr/>
        </p:nvSpPr>
        <p:spPr>
          <a:xfrm>
            <a:off x="1252728" y="1508760"/>
            <a:ext cx="1097280" cy="347472"/>
          </a:xfrm>
          <a:prstGeom prst="rect">
            <a:avLst/>
          </a:prstGeom>
          <a:solidFill>
            <a:srgbClr val="0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2414016" y="1508760"/>
            <a:ext cx="2560320" cy="347472"/>
          </a:xfrm>
          <a:prstGeom prst="rect">
            <a:avLst/>
          </a:prstGeom>
          <a:solidFill>
            <a:srgbClr val="0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5038344" y="1508760"/>
            <a:ext cx="2011680" cy="347472"/>
          </a:xfrm>
          <a:prstGeom prst="rect">
            <a:avLst/>
          </a:prstGeom>
          <a:solidFill>
            <a:srgbClr val="0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7114032" y="1508760"/>
            <a:ext cx="2011680" cy="347472"/>
          </a:xfrm>
          <a:prstGeom prst="rect">
            <a:avLst/>
          </a:prstGeom>
          <a:solidFill>
            <a:srgbClr val="0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9189720" y="1508760"/>
            <a:ext cx="502920" cy="347472"/>
          </a:xfrm>
          <a:prstGeom prst="rect">
            <a:avLst/>
          </a:prstGeom>
          <a:solidFill>
            <a:srgbClr val="0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9756648" y="1508760"/>
            <a:ext cx="502920" cy="347472"/>
          </a:xfrm>
          <a:prstGeom prst="rect">
            <a:avLst/>
          </a:prstGeom>
          <a:solidFill>
            <a:srgbClr val="0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10323576" y="1508760"/>
            <a:ext cx="594360" cy="347472"/>
          </a:xfrm>
          <a:prstGeom prst="rect">
            <a:avLst/>
          </a:prstGeom>
          <a:solidFill>
            <a:srgbClr val="0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10981944" y="1508760"/>
            <a:ext cx="685800" cy="347472"/>
          </a:xfrm>
          <a:prstGeom prst="rect">
            <a:avLst/>
          </a:prstGeom>
          <a:solidFill>
            <a:srgbClr val="0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102" name="Group 101">
            <a:extLst>
              <a:ext uri="{FF2B5EF4-FFF2-40B4-BE49-F238E27FC236}">
                <a16:creationId xmlns:a16="http://schemas.microsoft.com/office/drawing/2014/main" id="{8E6F46FA-E8AB-F1C5-F37B-A430DE857989}"/>
              </a:ext>
            </a:extLst>
          </p:cNvPr>
          <p:cNvGrpSpPr/>
          <p:nvPr/>
        </p:nvGrpSpPr>
        <p:grpSpPr>
          <a:xfrm>
            <a:off x="274320" y="1508760"/>
            <a:ext cx="11393424" cy="4434840"/>
            <a:chOff x="274320" y="1508760"/>
            <a:chExt cx="11393424" cy="4434840"/>
          </a:xfrm>
        </p:grpSpPr>
        <p:sp>
          <p:nvSpPr>
            <p:cNvPr id="6" name="Rectangle 5"/>
            <p:cNvSpPr/>
            <p:nvPr/>
          </p:nvSpPr>
          <p:spPr>
            <a:xfrm>
              <a:off x="274320" y="1508760"/>
              <a:ext cx="914400" cy="347472"/>
            </a:xfrm>
            <a:prstGeom prst="rect">
              <a:avLst/>
            </a:prstGeom>
            <a:solidFill>
              <a:srgbClr val="0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CA" sz="1100" b="1" dirty="0"/>
                <a:t>Risk</a:t>
              </a:r>
              <a:endParaRPr sz="1100" b="1" dirty="0"/>
            </a:p>
          </p:txBody>
        </p:sp>
        <p:sp>
          <p:nvSpPr>
            <p:cNvPr id="9" name="TextBox 8"/>
            <p:cNvSpPr txBox="1"/>
            <p:nvPr/>
          </p:nvSpPr>
          <p:spPr>
            <a:xfrm>
              <a:off x="1298448" y="1536192"/>
              <a:ext cx="1024127" cy="292608"/>
            </a:xfrm>
            <a:prstGeom prst="rect">
              <a:avLst/>
            </a:prstGeom>
            <a:noFill/>
          </p:spPr>
          <p:txBody>
            <a:bodyPr wrap="square">
              <a:spAutoFit/>
            </a:bodyPr>
            <a:lstStyle/>
            <a:p>
              <a:pPr algn="ctr"/>
              <a:r>
                <a:rPr sz="1100" b="1" i="0" dirty="0">
                  <a:solidFill>
                    <a:srgbClr val="FFFFFF"/>
                  </a:solidFill>
                </a:rPr>
                <a:t>Type</a:t>
              </a:r>
            </a:p>
          </p:txBody>
        </p:sp>
        <p:sp>
          <p:nvSpPr>
            <p:cNvPr id="11" name="TextBox 10"/>
            <p:cNvSpPr txBox="1"/>
            <p:nvPr/>
          </p:nvSpPr>
          <p:spPr>
            <a:xfrm>
              <a:off x="2459736" y="1536192"/>
              <a:ext cx="2487168" cy="292608"/>
            </a:xfrm>
            <a:prstGeom prst="rect">
              <a:avLst/>
            </a:prstGeom>
            <a:noFill/>
          </p:spPr>
          <p:txBody>
            <a:bodyPr wrap="square">
              <a:spAutoFit/>
            </a:bodyPr>
            <a:lstStyle/>
            <a:p>
              <a:pPr algn="ctr"/>
              <a:r>
                <a:rPr sz="1100" b="1" i="0">
                  <a:solidFill>
                    <a:srgbClr val="FFFFFF"/>
                  </a:solidFill>
                </a:rPr>
                <a:t>Risk Statement</a:t>
              </a:r>
            </a:p>
          </p:txBody>
        </p:sp>
        <p:sp>
          <p:nvSpPr>
            <p:cNvPr id="13" name="TextBox 12"/>
            <p:cNvSpPr txBox="1"/>
            <p:nvPr/>
          </p:nvSpPr>
          <p:spPr>
            <a:xfrm>
              <a:off x="5084064" y="1536192"/>
              <a:ext cx="1938528" cy="292608"/>
            </a:xfrm>
            <a:prstGeom prst="rect">
              <a:avLst/>
            </a:prstGeom>
            <a:noFill/>
          </p:spPr>
          <p:txBody>
            <a:bodyPr wrap="square">
              <a:spAutoFit/>
            </a:bodyPr>
            <a:lstStyle/>
            <a:p>
              <a:pPr algn="ctr"/>
              <a:r>
                <a:rPr sz="1100" b="1" i="0">
                  <a:solidFill>
                    <a:srgbClr val="FFFFFF"/>
                  </a:solidFill>
                </a:rPr>
                <a:t>Caused by</a:t>
              </a:r>
            </a:p>
          </p:txBody>
        </p:sp>
        <p:sp>
          <p:nvSpPr>
            <p:cNvPr id="15" name="TextBox 14"/>
            <p:cNvSpPr txBox="1"/>
            <p:nvPr/>
          </p:nvSpPr>
          <p:spPr>
            <a:xfrm>
              <a:off x="7159752" y="1536192"/>
              <a:ext cx="1938528" cy="292608"/>
            </a:xfrm>
            <a:prstGeom prst="rect">
              <a:avLst/>
            </a:prstGeom>
            <a:noFill/>
          </p:spPr>
          <p:txBody>
            <a:bodyPr wrap="square">
              <a:spAutoFit/>
            </a:bodyPr>
            <a:lstStyle/>
            <a:p>
              <a:pPr algn="ctr"/>
              <a:r>
                <a:rPr sz="1100" b="1" i="0">
                  <a:solidFill>
                    <a:srgbClr val="FFFFFF"/>
                  </a:solidFill>
                </a:rPr>
                <a:t>Resulting in</a:t>
              </a:r>
            </a:p>
          </p:txBody>
        </p:sp>
        <p:sp>
          <p:nvSpPr>
            <p:cNvPr id="17" name="TextBox 16"/>
            <p:cNvSpPr txBox="1"/>
            <p:nvPr/>
          </p:nvSpPr>
          <p:spPr>
            <a:xfrm>
              <a:off x="9235440" y="1536192"/>
              <a:ext cx="429768" cy="292608"/>
            </a:xfrm>
            <a:prstGeom prst="rect">
              <a:avLst/>
            </a:prstGeom>
            <a:noFill/>
          </p:spPr>
          <p:txBody>
            <a:bodyPr wrap="square">
              <a:spAutoFit/>
            </a:bodyPr>
            <a:lstStyle/>
            <a:p>
              <a:pPr algn="ctr"/>
              <a:r>
                <a:rPr sz="1100" b="1" i="0">
                  <a:solidFill>
                    <a:srgbClr val="FFFFFF"/>
                  </a:solidFill>
                </a:rPr>
                <a:t>L</a:t>
              </a:r>
            </a:p>
          </p:txBody>
        </p:sp>
        <p:sp>
          <p:nvSpPr>
            <p:cNvPr id="19" name="TextBox 18"/>
            <p:cNvSpPr txBox="1"/>
            <p:nvPr/>
          </p:nvSpPr>
          <p:spPr>
            <a:xfrm>
              <a:off x="9802368" y="1536192"/>
              <a:ext cx="429768" cy="292608"/>
            </a:xfrm>
            <a:prstGeom prst="rect">
              <a:avLst/>
            </a:prstGeom>
            <a:noFill/>
          </p:spPr>
          <p:txBody>
            <a:bodyPr wrap="square">
              <a:spAutoFit/>
            </a:bodyPr>
            <a:lstStyle/>
            <a:p>
              <a:pPr algn="ctr"/>
              <a:r>
                <a:rPr sz="1100" b="1" i="0">
                  <a:solidFill>
                    <a:srgbClr val="FFFFFF"/>
                  </a:solidFill>
                </a:rPr>
                <a:t>I</a:t>
              </a:r>
            </a:p>
          </p:txBody>
        </p:sp>
        <p:sp>
          <p:nvSpPr>
            <p:cNvPr id="21" name="TextBox 20"/>
            <p:cNvSpPr txBox="1"/>
            <p:nvPr/>
          </p:nvSpPr>
          <p:spPr>
            <a:xfrm>
              <a:off x="10369296" y="1536192"/>
              <a:ext cx="521208" cy="292608"/>
            </a:xfrm>
            <a:prstGeom prst="rect">
              <a:avLst/>
            </a:prstGeom>
            <a:noFill/>
          </p:spPr>
          <p:txBody>
            <a:bodyPr wrap="square">
              <a:spAutoFit/>
            </a:bodyPr>
            <a:lstStyle/>
            <a:p>
              <a:pPr algn="ctr"/>
              <a:r>
                <a:rPr sz="1100" b="1" i="0">
                  <a:solidFill>
                    <a:srgbClr val="FFFFFF"/>
                  </a:solidFill>
                </a:rPr>
                <a:t>Score</a:t>
              </a:r>
            </a:p>
          </p:txBody>
        </p:sp>
        <p:sp>
          <p:nvSpPr>
            <p:cNvPr id="23" name="TextBox 22"/>
            <p:cNvSpPr txBox="1"/>
            <p:nvPr/>
          </p:nvSpPr>
          <p:spPr>
            <a:xfrm>
              <a:off x="11027664" y="1536192"/>
              <a:ext cx="612648" cy="292608"/>
            </a:xfrm>
            <a:prstGeom prst="rect">
              <a:avLst/>
            </a:prstGeom>
            <a:noFill/>
          </p:spPr>
          <p:txBody>
            <a:bodyPr wrap="square">
              <a:spAutoFit/>
            </a:bodyPr>
            <a:lstStyle/>
            <a:p>
              <a:pPr algn="ctr"/>
              <a:r>
                <a:rPr sz="1100" b="1" i="0">
                  <a:solidFill>
                    <a:srgbClr val="FFFFFF"/>
                  </a:solidFill>
                </a:rPr>
                <a:t>Priority</a:t>
              </a:r>
            </a:p>
          </p:txBody>
        </p:sp>
        <p:sp>
          <p:nvSpPr>
            <p:cNvPr id="24" name="Rectangle 23"/>
            <p:cNvSpPr/>
            <p:nvPr/>
          </p:nvSpPr>
          <p:spPr>
            <a:xfrm>
              <a:off x="274320" y="1965960"/>
              <a:ext cx="914400" cy="1234440"/>
            </a:xfrm>
            <a:prstGeom prst="rect">
              <a:avLst/>
            </a:prstGeom>
            <a:solidFill>
              <a:srgbClr val="F1F5F9"/>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1252728" y="1965960"/>
              <a:ext cx="1097280" cy="1234440"/>
            </a:xfrm>
            <a:prstGeom prst="rect">
              <a:avLst/>
            </a:prstGeom>
            <a:solidFill>
              <a:srgbClr val="F1F5F9"/>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2414016" y="1965960"/>
              <a:ext cx="2560320" cy="1234440"/>
            </a:xfrm>
            <a:prstGeom prst="rect">
              <a:avLst/>
            </a:prstGeom>
            <a:solidFill>
              <a:srgbClr val="F1F5F9"/>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5038344" y="1965960"/>
              <a:ext cx="2011680" cy="1234440"/>
            </a:xfrm>
            <a:prstGeom prst="rect">
              <a:avLst/>
            </a:prstGeom>
            <a:solidFill>
              <a:srgbClr val="F1F5F9"/>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7114032" y="1965960"/>
              <a:ext cx="2011680" cy="1234440"/>
            </a:xfrm>
            <a:prstGeom prst="rect">
              <a:avLst/>
            </a:prstGeom>
            <a:solidFill>
              <a:srgbClr val="F1F5F9"/>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9189720" y="1965960"/>
              <a:ext cx="502920" cy="1234440"/>
            </a:xfrm>
            <a:prstGeom prst="rect">
              <a:avLst/>
            </a:prstGeom>
            <a:solidFill>
              <a:srgbClr val="F1F5F9"/>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9756648" y="1965960"/>
              <a:ext cx="502920" cy="1234440"/>
            </a:xfrm>
            <a:prstGeom prst="rect">
              <a:avLst/>
            </a:prstGeom>
            <a:solidFill>
              <a:srgbClr val="F1F5F9"/>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ctangle 37"/>
            <p:cNvSpPr/>
            <p:nvPr/>
          </p:nvSpPr>
          <p:spPr>
            <a:xfrm>
              <a:off x="10323576" y="1965960"/>
              <a:ext cx="594360" cy="1234440"/>
            </a:xfrm>
            <a:prstGeom prst="rect">
              <a:avLst/>
            </a:prstGeom>
            <a:solidFill>
              <a:srgbClr val="F1F5F9"/>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ectangle 39"/>
            <p:cNvSpPr/>
            <p:nvPr/>
          </p:nvSpPr>
          <p:spPr>
            <a:xfrm>
              <a:off x="10981944" y="1965960"/>
              <a:ext cx="685800" cy="1234440"/>
            </a:xfrm>
            <a:prstGeom prst="rect">
              <a:avLst/>
            </a:prstGeom>
            <a:solidFill>
              <a:srgbClr val="F1F5F9"/>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ectangle 41"/>
            <p:cNvSpPr/>
            <p:nvPr/>
          </p:nvSpPr>
          <p:spPr>
            <a:xfrm>
              <a:off x="274320" y="3337560"/>
              <a:ext cx="914400" cy="1234440"/>
            </a:xfrm>
            <a:prstGeom prst="rect">
              <a:avLst/>
            </a:prstGeom>
            <a:solidFill>
              <a:srgbClr val="FFFFFF"/>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Rectangle 43"/>
            <p:cNvSpPr/>
            <p:nvPr/>
          </p:nvSpPr>
          <p:spPr>
            <a:xfrm>
              <a:off x="1252728" y="3337560"/>
              <a:ext cx="1097280" cy="1234440"/>
            </a:xfrm>
            <a:prstGeom prst="rect">
              <a:avLst/>
            </a:prstGeom>
            <a:solidFill>
              <a:srgbClr val="FFFFFF"/>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Rectangle 45"/>
            <p:cNvSpPr/>
            <p:nvPr/>
          </p:nvSpPr>
          <p:spPr>
            <a:xfrm>
              <a:off x="2414016" y="3337560"/>
              <a:ext cx="2560320" cy="1234440"/>
            </a:xfrm>
            <a:prstGeom prst="rect">
              <a:avLst/>
            </a:prstGeom>
            <a:solidFill>
              <a:srgbClr val="FFFFFF"/>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Rectangle 47"/>
            <p:cNvSpPr/>
            <p:nvPr/>
          </p:nvSpPr>
          <p:spPr>
            <a:xfrm>
              <a:off x="5038344" y="3337560"/>
              <a:ext cx="2011680" cy="1234440"/>
            </a:xfrm>
            <a:prstGeom prst="rect">
              <a:avLst/>
            </a:prstGeom>
            <a:solidFill>
              <a:srgbClr val="FFFFFF"/>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Rectangle 49"/>
            <p:cNvSpPr/>
            <p:nvPr/>
          </p:nvSpPr>
          <p:spPr>
            <a:xfrm>
              <a:off x="7114032" y="3337560"/>
              <a:ext cx="2011680" cy="1234440"/>
            </a:xfrm>
            <a:prstGeom prst="rect">
              <a:avLst/>
            </a:prstGeom>
            <a:solidFill>
              <a:srgbClr val="FFFFFF"/>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Rectangle 51"/>
            <p:cNvSpPr/>
            <p:nvPr/>
          </p:nvSpPr>
          <p:spPr>
            <a:xfrm>
              <a:off x="9189720" y="3337560"/>
              <a:ext cx="502920" cy="1234440"/>
            </a:xfrm>
            <a:prstGeom prst="rect">
              <a:avLst/>
            </a:prstGeom>
            <a:solidFill>
              <a:srgbClr val="FFFFFF"/>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Rectangle 53"/>
            <p:cNvSpPr/>
            <p:nvPr/>
          </p:nvSpPr>
          <p:spPr>
            <a:xfrm>
              <a:off x="9756648" y="3337560"/>
              <a:ext cx="502920" cy="1234440"/>
            </a:xfrm>
            <a:prstGeom prst="rect">
              <a:avLst/>
            </a:prstGeom>
            <a:solidFill>
              <a:srgbClr val="FFFFFF"/>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Rectangle 55"/>
            <p:cNvSpPr/>
            <p:nvPr/>
          </p:nvSpPr>
          <p:spPr>
            <a:xfrm>
              <a:off x="10323576" y="3337560"/>
              <a:ext cx="594360" cy="1234440"/>
            </a:xfrm>
            <a:prstGeom prst="rect">
              <a:avLst/>
            </a:prstGeom>
            <a:solidFill>
              <a:srgbClr val="FFFFFF"/>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Rectangle 57"/>
            <p:cNvSpPr/>
            <p:nvPr/>
          </p:nvSpPr>
          <p:spPr>
            <a:xfrm>
              <a:off x="10981944" y="3337560"/>
              <a:ext cx="685800" cy="1234440"/>
            </a:xfrm>
            <a:prstGeom prst="rect">
              <a:avLst/>
            </a:prstGeom>
            <a:solidFill>
              <a:srgbClr val="FFFFFF"/>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Rectangle 59"/>
            <p:cNvSpPr/>
            <p:nvPr/>
          </p:nvSpPr>
          <p:spPr>
            <a:xfrm>
              <a:off x="274320" y="4709160"/>
              <a:ext cx="914400" cy="1234440"/>
            </a:xfrm>
            <a:prstGeom prst="rect">
              <a:avLst/>
            </a:prstGeom>
            <a:solidFill>
              <a:srgbClr val="F1F5F9"/>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Rectangle 61"/>
            <p:cNvSpPr/>
            <p:nvPr/>
          </p:nvSpPr>
          <p:spPr>
            <a:xfrm>
              <a:off x="1252728" y="4709160"/>
              <a:ext cx="1097280" cy="1234440"/>
            </a:xfrm>
            <a:prstGeom prst="rect">
              <a:avLst/>
            </a:prstGeom>
            <a:solidFill>
              <a:srgbClr val="F1F5F9"/>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Rectangle 63"/>
            <p:cNvSpPr/>
            <p:nvPr/>
          </p:nvSpPr>
          <p:spPr>
            <a:xfrm>
              <a:off x="2414016" y="4709160"/>
              <a:ext cx="2560320" cy="1234440"/>
            </a:xfrm>
            <a:prstGeom prst="rect">
              <a:avLst/>
            </a:prstGeom>
            <a:solidFill>
              <a:srgbClr val="F1F5F9"/>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Rectangle 65"/>
            <p:cNvSpPr/>
            <p:nvPr/>
          </p:nvSpPr>
          <p:spPr>
            <a:xfrm>
              <a:off x="5038344" y="4709160"/>
              <a:ext cx="2011680" cy="1234440"/>
            </a:xfrm>
            <a:prstGeom prst="rect">
              <a:avLst/>
            </a:prstGeom>
            <a:solidFill>
              <a:srgbClr val="F1F5F9"/>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Rectangle 67"/>
            <p:cNvSpPr/>
            <p:nvPr/>
          </p:nvSpPr>
          <p:spPr>
            <a:xfrm>
              <a:off x="7114032" y="4709160"/>
              <a:ext cx="2011680" cy="1234440"/>
            </a:xfrm>
            <a:prstGeom prst="rect">
              <a:avLst/>
            </a:prstGeom>
            <a:solidFill>
              <a:srgbClr val="F1F5F9"/>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p>
          </p:txBody>
        </p:sp>
        <p:sp>
          <p:nvSpPr>
            <p:cNvPr id="70" name="Rectangle 69"/>
            <p:cNvSpPr/>
            <p:nvPr/>
          </p:nvSpPr>
          <p:spPr>
            <a:xfrm>
              <a:off x="9189720" y="4709160"/>
              <a:ext cx="502920" cy="1234440"/>
            </a:xfrm>
            <a:prstGeom prst="rect">
              <a:avLst/>
            </a:prstGeom>
            <a:solidFill>
              <a:srgbClr val="F1F5F9"/>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Rectangle 71"/>
            <p:cNvSpPr/>
            <p:nvPr/>
          </p:nvSpPr>
          <p:spPr>
            <a:xfrm>
              <a:off x="9756648" y="4709160"/>
              <a:ext cx="502920" cy="1234440"/>
            </a:xfrm>
            <a:prstGeom prst="rect">
              <a:avLst/>
            </a:prstGeom>
            <a:solidFill>
              <a:srgbClr val="F1F5F9"/>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Rectangle 73"/>
            <p:cNvSpPr/>
            <p:nvPr/>
          </p:nvSpPr>
          <p:spPr>
            <a:xfrm>
              <a:off x="10323576" y="4709160"/>
              <a:ext cx="594360" cy="1234440"/>
            </a:xfrm>
            <a:prstGeom prst="rect">
              <a:avLst/>
            </a:prstGeom>
            <a:solidFill>
              <a:srgbClr val="F1F5F9"/>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Rectangle 75"/>
            <p:cNvSpPr/>
            <p:nvPr/>
          </p:nvSpPr>
          <p:spPr>
            <a:xfrm>
              <a:off x="10981944" y="4709160"/>
              <a:ext cx="685800" cy="1234440"/>
            </a:xfrm>
            <a:prstGeom prst="rect">
              <a:avLst/>
            </a:prstGeom>
            <a:solidFill>
              <a:srgbClr val="F1F5F9"/>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p>
          </p:txBody>
        </p:sp>
      </p:grpSp>
      <p:grpSp>
        <p:nvGrpSpPr>
          <p:cNvPr id="119" name="Group 118">
            <a:extLst>
              <a:ext uri="{FF2B5EF4-FFF2-40B4-BE49-F238E27FC236}">
                <a16:creationId xmlns:a16="http://schemas.microsoft.com/office/drawing/2014/main" id="{892B4F0C-8CC9-1021-5FEF-1CBE6B4200C5}"/>
              </a:ext>
            </a:extLst>
          </p:cNvPr>
          <p:cNvGrpSpPr/>
          <p:nvPr/>
        </p:nvGrpSpPr>
        <p:grpSpPr>
          <a:xfrm>
            <a:off x="320040" y="2288772"/>
            <a:ext cx="11301984" cy="3343365"/>
            <a:chOff x="320040" y="2011679"/>
            <a:chExt cx="11301984" cy="3343365"/>
          </a:xfrm>
        </p:grpSpPr>
        <p:sp>
          <p:nvSpPr>
            <p:cNvPr id="25" name="TextBox 24"/>
            <p:cNvSpPr txBox="1"/>
            <p:nvPr/>
          </p:nvSpPr>
          <p:spPr>
            <a:xfrm>
              <a:off x="320040" y="2011679"/>
              <a:ext cx="822960" cy="307777"/>
            </a:xfrm>
            <a:prstGeom prst="rect">
              <a:avLst/>
            </a:prstGeom>
            <a:noFill/>
          </p:spPr>
          <p:txBody>
            <a:bodyPr wrap="square">
              <a:spAutoFit/>
            </a:bodyPr>
            <a:lstStyle/>
            <a:p>
              <a:pPr algn="ctr"/>
              <a:r>
                <a:rPr sz="1400" b="1" i="0">
                  <a:solidFill>
                    <a:srgbClr val="0A1A2E"/>
                  </a:solidFill>
                  <a:latin typeface="+mj-lt"/>
                </a:rPr>
                <a:t>RISK 1</a:t>
              </a:r>
            </a:p>
          </p:txBody>
        </p:sp>
        <p:sp>
          <p:nvSpPr>
            <p:cNvPr id="27" name="TextBox 26"/>
            <p:cNvSpPr txBox="1"/>
            <p:nvPr/>
          </p:nvSpPr>
          <p:spPr>
            <a:xfrm>
              <a:off x="1298448" y="2011679"/>
              <a:ext cx="1005839" cy="307777"/>
            </a:xfrm>
            <a:prstGeom prst="rect">
              <a:avLst/>
            </a:prstGeom>
            <a:noFill/>
          </p:spPr>
          <p:txBody>
            <a:bodyPr wrap="square">
              <a:spAutoFit/>
            </a:bodyPr>
            <a:lstStyle/>
            <a:p>
              <a:pPr algn="ctr"/>
              <a:r>
                <a:rPr sz="1400" b="0" i="0">
                  <a:solidFill>
                    <a:srgbClr val="0A1A2E"/>
                  </a:solidFill>
                  <a:latin typeface="+mj-lt"/>
                </a:rPr>
                <a:t>Negative</a:t>
              </a:r>
            </a:p>
          </p:txBody>
        </p:sp>
        <p:sp>
          <p:nvSpPr>
            <p:cNvPr id="29" name="TextBox 28"/>
            <p:cNvSpPr txBox="1"/>
            <p:nvPr/>
          </p:nvSpPr>
          <p:spPr>
            <a:xfrm>
              <a:off x="2459736" y="2011679"/>
              <a:ext cx="2468879" cy="430887"/>
            </a:xfrm>
            <a:prstGeom prst="rect">
              <a:avLst/>
            </a:prstGeom>
            <a:noFill/>
          </p:spPr>
          <p:txBody>
            <a:bodyPr wrap="square">
              <a:spAutoFit/>
            </a:bodyPr>
            <a:lstStyle/>
            <a:p>
              <a:pPr algn="ctr"/>
              <a:r>
                <a:rPr sz="1100" b="0" i="0" dirty="0">
                  <a:solidFill>
                    <a:srgbClr val="0A1A2E"/>
                  </a:solidFill>
                  <a:latin typeface="+mj-lt"/>
                </a:rPr>
                <a:t>Merchant Churn — AI Search Competition</a:t>
              </a:r>
              <a:r>
                <a:rPr lang="es-CL" sz="1100" b="0" i="0" dirty="0">
                  <a:solidFill>
                    <a:srgbClr val="0A1A2E"/>
                  </a:solidFill>
                  <a:latin typeface="+mj-lt"/>
                </a:rPr>
                <a:t>.</a:t>
              </a:r>
              <a:endParaRPr sz="1100" b="0" i="0" dirty="0">
                <a:solidFill>
                  <a:srgbClr val="0A1A2E"/>
                </a:solidFill>
                <a:latin typeface="+mj-lt"/>
              </a:endParaRPr>
            </a:p>
          </p:txBody>
        </p:sp>
        <p:sp>
          <p:nvSpPr>
            <p:cNvPr id="31" name="TextBox 30"/>
            <p:cNvSpPr txBox="1"/>
            <p:nvPr/>
          </p:nvSpPr>
          <p:spPr>
            <a:xfrm>
              <a:off x="5084064" y="2011679"/>
              <a:ext cx="1920240" cy="430887"/>
            </a:xfrm>
            <a:prstGeom prst="rect">
              <a:avLst/>
            </a:prstGeom>
            <a:noFill/>
          </p:spPr>
          <p:txBody>
            <a:bodyPr wrap="square">
              <a:spAutoFit/>
            </a:bodyPr>
            <a:lstStyle/>
            <a:p>
              <a:pPr algn="ctr"/>
              <a:r>
                <a:rPr sz="1100" b="0" i="0" dirty="0">
                  <a:solidFill>
                    <a:srgbClr val="0A1A2E"/>
                  </a:solidFill>
                  <a:latin typeface="+mj-lt"/>
                </a:rPr>
                <a:t>Slow/incomplete Vantage integration</a:t>
              </a:r>
              <a:r>
                <a:rPr lang="es-CL" sz="1100" b="0" i="0" dirty="0">
                  <a:solidFill>
                    <a:srgbClr val="0A1A2E"/>
                  </a:solidFill>
                  <a:latin typeface="+mj-lt"/>
                </a:rPr>
                <a:t>.</a:t>
              </a:r>
              <a:endParaRPr sz="1100" b="0" i="0" dirty="0">
                <a:solidFill>
                  <a:srgbClr val="0A1A2E"/>
                </a:solidFill>
                <a:latin typeface="+mj-lt"/>
              </a:endParaRPr>
            </a:p>
          </p:txBody>
        </p:sp>
        <p:sp>
          <p:nvSpPr>
            <p:cNvPr id="33" name="TextBox 32"/>
            <p:cNvSpPr txBox="1"/>
            <p:nvPr/>
          </p:nvSpPr>
          <p:spPr>
            <a:xfrm>
              <a:off x="7159752" y="2011679"/>
              <a:ext cx="1920240" cy="600164"/>
            </a:xfrm>
            <a:prstGeom prst="rect">
              <a:avLst/>
            </a:prstGeom>
            <a:noFill/>
          </p:spPr>
          <p:txBody>
            <a:bodyPr wrap="square">
              <a:spAutoFit/>
            </a:bodyPr>
            <a:lstStyle/>
            <a:p>
              <a:pPr algn="ctr"/>
              <a:r>
                <a:rPr sz="1100" b="0" i="0" dirty="0">
                  <a:solidFill>
                    <a:srgbClr val="0A1A2E"/>
                  </a:solidFill>
                  <a:latin typeface="+mj-lt"/>
                </a:rPr>
                <a:t>Migration of merchants to Amazon/Google-integrated competitors</a:t>
              </a:r>
              <a:r>
                <a:rPr lang="es-CL" sz="1100" b="0" i="0" dirty="0">
                  <a:solidFill>
                    <a:srgbClr val="0A1A2E"/>
                  </a:solidFill>
                  <a:latin typeface="+mj-lt"/>
                </a:rPr>
                <a:t>.</a:t>
              </a:r>
              <a:endParaRPr sz="1100" b="0" i="0" dirty="0">
                <a:solidFill>
                  <a:srgbClr val="0A1A2E"/>
                </a:solidFill>
                <a:latin typeface="+mj-lt"/>
              </a:endParaRPr>
            </a:p>
          </p:txBody>
        </p:sp>
        <p:sp>
          <p:nvSpPr>
            <p:cNvPr id="35" name="TextBox 34"/>
            <p:cNvSpPr txBox="1"/>
            <p:nvPr/>
          </p:nvSpPr>
          <p:spPr>
            <a:xfrm>
              <a:off x="9235440" y="2011679"/>
              <a:ext cx="411480" cy="307777"/>
            </a:xfrm>
            <a:prstGeom prst="rect">
              <a:avLst/>
            </a:prstGeom>
            <a:noFill/>
          </p:spPr>
          <p:txBody>
            <a:bodyPr wrap="square">
              <a:spAutoFit/>
            </a:bodyPr>
            <a:lstStyle/>
            <a:p>
              <a:pPr algn="ctr"/>
              <a:r>
                <a:rPr sz="1400" b="0" i="0" dirty="0">
                  <a:solidFill>
                    <a:srgbClr val="0A1A2E"/>
                  </a:solidFill>
                  <a:latin typeface="+mj-lt"/>
                </a:rPr>
                <a:t>3</a:t>
              </a:r>
            </a:p>
          </p:txBody>
        </p:sp>
        <p:sp>
          <p:nvSpPr>
            <p:cNvPr id="37" name="TextBox 36"/>
            <p:cNvSpPr txBox="1"/>
            <p:nvPr/>
          </p:nvSpPr>
          <p:spPr>
            <a:xfrm>
              <a:off x="9802368" y="2011679"/>
              <a:ext cx="411480" cy="307777"/>
            </a:xfrm>
            <a:prstGeom prst="rect">
              <a:avLst/>
            </a:prstGeom>
            <a:noFill/>
          </p:spPr>
          <p:txBody>
            <a:bodyPr wrap="square">
              <a:spAutoFit/>
            </a:bodyPr>
            <a:lstStyle/>
            <a:p>
              <a:pPr algn="ctr"/>
              <a:r>
                <a:rPr sz="1400" b="0" i="0">
                  <a:solidFill>
                    <a:srgbClr val="0A1A2E"/>
                  </a:solidFill>
                  <a:latin typeface="+mj-lt"/>
                </a:rPr>
                <a:t>4</a:t>
              </a:r>
            </a:p>
          </p:txBody>
        </p:sp>
        <p:sp>
          <p:nvSpPr>
            <p:cNvPr id="39" name="TextBox 38"/>
            <p:cNvSpPr txBox="1"/>
            <p:nvPr/>
          </p:nvSpPr>
          <p:spPr>
            <a:xfrm>
              <a:off x="10369296" y="2011679"/>
              <a:ext cx="502920" cy="307777"/>
            </a:xfrm>
            <a:prstGeom prst="rect">
              <a:avLst/>
            </a:prstGeom>
            <a:noFill/>
          </p:spPr>
          <p:txBody>
            <a:bodyPr wrap="square">
              <a:spAutoFit/>
            </a:bodyPr>
            <a:lstStyle/>
            <a:p>
              <a:pPr algn="ctr"/>
              <a:r>
                <a:rPr sz="1400" b="0" i="0" dirty="0">
                  <a:solidFill>
                    <a:srgbClr val="0A1A2E"/>
                  </a:solidFill>
                  <a:latin typeface="+mj-lt"/>
                </a:rPr>
                <a:t>12</a:t>
              </a:r>
            </a:p>
          </p:txBody>
        </p:sp>
        <p:sp>
          <p:nvSpPr>
            <p:cNvPr id="41" name="TextBox 40"/>
            <p:cNvSpPr txBox="1"/>
            <p:nvPr/>
          </p:nvSpPr>
          <p:spPr>
            <a:xfrm>
              <a:off x="11027664" y="2011679"/>
              <a:ext cx="594360" cy="307777"/>
            </a:xfrm>
            <a:prstGeom prst="rect">
              <a:avLst/>
            </a:prstGeom>
            <a:noFill/>
          </p:spPr>
          <p:txBody>
            <a:bodyPr wrap="square">
              <a:spAutoFit/>
            </a:bodyPr>
            <a:lstStyle/>
            <a:p>
              <a:pPr algn="ctr"/>
              <a:r>
                <a:rPr sz="1400" b="1" i="0">
                  <a:solidFill>
                    <a:srgbClr val="DC2626"/>
                  </a:solidFill>
                  <a:latin typeface="+mj-lt"/>
                </a:rPr>
                <a:t>HIGH</a:t>
              </a:r>
            </a:p>
          </p:txBody>
        </p:sp>
        <p:sp>
          <p:nvSpPr>
            <p:cNvPr id="43" name="TextBox 42"/>
            <p:cNvSpPr txBox="1"/>
            <p:nvPr/>
          </p:nvSpPr>
          <p:spPr>
            <a:xfrm>
              <a:off x="320040" y="3383279"/>
              <a:ext cx="822960" cy="307777"/>
            </a:xfrm>
            <a:prstGeom prst="rect">
              <a:avLst/>
            </a:prstGeom>
            <a:noFill/>
          </p:spPr>
          <p:txBody>
            <a:bodyPr wrap="square">
              <a:spAutoFit/>
            </a:bodyPr>
            <a:lstStyle/>
            <a:p>
              <a:pPr algn="ctr"/>
              <a:r>
                <a:rPr sz="1400" b="1" i="0">
                  <a:solidFill>
                    <a:srgbClr val="0A1A2E"/>
                  </a:solidFill>
                  <a:latin typeface="+mj-lt"/>
                </a:rPr>
                <a:t>RISK 2</a:t>
              </a:r>
            </a:p>
          </p:txBody>
        </p:sp>
        <p:sp>
          <p:nvSpPr>
            <p:cNvPr id="45" name="TextBox 44"/>
            <p:cNvSpPr txBox="1"/>
            <p:nvPr/>
          </p:nvSpPr>
          <p:spPr>
            <a:xfrm>
              <a:off x="1298448" y="3383279"/>
              <a:ext cx="1005839" cy="307777"/>
            </a:xfrm>
            <a:prstGeom prst="rect">
              <a:avLst/>
            </a:prstGeom>
            <a:noFill/>
          </p:spPr>
          <p:txBody>
            <a:bodyPr wrap="square">
              <a:spAutoFit/>
            </a:bodyPr>
            <a:lstStyle/>
            <a:p>
              <a:pPr algn="ctr"/>
              <a:r>
                <a:rPr sz="1400" b="0" i="0">
                  <a:solidFill>
                    <a:srgbClr val="0A1A2E"/>
                  </a:solidFill>
                  <a:latin typeface="+mj-lt"/>
                </a:rPr>
                <a:t>Negative</a:t>
              </a:r>
            </a:p>
          </p:txBody>
        </p:sp>
        <p:sp>
          <p:nvSpPr>
            <p:cNvPr id="47" name="TextBox 46"/>
            <p:cNvSpPr txBox="1"/>
            <p:nvPr/>
          </p:nvSpPr>
          <p:spPr>
            <a:xfrm>
              <a:off x="2459736" y="3383279"/>
              <a:ext cx="2468879" cy="430887"/>
            </a:xfrm>
            <a:prstGeom prst="rect">
              <a:avLst/>
            </a:prstGeom>
            <a:noFill/>
          </p:spPr>
          <p:txBody>
            <a:bodyPr wrap="square">
              <a:spAutoFit/>
            </a:bodyPr>
            <a:lstStyle/>
            <a:p>
              <a:pPr algn="ctr"/>
              <a:r>
                <a:rPr sz="1100" b="0" i="0" dirty="0">
                  <a:solidFill>
                    <a:srgbClr val="0A1A2E"/>
                  </a:solidFill>
                  <a:latin typeface="+mj-lt"/>
                </a:rPr>
                <a:t>Regulatory Non-Compliance — GDPR / EU AI Act / PIPEDA</a:t>
              </a:r>
              <a:r>
                <a:rPr lang="es-CL" sz="1100" b="0" i="0" dirty="0">
                  <a:solidFill>
                    <a:srgbClr val="0A1A2E"/>
                  </a:solidFill>
                  <a:latin typeface="+mj-lt"/>
                </a:rPr>
                <a:t>.</a:t>
              </a:r>
              <a:endParaRPr sz="1100" b="0" i="0" dirty="0">
                <a:solidFill>
                  <a:srgbClr val="0A1A2E"/>
                </a:solidFill>
                <a:latin typeface="+mj-lt"/>
              </a:endParaRPr>
            </a:p>
          </p:txBody>
        </p:sp>
        <p:sp>
          <p:nvSpPr>
            <p:cNvPr id="49" name="TextBox 48"/>
            <p:cNvSpPr txBox="1"/>
            <p:nvPr/>
          </p:nvSpPr>
          <p:spPr>
            <a:xfrm>
              <a:off x="5084064" y="3383279"/>
              <a:ext cx="1920240" cy="600164"/>
            </a:xfrm>
            <a:prstGeom prst="rect">
              <a:avLst/>
            </a:prstGeom>
            <a:noFill/>
          </p:spPr>
          <p:txBody>
            <a:bodyPr wrap="square">
              <a:spAutoFit/>
            </a:bodyPr>
            <a:lstStyle/>
            <a:p>
              <a:pPr algn="ctr"/>
              <a:r>
                <a:rPr sz="1100" b="0" i="0" dirty="0">
                  <a:solidFill>
                    <a:srgbClr val="0A1A2E"/>
                  </a:solidFill>
                  <a:latin typeface="+mj-lt"/>
                </a:rPr>
                <a:t>LLM processing user data without adequate consent governance</a:t>
              </a:r>
              <a:r>
                <a:rPr lang="es-CL" sz="1100" b="0" i="0" dirty="0">
                  <a:solidFill>
                    <a:srgbClr val="0A1A2E"/>
                  </a:solidFill>
                  <a:latin typeface="+mj-lt"/>
                </a:rPr>
                <a:t>.</a:t>
              </a:r>
              <a:endParaRPr sz="1100" b="0" i="0" dirty="0">
                <a:solidFill>
                  <a:srgbClr val="0A1A2E"/>
                </a:solidFill>
                <a:latin typeface="+mj-lt"/>
              </a:endParaRPr>
            </a:p>
          </p:txBody>
        </p:sp>
        <p:sp>
          <p:nvSpPr>
            <p:cNvPr id="51" name="TextBox 50"/>
            <p:cNvSpPr txBox="1"/>
            <p:nvPr/>
          </p:nvSpPr>
          <p:spPr>
            <a:xfrm>
              <a:off x="7159752" y="3383279"/>
              <a:ext cx="1920240" cy="430887"/>
            </a:xfrm>
            <a:prstGeom prst="rect">
              <a:avLst/>
            </a:prstGeom>
            <a:noFill/>
          </p:spPr>
          <p:txBody>
            <a:bodyPr wrap="square">
              <a:spAutoFit/>
            </a:bodyPr>
            <a:lstStyle/>
            <a:p>
              <a:pPr algn="ctr"/>
              <a:r>
                <a:rPr sz="1100" b="0" i="0" dirty="0">
                  <a:solidFill>
                    <a:srgbClr val="0A1A2E"/>
                  </a:solidFill>
                  <a:latin typeface="+mj-lt"/>
                </a:rPr>
                <a:t>Regulatory fines, legal action, operational disruption</a:t>
              </a:r>
              <a:r>
                <a:rPr lang="es-CL" sz="1100" b="0" i="0" dirty="0">
                  <a:solidFill>
                    <a:srgbClr val="0A1A2E"/>
                  </a:solidFill>
                  <a:latin typeface="+mj-lt"/>
                </a:rPr>
                <a:t>.</a:t>
              </a:r>
              <a:endParaRPr sz="1100" b="0" i="0" dirty="0">
                <a:solidFill>
                  <a:srgbClr val="0A1A2E"/>
                </a:solidFill>
                <a:latin typeface="+mj-lt"/>
              </a:endParaRPr>
            </a:p>
          </p:txBody>
        </p:sp>
        <p:sp>
          <p:nvSpPr>
            <p:cNvPr id="53" name="TextBox 52"/>
            <p:cNvSpPr txBox="1"/>
            <p:nvPr/>
          </p:nvSpPr>
          <p:spPr>
            <a:xfrm>
              <a:off x="9235440" y="3383279"/>
              <a:ext cx="411480" cy="307777"/>
            </a:xfrm>
            <a:prstGeom prst="rect">
              <a:avLst/>
            </a:prstGeom>
            <a:noFill/>
          </p:spPr>
          <p:txBody>
            <a:bodyPr wrap="square">
              <a:spAutoFit/>
            </a:bodyPr>
            <a:lstStyle/>
            <a:p>
              <a:pPr algn="ctr"/>
              <a:r>
                <a:rPr sz="1400" b="0" i="0">
                  <a:solidFill>
                    <a:srgbClr val="0A1A2E"/>
                  </a:solidFill>
                  <a:latin typeface="+mj-lt"/>
                </a:rPr>
                <a:t>3</a:t>
              </a:r>
            </a:p>
          </p:txBody>
        </p:sp>
        <p:sp>
          <p:nvSpPr>
            <p:cNvPr id="55" name="TextBox 54"/>
            <p:cNvSpPr txBox="1"/>
            <p:nvPr/>
          </p:nvSpPr>
          <p:spPr>
            <a:xfrm>
              <a:off x="9802368" y="3383279"/>
              <a:ext cx="411480" cy="307777"/>
            </a:xfrm>
            <a:prstGeom prst="rect">
              <a:avLst/>
            </a:prstGeom>
            <a:noFill/>
          </p:spPr>
          <p:txBody>
            <a:bodyPr wrap="square">
              <a:spAutoFit/>
            </a:bodyPr>
            <a:lstStyle/>
            <a:p>
              <a:pPr algn="ctr"/>
              <a:r>
                <a:rPr sz="1400" b="0" i="0">
                  <a:solidFill>
                    <a:srgbClr val="0A1A2E"/>
                  </a:solidFill>
                  <a:latin typeface="+mj-lt"/>
                </a:rPr>
                <a:t>5</a:t>
              </a:r>
            </a:p>
          </p:txBody>
        </p:sp>
        <p:sp>
          <p:nvSpPr>
            <p:cNvPr id="57" name="TextBox 56"/>
            <p:cNvSpPr txBox="1"/>
            <p:nvPr/>
          </p:nvSpPr>
          <p:spPr>
            <a:xfrm>
              <a:off x="10369296" y="3383279"/>
              <a:ext cx="502920" cy="307777"/>
            </a:xfrm>
            <a:prstGeom prst="rect">
              <a:avLst/>
            </a:prstGeom>
            <a:noFill/>
          </p:spPr>
          <p:txBody>
            <a:bodyPr wrap="square">
              <a:spAutoFit/>
            </a:bodyPr>
            <a:lstStyle/>
            <a:p>
              <a:pPr algn="ctr"/>
              <a:r>
                <a:rPr sz="1400" b="0" i="0" dirty="0">
                  <a:solidFill>
                    <a:srgbClr val="0A1A2E"/>
                  </a:solidFill>
                  <a:latin typeface="+mj-lt"/>
                </a:rPr>
                <a:t>15</a:t>
              </a:r>
            </a:p>
          </p:txBody>
        </p:sp>
        <p:sp>
          <p:nvSpPr>
            <p:cNvPr id="59" name="TextBox 58"/>
            <p:cNvSpPr txBox="1"/>
            <p:nvPr/>
          </p:nvSpPr>
          <p:spPr>
            <a:xfrm>
              <a:off x="11027664" y="3383279"/>
              <a:ext cx="594360" cy="307777"/>
            </a:xfrm>
            <a:prstGeom prst="rect">
              <a:avLst/>
            </a:prstGeom>
            <a:noFill/>
          </p:spPr>
          <p:txBody>
            <a:bodyPr wrap="square">
              <a:spAutoFit/>
            </a:bodyPr>
            <a:lstStyle/>
            <a:p>
              <a:pPr algn="ctr"/>
              <a:r>
                <a:rPr sz="1400" b="1" i="0" dirty="0">
                  <a:solidFill>
                    <a:srgbClr val="DC2626"/>
                  </a:solidFill>
                  <a:latin typeface="+mj-lt"/>
                </a:rPr>
                <a:t>HIGH</a:t>
              </a:r>
            </a:p>
          </p:txBody>
        </p:sp>
        <p:sp>
          <p:nvSpPr>
            <p:cNvPr id="61" name="TextBox 60"/>
            <p:cNvSpPr txBox="1"/>
            <p:nvPr/>
          </p:nvSpPr>
          <p:spPr>
            <a:xfrm>
              <a:off x="320040" y="4754880"/>
              <a:ext cx="822960" cy="307777"/>
            </a:xfrm>
            <a:prstGeom prst="rect">
              <a:avLst/>
            </a:prstGeom>
            <a:noFill/>
          </p:spPr>
          <p:txBody>
            <a:bodyPr wrap="square">
              <a:spAutoFit/>
            </a:bodyPr>
            <a:lstStyle/>
            <a:p>
              <a:pPr algn="ctr"/>
              <a:r>
                <a:rPr sz="1400" b="1" i="0">
                  <a:solidFill>
                    <a:srgbClr val="0A1A2E"/>
                  </a:solidFill>
                  <a:latin typeface="+mj-lt"/>
                </a:rPr>
                <a:t>RISK 3</a:t>
              </a:r>
            </a:p>
          </p:txBody>
        </p:sp>
        <p:sp>
          <p:nvSpPr>
            <p:cNvPr id="63" name="TextBox 62"/>
            <p:cNvSpPr txBox="1"/>
            <p:nvPr/>
          </p:nvSpPr>
          <p:spPr>
            <a:xfrm>
              <a:off x="1298448" y="4754880"/>
              <a:ext cx="1005839" cy="307777"/>
            </a:xfrm>
            <a:prstGeom prst="rect">
              <a:avLst/>
            </a:prstGeom>
            <a:noFill/>
          </p:spPr>
          <p:txBody>
            <a:bodyPr wrap="square">
              <a:spAutoFit/>
            </a:bodyPr>
            <a:lstStyle/>
            <a:p>
              <a:pPr algn="ctr"/>
              <a:r>
                <a:rPr sz="1400" b="0" i="0">
                  <a:solidFill>
                    <a:srgbClr val="0A1A2E"/>
                  </a:solidFill>
                  <a:latin typeface="+mj-lt"/>
                </a:rPr>
                <a:t>Positive</a:t>
              </a:r>
            </a:p>
          </p:txBody>
        </p:sp>
        <p:sp>
          <p:nvSpPr>
            <p:cNvPr id="65" name="TextBox 64"/>
            <p:cNvSpPr txBox="1"/>
            <p:nvPr/>
          </p:nvSpPr>
          <p:spPr>
            <a:xfrm>
              <a:off x="2459736" y="4754880"/>
              <a:ext cx="2468879" cy="261610"/>
            </a:xfrm>
            <a:prstGeom prst="rect">
              <a:avLst/>
            </a:prstGeom>
            <a:noFill/>
          </p:spPr>
          <p:txBody>
            <a:bodyPr wrap="square">
              <a:spAutoFit/>
            </a:bodyPr>
            <a:lstStyle/>
            <a:p>
              <a:pPr algn="ctr"/>
              <a:r>
                <a:rPr sz="1100" b="0" i="0" dirty="0">
                  <a:solidFill>
                    <a:srgbClr val="0A1A2E"/>
                  </a:solidFill>
                  <a:latin typeface="+mj-lt"/>
                </a:rPr>
                <a:t>AI-First Merchant Acquisition Window</a:t>
              </a:r>
              <a:r>
                <a:rPr lang="es-CL" sz="1100" b="0" i="0" dirty="0">
                  <a:solidFill>
                    <a:srgbClr val="0A1A2E"/>
                  </a:solidFill>
                  <a:latin typeface="+mj-lt"/>
                </a:rPr>
                <a:t>.</a:t>
              </a:r>
              <a:endParaRPr sz="1100" b="0" i="0" dirty="0">
                <a:solidFill>
                  <a:srgbClr val="0A1A2E"/>
                </a:solidFill>
                <a:latin typeface="+mj-lt"/>
              </a:endParaRPr>
            </a:p>
          </p:txBody>
        </p:sp>
        <p:sp>
          <p:nvSpPr>
            <p:cNvPr id="67" name="TextBox 66"/>
            <p:cNvSpPr txBox="1"/>
            <p:nvPr/>
          </p:nvSpPr>
          <p:spPr>
            <a:xfrm>
              <a:off x="5084064" y="4754880"/>
              <a:ext cx="1920240" cy="600164"/>
            </a:xfrm>
            <a:prstGeom prst="rect">
              <a:avLst/>
            </a:prstGeom>
            <a:noFill/>
          </p:spPr>
          <p:txBody>
            <a:bodyPr wrap="square">
              <a:spAutoFit/>
            </a:bodyPr>
            <a:lstStyle/>
            <a:p>
              <a:pPr algn="ctr"/>
              <a:r>
                <a:rPr sz="1100" b="0" i="0" dirty="0">
                  <a:solidFill>
                    <a:srgbClr val="0A1A2E"/>
                  </a:solidFill>
                  <a:latin typeface="+mj-lt"/>
                </a:rPr>
                <a:t>Competitive parity not yet reached by Amazon/Google in this segment</a:t>
              </a:r>
              <a:r>
                <a:rPr lang="es-CL" sz="1100" b="0" i="0" dirty="0">
                  <a:solidFill>
                    <a:srgbClr val="0A1A2E"/>
                  </a:solidFill>
                  <a:latin typeface="+mj-lt"/>
                </a:rPr>
                <a:t>.</a:t>
              </a:r>
              <a:endParaRPr sz="1100" b="0" i="0" dirty="0">
                <a:solidFill>
                  <a:srgbClr val="0A1A2E"/>
                </a:solidFill>
                <a:latin typeface="+mj-lt"/>
              </a:endParaRPr>
            </a:p>
          </p:txBody>
        </p:sp>
        <p:sp>
          <p:nvSpPr>
            <p:cNvPr id="69" name="TextBox 68"/>
            <p:cNvSpPr txBox="1"/>
            <p:nvPr/>
          </p:nvSpPr>
          <p:spPr>
            <a:xfrm>
              <a:off x="7159752" y="4754880"/>
              <a:ext cx="1920240" cy="600164"/>
            </a:xfrm>
            <a:prstGeom prst="rect">
              <a:avLst/>
            </a:prstGeom>
            <a:noFill/>
          </p:spPr>
          <p:txBody>
            <a:bodyPr wrap="square">
              <a:spAutoFit/>
            </a:bodyPr>
            <a:lstStyle/>
            <a:p>
              <a:pPr algn="ctr"/>
              <a:r>
                <a:rPr sz="1100" b="0" i="0" dirty="0">
                  <a:solidFill>
                    <a:srgbClr val="0A1A2E"/>
                  </a:solidFill>
                  <a:latin typeface="+mj-lt"/>
                </a:rPr>
                <a:t>Opportunity to grow ARR by capturing dissatisfied merchants</a:t>
              </a:r>
              <a:r>
                <a:rPr lang="es-CL" sz="1100" b="0" i="0" dirty="0">
                  <a:solidFill>
                    <a:srgbClr val="0A1A2E"/>
                  </a:solidFill>
                  <a:latin typeface="+mj-lt"/>
                </a:rPr>
                <a:t>.</a:t>
              </a:r>
              <a:endParaRPr sz="1100" b="0" i="0" dirty="0">
                <a:solidFill>
                  <a:srgbClr val="0A1A2E"/>
                </a:solidFill>
                <a:latin typeface="+mj-lt"/>
              </a:endParaRPr>
            </a:p>
          </p:txBody>
        </p:sp>
        <p:sp>
          <p:nvSpPr>
            <p:cNvPr id="71" name="TextBox 70"/>
            <p:cNvSpPr txBox="1"/>
            <p:nvPr/>
          </p:nvSpPr>
          <p:spPr>
            <a:xfrm>
              <a:off x="9235440" y="4754880"/>
              <a:ext cx="411480" cy="307777"/>
            </a:xfrm>
            <a:prstGeom prst="rect">
              <a:avLst/>
            </a:prstGeom>
            <a:noFill/>
          </p:spPr>
          <p:txBody>
            <a:bodyPr wrap="square">
              <a:spAutoFit/>
            </a:bodyPr>
            <a:lstStyle/>
            <a:p>
              <a:pPr algn="ctr"/>
              <a:r>
                <a:rPr lang="es-CL" sz="1400" dirty="0">
                  <a:solidFill>
                    <a:srgbClr val="0A1A2E"/>
                  </a:solidFill>
                  <a:latin typeface="+mj-lt"/>
                </a:rPr>
                <a:t>3</a:t>
              </a:r>
              <a:endParaRPr sz="1400" b="0" i="0" dirty="0">
                <a:solidFill>
                  <a:srgbClr val="0A1A2E"/>
                </a:solidFill>
                <a:latin typeface="+mj-lt"/>
              </a:endParaRPr>
            </a:p>
          </p:txBody>
        </p:sp>
        <p:sp>
          <p:nvSpPr>
            <p:cNvPr id="73" name="TextBox 72"/>
            <p:cNvSpPr txBox="1"/>
            <p:nvPr/>
          </p:nvSpPr>
          <p:spPr>
            <a:xfrm>
              <a:off x="9802368" y="4754880"/>
              <a:ext cx="411480" cy="307777"/>
            </a:xfrm>
            <a:prstGeom prst="rect">
              <a:avLst/>
            </a:prstGeom>
            <a:noFill/>
          </p:spPr>
          <p:txBody>
            <a:bodyPr wrap="square">
              <a:spAutoFit/>
            </a:bodyPr>
            <a:lstStyle/>
            <a:p>
              <a:pPr algn="ctr"/>
              <a:r>
                <a:rPr sz="1400" b="0" i="0">
                  <a:solidFill>
                    <a:srgbClr val="0A1A2E"/>
                  </a:solidFill>
                  <a:latin typeface="+mj-lt"/>
                </a:rPr>
                <a:t>4</a:t>
              </a:r>
            </a:p>
          </p:txBody>
        </p:sp>
        <p:sp>
          <p:nvSpPr>
            <p:cNvPr id="75" name="TextBox 74"/>
            <p:cNvSpPr txBox="1"/>
            <p:nvPr/>
          </p:nvSpPr>
          <p:spPr>
            <a:xfrm>
              <a:off x="10369296" y="4754880"/>
              <a:ext cx="502920" cy="307777"/>
            </a:xfrm>
            <a:prstGeom prst="rect">
              <a:avLst/>
            </a:prstGeom>
            <a:noFill/>
          </p:spPr>
          <p:txBody>
            <a:bodyPr wrap="square">
              <a:spAutoFit/>
            </a:bodyPr>
            <a:lstStyle/>
            <a:p>
              <a:pPr algn="ctr"/>
              <a:r>
                <a:rPr lang="es-CL" sz="1400" dirty="0">
                  <a:solidFill>
                    <a:srgbClr val="0A1A2E"/>
                  </a:solidFill>
                  <a:latin typeface="+mj-lt"/>
                </a:rPr>
                <a:t>12</a:t>
              </a:r>
              <a:endParaRPr sz="1400" dirty="0">
                <a:solidFill>
                  <a:srgbClr val="0A1A2E"/>
                </a:solidFill>
                <a:latin typeface="+mj-lt"/>
              </a:endParaRPr>
            </a:p>
          </p:txBody>
        </p:sp>
        <p:sp>
          <p:nvSpPr>
            <p:cNvPr id="77" name="TextBox 76"/>
            <p:cNvSpPr txBox="1"/>
            <p:nvPr/>
          </p:nvSpPr>
          <p:spPr>
            <a:xfrm>
              <a:off x="11027664" y="4754880"/>
              <a:ext cx="594360" cy="307777"/>
            </a:xfrm>
            <a:prstGeom prst="rect">
              <a:avLst/>
            </a:prstGeom>
            <a:noFill/>
          </p:spPr>
          <p:txBody>
            <a:bodyPr wrap="square">
              <a:spAutoFit/>
            </a:bodyPr>
            <a:lstStyle/>
            <a:p>
              <a:pPr algn="ctr"/>
              <a:r>
                <a:rPr sz="1400" b="1" dirty="0">
                  <a:solidFill>
                    <a:srgbClr val="DC2626"/>
                  </a:solidFill>
                  <a:latin typeface="+mj-lt"/>
                </a:rPr>
                <a:t>HIGH</a:t>
              </a:r>
            </a:p>
          </p:txBody>
        </p:sp>
      </p:grpSp>
      <p:sp>
        <p:nvSpPr>
          <p:cNvPr id="78" name="TextBox 77"/>
          <p:cNvSpPr txBox="1"/>
          <p:nvPr/>
        </p:nvSpPr>
        <p:spPr>
          <a:xfrm>
            <a:off x="274320" y="6263640"/>
            <a:ext cx="9144000" cy="274320"/>
          </a:xfrm>
          <a:prstGeom prst="rect">
            <a:avLst/>
          </a:prstGeom>
          <a:noFill/>
        </p:spPr>
        <p:txBody>
          <a:bodyPr wrap="square">
            <a:spAutoFit/>
          </a:bodyPr>
          <a:lstStyle/>
          <a:p>
            <a:pPr algn="l"/>
            <a:r>
              <a:rPr sz="1000" b="0" i="1" dirty="0">
                <a:solidFill>
                  <a:srgbClr val="64748B"/>
                </a:solidFill>
              </a:rPr>
              <a:t>L = Likelihood (1–9) · I = Impact (1–5) · Score = L × I</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0"/>
            <a:ext cx="12188952" cy="1280160"/>
          </a:xfrm>
          <a:prstGeom prst="rect">
            <a:avLst/>
          </a:prstGeom>
          <a:solidFill>
            <a:schemeClr val="accent5">
              <a:lumMod val="5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182880"/>
            <a:ext cx="10972800" cy="553998"/>
          </a:xfrm>
          <a:prstGeom prst="rect">
            <a:avLst/>
          </a:prstGeom>
          <a:noFill/>
        </p:spPr>
        <p:txBody>
          <a:bodyPr wrap="square">
            <a:spAutoFit/>
          </a:bodyPr>
          <a:lstStyle/>
          <a:p>
            <a:r>
              <a:rPr lang="es-CL" sz="3000" b="1" dirty="0">
                <a:solidFill>
                  <a:srgbClr val="FFFFFF"/>
                </a:solidFill>
              </a:rPr>
              <a:t>Risk </a:t>
            </a:r>
            <a:r>
              <a:rPr lang="es-CL" sz="3000" b="1" dirty="0" err="1">
                <a:solidFill>
                  <a:srgbClr val="FFFFFF"/>
                </a:solidFill>
              </a:rPr>
              <a:t>Heat</a:t>
            </a:r>
            <a:r>
              <a:rPr lang="es-CL" sz="3000" b="1" dirty="0">
                <a:solidFill>
                  <a:srgbClr val="FFFFFF"/>
                </a:solidFill>
              </a:rPr>
              <a:t> </a:t>
            </a:r>
            <a:r>
              <a:rPr lang="es-CL" sz="3000" b="1" dirty="0" err="1">
                <a:solidFill>
                  <a:srgbClr val="FFFFFF"/>
                </a:solidFill>
              </a:rPr>
              <a:t>Map</a:t>
            </a:r>
            <a:r>
              <a:rPr lang="es-CL" sz="3000" b="1" dirty="0">
                <a:solidFill>
                  <a:srgbClr val="FFFFFF"/>
                </a:solidFill>
              </a:rPr>
              <a:t>: 24-Risk </a:t>
            </a:r>
            <a:r>
              <a:rPr lang="es-CL" sz="3000" b="1" dirty="0" err="1">
                <a:solidFill>
                  <a:srgbClr val="FFFFFF"/>
                </a:solidFill>
              </a:rPr>
              <a:t>Assessment</a:t>
            </a:r>
            <a:r>
              <a:rPr lang="es-CL" sz="3000" b="1" dirty="0">
                <a:solidFill>
                  <a:srgbClr val="FFFFFF"/>
                </a:solidFill>
              </a:rPr>
              <a:t> </a:t>
            </a:r>
            <a:r>
              <a:rPr lang="es-CL" sz="3000" b="1" dirty="0" err="1">
                <a:solidFill>
                  <a:srgbClr val="FFFFFF"/>
                </a:solidFill>
              </a:rPr>
              <a:t>by</a:t>
            </a:r>
            <a:r>
              <a:rPr lang="es-CL" sz="3000" b="1" dirty="0">
                <a:solidFill>
                  <a:srgbClr val="FFFFFF"/>
                </a:solidFill>
              </a:rPr>
              <a:t> </a:t>
            </a:r>
            <a:r>
              <a:rPr lang="es-CL" sz="3000" b="1" dirty="0" err="1">
                <a:solidFill>
                  <a:srgbClr val="FFFFFF"/>
                </a:solidFill>
              </a:rPr>
              <a:t>Likelihood</a:t>
            </a:r>
            <a:r>
              <a:rPr lang="es-CL" sz="3000" b="1" dirty="0">
                <a:solidFill>
                  <a:srgbClr val="FFFFFF"/>
                </a:solidFill>
              </a:rPr>
              <a:t> and </a:t>
            </a:r>
            <a:r>
              <a:rPr lang="es-CL" sz="3000" b="1" dirty="0" err="1">
                <a:solidFill>
                  <a:srgbClr val="FFFFFF"/>
                </a:solidFill>
              </a:rPr>
              <a:t>Impact</a:t>
            </a:r>
            <a:endParaRPr sz="3000" b="1" dirty="0">
              <a:solidFill>
                <a:srgbClr val="FFFFFF"/>
              </a:solidFill>
            </a:endParaRPr>
          </a:p>
        </p:txBody>
      </p:sp>
      <p:sp>
        <p:nvSpPr>
          <p:cNvPr id="5" name="TextBox 4"/>
          <p:cNvSpPr txBox="1"/>
          <p:nvPr/>
        </p:nvSpPr>
        <p:spPr>
          <a:xfrm>
            <a:off x="365760" y="914400"/>
            <a:ext cx="10972800" cy="292388"/>
          </a:xfrm>
          <a:prstGeom prst="rect">
            <a:avLst/>
          </a:prstGeom>
          <a:noFill/>
        </p:spPr>
        <p:txBody>
          <a:bodyPr wrap="square">
            <a:spAutoFit/>
          </a:bodyPr>
          <a:lstStyle/>
          <a:p>
            <a:pPr algn="l"/>
            <a:r>
              <a:rPr sz="1300" b="0" i="0" dirty="0">
                <a:solidFill>
                  <a:srgbClr val="E8F5EE"/>
                </a:solidFill>
              </a:rPr>
              <a:t>Part 2 · Terry Lucas Boye</a:t>
            </a:r>
          </a:p>
        </p:txBody>
      </p:sp>
      <p:pic>
        <p:nvPicPr>
          <p:cNvPr id="10" name="Picture 9">
            <a:extLst>
              <a:ext uri="{FF2B5EF4-FFF2-40B4-BE49-F238E27FC236}">
                <a16:creationId xmlns:a16="http://schemas.microsoft.com/office/drawing/2014/main" id="{F03796DB-B592-DF73-E54E-543C5F5A6F2E}"/>
              </a:ext>
            </a:extLst>
          </p:cNvPr>
          <p:cNvPicPr>
            <a:picLocks noChangeAspect="1"/>
          </p:cNvPicPr>
          <p:nvPr/>
        </p:nvPicPr>
        <p:blipFill>
          <a:blip r:embed="rId3"/>
          <a:stretch>
            <a:fillRect/>
          </a:stretch>
        </p:blipFill>
        <p:spPr>
          <a:xfrm>
            <a:off x="573085" y="1384310"/>
            <a:ext cx="5727131" cy="5256258"/>
          </a:xfrm>
          <a:prstGeom prst="rect">
            <a:avLst/>
          </a:prstGeom>
        </p:spPr>
      </p:pic>
      <p:pic>
        <p:nvPicPr>
          <p:cNvPr id="18" name="Picture 17">
            <a:extLst>
              <a:ext uri="{FF2B5EF4-FFF2-40B4-BE49-F238E27FC236}">
                <a16:creationId xmlns:a16="http://schemas.microsoft.com/office/drawing/2014/main" id="{44870375-B182-1A14-DC65-4C462511BA79}"/>
              </a:ext>
            </a:extLst>
          </p:cNvPr>
          <p:cNvPicPr>
            <a:picLocks noChangeAspect="1"/>
          </p:cNvPicPr>
          <p:nvPr/>
        </p:nvPicPr>
        <p:blipFill>
          <a:blip r:embed="rId4"/>
          <a:stretch>
            <a:fillRect/>
          </a:stretch>
        </p:blipFill>
        <p:spPr>
          <a:xfrm>
            <a:off x="6591483" y="1495049"/>
            <a:ext cx="4820229" cy="5112363"/>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280160"/>
          </a:xfrm>
          <a:prstGeom prst="rect">
            <a:avLst/>
          </a:prstGeom>
          <a:solidFill>
            <a:schemeClr val="accent5">
              <a:lumMod val="5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182880"/>
            <a:ext cx="10972800" cy="553998"/>
          </a:xfrm>
          <a:prstGeom prst="rect">
            <a:avLst/>
          </a:prstGeom>
          <a:noFill/>
        </p:spPr>
        <p:txBody>
          <a:bodyPr wrap="square">
            <a:spAutoFit/>
          </a:bodyPr>
          <a:lstStyle/>
          <a:p>
            <a:r>
              <a:rPr lang="es-CL" sz="3000" b="1" dirty="0" err="1">
                <a:solidFill>
                  <a:srgbClr val="FFFFFF"/>
                </a:solidFill>
              </a:rPr>
              <a:t>Quantified</a:t>
            </a:r>
            <a:r>
              <a:rPr lang="es-CL" sz="3000" b="1" dirty="0">
                <a:solidFill>
                  <a:srgbClr val="FFFFFF"/>
                </a:solidFill>
              </a:rPr>
              <a:t> </a:t>
            </a:r>
            <a:r>
              <a:rPr lang="es-CL" sz="3000" b="1" dirty="0" err="1">
                <a:solidFill>
                  <a:srgbClr val="FFFFFF"/>
                </a:solidFill>
              </a:rPr>
              <a:t>Financial</a:t>
            </a:r>
            <a:r>
              <a:rPr lang="es-CL" sz="3000" b="1" dirty="0">
                <a:solidFill>
                  <a:srgbClr val="FFFFFF"/>
                </a:solidFill>
              </a:rPr>
              <a:t> </a:t>
            </a:r>
            <a:r>
              <a:rPr lang="es-CL" sz="3000" b="1" dirty="0" err="1">
                <a:solidFill>
                  <a:srgbClr val="FFFFFF"/>
                </a:solidFill>
              </a:rPr>
              <a:t>Exposure</a:t>
            </a:r>
            <a:r>
              <a:rPr lang="es-CL" sz="3000" b="1" dirty="0">
                <a:solidFill>
                  <a:srgbClr val="FFFFFF"/>
                </a:solidFill>
              </a:rPr>
              <a:t>: Merchant Churn &amp; </a:t>
            </a:r>
            <a:r>
              <a:rPr lang="es-CL" sz="3000" b="1" dirty="0" err="1">
                <a:solidFill>
                  <a:srgbClr val="FFFFFF"/>
                </a:solidFill>
              </a:rPr>
              <a:t>Regulatory</a:t>
            </a:r>
            <a:r>
              <a:rPr lang="es-CL" sz="3000" b="1" dirty="0">
                <a:solidFill>
                  <a:srgbClr val="FFFFFF"/>
                </a:solidFill>
              </a:rPr>
              <a:t> Risk</a:t>
            </a:r>
            <a:endParaRPr sz="3000" b="1" dirty="0">
              <a:solidFill>
                <a:srgbClr val="FFFFFF"/>
              </a:solidFill>
            </a:endParaRPr>
          </a:p>
        </p:txBody>
      </p:sp>
      <p:sp>
        <p:nvSpPr>
          <p:cNvPr id="5" name="TextBox 4"/>
          <p:cNvSpPr txBox="1"/>
          <p:nvPr/>
        </p:nvSpPr>
        <p:spPr>
          <a:xfrm>
            <a:off x="365760" y="914400"/>
            <a:ext cx="10972800" cy="292388"/>
          </a:xfrm>
          <a:prstGeom prst="rect">
            <a:avLst/>
          </a:prstGeom>
          <a:noFill/>
        </p:spPr>
        <p:txBody>
          <a:bodyPr wrap="square">
            <a:spAutoFit/>
          </a:bodyPr>
          <a:lstStyle/>
          <a:p>
            <a:pPr algn="l"/>
            <a:r>
              <a:rPr sz="1300" b="0" i="0" dirty="0">
                <a:solidFill>
                  <a:srgbClr val="E8F5EE"/>
                </a:solidFill>
              </a:rPr>
              <a:t>Part 2 · Terry Lucas Boye</a:t>
            </a:r>
          </a:p>
        </p:txBody>
      </p:sp>
      <p:sp>
        <p:nvSpPr>
          <p:cNvPr id="6" name="Rectangle 5"/>
          <p:cNvSpPr/>
          <p:nvPr/>
        </p:nvSpPr>
        <p:spPr>
          <a:xfrm>
            <a:off x="274320" y="1508760"/>
            <a:ext cx="5577840" cy="4983480"/>
          </a:xfrm>
          <a:prstGeom prst="rect">
            <a:avLst/>
          </a:prstGeom>
          <a:solidFill>
            <a:srgbClr val="FFFFFF"/>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274320" y="1508760"/>
            <a:ext cx="5577840" cy="457200"/>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1554480"/>
            <a:ext cx="5303520" cy="347472"/>
          </a:xfrm>
          <a:prstGeom prst="rect">
            <a:avLst/>
          </a:prstGeom>
          <a:noFill/>
        </p:spPr>
        <p:txBody>
          <a:bodyPr wrap="square">
            <a:spAutoFit/>
          </a:bodyPr>
          <a:lstStyle/>
          <a:p>
            <a:pPr algn="l"/>
            <a:r>
              <a:rPr sz="1400" b="1" i="0">
                <a:solidFill>
                  <a:srgbClr val="FFFFFF"/>
                </a:solidFill>
              </a:rPr>
              <a:t>RISK 1 — Merchant Churn</a:t>
            </a:r>
          </a:p>
        </p:txBody>
      </p:sp>
      <p:sp>
        <p:nvSpPr>
          <p:cNvPr id="9" name="Rectangle 8"/>
          <p:cNvSpPr/>
          <p:nvPr/>
        </p:nvSpPr>
        <p:spPr>
          <a:xfrm>
            <a:off x="457200" y="2103120"/>
            <a:ext cx="1645920" cy="1371600"/>
          </a:xfrm>
          <a:prstGeom prst="rect">
            <a:avLst/>
          </a:prstGeom>
          <a:solidFill>
            <a:srgbClr val="E8F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02920" y="2176272"/>
            <a:ext cx="1554480" cy="548640"/>
          </a:xfrm>
          <a:prstGeom prst="rect">
            <a:avLst/>
          </a:prstGeom>
          <a:noFill/>
        </p:spPr>
        <p:txBody>
          <a:bodyPr wrap="square">
            <a:spAutoFit/>
          </a:bodyPr>
          <a:lstStyle/>
          <a:p>
            <a:pPr algn="ctr"/>
            <a:r>
              <a:rPr sz="2600" b="1" i="0">
                <a:solidFill>
                  <a:srgbClr val="DC2626"/>
                </a:solidFill>
              </a:rPr>
              <a:t>$133.8M</a:t>
            </a:r>
          </a:p>
        </p:txBody>
      </p:sp>
      <p:sp>
        <p:nvSpPr>
          <p:cNvPr id="11" name="TextBox 10"/>
          <p:cNvSpPr txBox="1"/>
          <p:nvPr/>
        </p:nvSpPr>
        <p:spPr>
          <a:xfrm>
            <a:off x="502920" y="2697480"/>
            <a:ext cx="1554480" cy="320040"/>
          </a:xfrm>
          <a:prstGeom prst="rect">
            <a:avLst/>
          </a:prstGeom>
          <a:noFill/>
        </p:spPr>
        <p:txBody>
          <a:bodyPr wrap="square">
            <a:spAutoFit/>
          </a:bodyPr>
          <a:lstStyle/>
          <a:p>
            <a:pPr algn="ctr"/>
            <a:r>
              <a:rPr sz="1100" b="1" i="0">
                <a:solidFill>
                  <a:srgbClr val="0A1A2E"/>
                </a:solidFill>
              </a:rPr>
              <a:t>P50 ARR Loss</a:t>
            </a:r>
          </a:p>
        </p:txBody>
      </p:sp>
      <p:sp>
        <p:nvSpPr>
          <p:cNvPr id="12" name="TextBox 11"/>
          <p:cNvSpPr txBox="1"/>
          <p:nvPr/>
        </p:nvSpPr>
        <p:spPr>
          <a:xfrm>
            <a:off x="502920" y="3017520"/>
            <a:ext cx="1554480" cy="365760"/>
          </a:xfrm>
          <a:prstGeom prst="rect">
            <a:avLst/>
          </a:prstGeom>
          <a:noFill/>
        </p:spPr>
        <p:txBody>
          <a:bodyPr wrap="square">
            <a:spAutoFit/>
          </a:bodyPr>
          <a:lstStyle/>
          <a:p>
            <a:pPr algn="ctr"/>
            <a:r>
              <a:rPr sz="1000" b="0" i="1">
                <a:solidFill>
                  <a:srgbClr val="64748B"/>
                </a:solidFill>
              </a:rPr>
              <a:t>Median outcome</a:t>
            </a:r>
          </a:p>
        </p:txBody>
      </p:sp>
      <p:sp>
        <p:nvSpPr>
          <p:cNvPr id="13" name="Rectangle 12"/>
          <p:cNvSpPr/>
          <p:nvPr/>
        </p:nvSpPr>
        <p:spPr>
          <a:xfrm>
            <a:off x="2286000" y="2103120"/>
            <a:ext cx="1645920" cy="1371600"/>
          </a:xfrm>
          <a:prstGeom prst="rect">
            <a:avLst/>
          </a:prstGeom>
          <a:solidFill>
            <a:srgbClr val="E8F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2331720" y="2176272"/>
            <a:ext cx="1554480" cy="548640"/>
          </a:xfrm>
          <a:prstGeom prst="rect">
            <a:avLst/>
          </a:prstGeom>
          <a:noFill/>
        </p:spPr>
        <p:txBody>
          <a:bodyPr wrap="square">
            <a:spAutoFit/>
          </a:bodyPr>
          <a:lstStyle/>
          <a:p>
            <a:pPr algn="ctr"/>
            <a:r>
              <a:rPr sz="2600" b="1" i="0">
                <a:solidFill>
                  <a:srgbClr val="DC2626"/>
                </a:solidFill>
              </a:rPr>
              <a:t>$380M</a:t>
            </a:r>
          </a:p>
        </p:txBody>
      </p:sp>
      <p:sp>
        <p:nvSpPr>
          <p:cNvPr id="15" name="TextBox 14"/>
          <p:cNvSpPr txBox="1"/>
          <p:nvPr/>
        </p:nvSpPr>
        <p:spPr>
          <a:xfrm>
            <a:off x="2331720" y="2697480"/>
            <a:ext cx="1554480" cy="320040"/>
          </a:xfrm>
          <a:prstGeom prst="rect">
            <a:avLst/>
          </a:prstGeom>
          <a:noFill/>
        </p:spPr>
        <p:txBody>
          <a:bodyPr wrap="square">
            <a:spAutoFit/>
          </a:bodyPr>
          <a:lstStyle/>
          <a:p>
            <a:pPr algn="ctr"/>
            <a:r>
              <a:rPr sz="1100" b="1" i="0">
                <a:solidFill>
                  <a:srgbClr val="0A1A2E"/>
                </a:solidFill>
              </a:rPr>
              <a:t>P90 ARR Loss</a:t>
            </a:r>
          </a:p>
        </p:txBody>
      </p:sp>
      <p:sp>
        <p:nvSpPr>
          <p:cNvPr id="16" name="TextBox 15"/>
          <p:cNvSpPr txBox="1"/>
          <p:nvPr/>
        </p:nvSpPr>
        <p:spPr>
          <a:xfrm>
            <a:off x="2331720" y="3017520"/>
            <a:ext cx="1554480" cy="365760"/>
          </a:xfrm>
          <a:prstGeom prst="rect">
            <a:avLst/>
          </a:prstGeom>
          <a:noFill/>
        </p:spPr>
        <p:txBody>
          <a:bodyPr wrap="square">
            <a:spAutoFit/>
          </a:bodyPr>
          <a:lstStyle/>
          <a:p>
            <a:pPr algn="ctr"/>
            <a:r>
              <a:rPr sz="1000" b="0" i="1">
                <a:solidFill>
                  <a:srgbClr val="64748B"/>
                </a:solidFill>
              </a:rPr>
              <a:t>Pessimistic scenario</a:t>
            </a:r>
          </a:p>
        </p:txBody>
      </p:sp>
      <p:sp>
        <p:nvSpPr>
          <p:cNvPr id="17" name="Rectangle 16"/>
          <p:cNvSpPr/>
          <p:nvPr/>
        </p:nvSpPr>
        <p:spPr>
          <a:xfrm>
            <a:off x="4114800" y="2103120"/>
            <a:ext cx="1645920" cy="1371600"/>
          </a:xfrm>
          <a:prstGeom prst="rect">
            <a:avLst/>
          </a:prstGeom>
          <a:solidFill>
            <a:srgbClr val="E8F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160520" y="2176272"/>
            <a:ext cx="1554480" cy="548640"/>
          </a:xfrm>
          <a:prstGeom prst="rect">
            <a:avLst/>
          </a:prstGeom>
          <a:noFill/>
        </p:spPr>
        <p:txBody>
          <a:bodyPr wrap="square">
            <a:spAutoFit/>
          </a:bodyPr>
          <a:lstStyle/>
          <a:p>
            <a:pPr algn="ctr"/>
            <a:r>
              <a:rPr sz="2600" b="1" i="0">
                <a:solidFill>
                  <a:srgbClr val="DC2626"/>
                </a:solidFill>
              </a:rPr>
              <a:t>100%</a:t>
            </a:r>
          </a:p>
        </p:txBody>
      </p:sp>
      <p:sp>
        <p:nvSpPr>
          <p:cNvPr id="19" name="TextBox 18"/>
          <p:cNvSpPr txBox="1"/>
          <p:nvPr/>
        </p:nvSpPr>
        <p:spPr>
          <a:xfrm>
            <a:off x="4160520" y="2697480"/>
            <a:ext cx="1554480" cy="320040"/>
          </a:xfrm>
          <a:prstGeom prst="rect">
            <a:avLst/>
          </a:prstGeom>
          <a:noFill/>
        </p:spPr>
        <p:txBody>
          <a:bodyPr wrap="square">
            <a:spAutoFit/>
          </a:bodyPr>
          <a:lstStyle/>
          <a:p>
            <a:pPr algn="ctr"/>
            <a:r>
              <a:rPr sz="1100" b="1" i="0">
                <a:solidFill>
                  <a:srgbClr val="0A1A2E"/>
                </a:solidFill>
              </a:rPr>
              <a:t>L1 Breach Prob.</a:t>
            </a:r>
          </a:p>
        </p:txBody>
      </p:sp>
      <p:sp>
        <p:nvSpPr>
          <p:cNvPr id="20" name="TextBox 19"/>
          <p:cNvSpPr txBox="1"/>
          <p:nvPr/>
        </p:nvSpPr>
        <p:spPr>
          <a:xfrm>
            <a:off x="4160520" y="3017520"/>
            <a:ext cx="1554480" cy="365760"/>
          </a:xfrm>
          <a:prstGeom prst="rect">
            <a:avLst/>
          </a:prstGeom>
          <a:noFill/>
        </p:spPr>
        <p:txBody>
          <a:bodyPr wrap="square">
            <a:spAutoFit/>
          </a:bodyPr>
          <a:lstStyle/>
          <a:p>
            <a:pPr algn="ctr"/>
            <a:r>
              <a:rPr sz="1000" b="0" i="1">
                <a:solidFill>
                  <a:srgbClr val="64748B"/>
                </a:solidFill>
              </a:rPr>
              <a:t>Most probable near-term threat</a:t>
            </a:r>
          </a:p>
        </p:txBody>
      </p:sp>
      <p:sp>
        <p:nvSpPr>
          <p:cNvPr id="21" name="TextBox 20"/>
          <p:cNvSpPr txBox="1"/>
          <p:nvPr/>
        </p:nvSpPr>
        <p:spPr>
          <a:xfrm>
            <a:off x="457200" y="3611880"/>
            <a:ext cx="5212080" cy="830997"/>
          </a:xfrm>
          <a:prstGeom prst="rect">
            <a:avLst/>
          </a:prstGeom>
          <a:noFill/>
        </p:spPr>
        <p:txBody>
          <a:bodyPr wrap="square">
            <a:spAutoFit/>
          </a:bodyPr>
          <a:lstStyle/>
          <a:p>
            <a:pPr algn="just"/>
            <a:r>
              <a:rPr sz="1200" b="0" i="0" dirty="0">
                <a:solidFill>
                  <a:srgbClr val="0A1A2E"/>
                </a:solidFill>
              </a:rPr>
              <a:t>Interpretation: With 100% probability of breaching the L1 threshold, merchant churn monitoring is the highest-frequency KRI review item. The Monte Carlo confirms this is not a tail risk — it is a near-certain event that must be actively managed.</a:t>
            </a:r>
          </a:p>
        </p:txBody>
      </p:sp>
      <p:sp>
        <p:nvSpPr>
          <p:cNvPr id="22" name="TextBox 21"/>
          <p:cNvSpPr txBox="1"/>
          <p:nvPr/>
        </p:nvSpPr>
        <p:spPr>
          <a:xfrm>
            <a:off x="457200" y="5029200"/>
            <a:ext cx="5212080" cy="261610"/>
          </a:xfrm>
          <a:prstGeom prst="rect">
            <a:avLst/>
          </a:prstGeom>
          <a:noFill/>
        </p:spPr>
        <p:txBody>
          <a:bodyPr wrap="square">
            <a:spAutoFit/>
          </a:bodyPr>
          <a:lstStyle/>
          <a:p>
            <a:pPr algn="l"/>
            <a:r>
              <a:rPr sz="1100" b="1" i="1" dirty="0">
                <a:solidFill>
                  <a:srgbClr val="1A4A3A"/>
                </a:solidFill>
              </a:rPr>
              <a:t>KRI: Monthly active merchant count · Threshold L1: &gt;2% monthly decline</a:t>
            </a:r>
            <a:r>
              <a:rPr lang="es-CL" sz="1100" b="1" i="1" dirty="0">
                <a:solidFill>
                  <a:srgbClr val="1A4A3A"/>
                </a:solidFill>
              </a:rPr>
              <a:t>.</a:t>
            </a:r>
            <a:endParaRPr sz="1100" b="1" i="1" dirty="0">
              <a:solidFill>
                <a:srgbClr val="1A4A3A"/>
              </a:solidFill>
            </a:endParaRPr>
          </a:p>
        </p:txBody>
      </p:sp>
      <p:sp>
        <p:nvSpPr>
          <p:cNvPr id="23" name="TextBox 22"/>
          <p:cNvSpPr txBox="1"/>
          <p:nvPr/>
        </p:nvSpPr>
        <p:spPr>
          <a:xfrm>
            <a:off x="457200" y="5349240"/>
            <a:ext cx="5212080" cy="246221"/>
          </a:xfrm>
          <a:prstGeom prst="rect">
            <a:avLst/>
          </a:prstGeom>
          <a:noFill/>
        </p:spPr>
        <p:txBody>
          <a:bodyPr wrap="square">
            <a:spAutoFit/>
          </a:bodyPr>
          <a:lstStyle/>
          <a:p>
            <a:pPr algn="l"/>
            <a:r>
              <a:rPr sz="1000" b="0" i="1" dirty="0">
                <a:solidFill>
                  <a:srgbClr val="64748B"/>
                </a:solidFill>
              </a:rPr>
              <a:t>Risk Owner: Chief Technology Officer / Integration Team</a:t>
            </a:r>
            <a:r>
              <a:rPr lang="es-CL" sz="1000" b="0" i="1" dirty="0">
                <a:solidFill>
                  <a:srgbClr val="64748B"/>
                </a:solidFill>
              </a:rPr>
              <a:t>.</a:t>
            </a:r>
            <a:endParaRPr sz="1000" b="0" i="1" dirty="0">
              <a:solidFill>
                <a:srgbClr val="64748B"/>
              </a:solidFill>
            </a:endParaRPr>
          </a:p>
        </p:txBody>
      </p:sp>
      <p:sp>
        <p:nvSpPr>
          <p:cNvPr id="24" name="Rectangle 23"/>
          <p:cNvSpPr/>
          <p:nvPr/>
        </p:nvSpPr>
        <p:spPr>
          <a:xfrm>
            <a:off x="6263640" y="1508760"/>
            <a:ext cx="5577840" cy="4983480"/>
          </a:xfrm>
          <a:prstGeom prst="rect">
            <a:avLst/>
          </a:prstGeom>
          <a:solidFill>
            <a:srgbClr val="FFFFFF"/>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6263640" y="1508760"/>
            <a:ext cx="5577840" cy="457200"/>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446520" y="1554480"/>
            <a:ext cx="5303520" cy="347472"/>
          </a:xfrm>
          <a:prstGeom prst="rect">
            <a:avLst/>
          </a:prstGeom>
          <a:noFill/>
        </p:spPr>
        <p:txBody>
          <a:bodyPr wrap="square">
            <a:spAutoFit/>
          </a:bodyPr>
          <a:lstStyle/>
          <a:p>
            <a:pPr algn="l"/>
            <a:r>
              <a:rPr sz="1400" b="1" i="0">
                <a:solidFill>
                  <a:srgbClr val="FFFFFF"/>
                </a:solidFill>
              </a:rPr>
              <a:t>RISK 2 — GDPR / Regulatory Non-Compliance</a:t>
            </a:r>
          </a:p>
        </p:txBody>
      </p:sp>
      <p:sp>
        <p:nvSpPr>
          <p:cNvPr id="27" name="Rectangle 26"/>
          <p:cNvSpPr/>
          <p:nvPr/>
        </p:nvSpPr>
        <p:spPr>
          <a:xfrm>
            <a:off x="6446520" y="2103120"/>
            <a:ext cx="1645920" cy="1371600"/>
          </a:xfrm>
          <a:prstGeom prst="rect">
            <a:avLst/>
          </a:prstGeom>
          <a:solidFill>
            <a:srgbClr val="E8F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492240" y="2176272"/>
            <a:ext cx="1554480" cy="548640"/>
          </a:xfrm>
          <a:prstGeom prst="rect">
            <a:avLst/>
          </a:prstGeom>
          <a:noFill/>
        </p:spPr>
        <p:txBody>
          <a:bodyPr wrap="square">
            <a:spAutoFit/>
          </a:bodyPr>
          <a:lstStyle/>
          <a:p>
            <a:pPr algn="ctr"/>
            <a:r>
              <a:rPr sz="2600" b="1" i="0">
                <a:solidFill>
                  <a:srgbClr val="EA580C"/>
                </a:solidFill>
              </a:rPr>
              <a:t>70.4%</a:t>
            </a:r>
          </a:p>
        </p:txBody>
      </p:sp>
      <p:sp>
        <p:nvSpPr>
          <p:cNvPr id="29" name="TextBox 28"/>
          <p:cNvSpPr txBox="1"/>
          <p:nvPr/>
        </p:nvSpPr>
        <p:spPr>
          <a:xfrm>
            <a:off x="6492240" y="2697480"/>
            <a:ext cx="1554480" cy="320040"/>
          </a:xfrm>
          <a:prstGeom prst="rect">
            <a:avLst/>
          </a:prstGeom>
          <a:noFill/>
        </p:spPr>
        <p:txBody>
          <a:bodyPr wrap="square">
            <a:spAutoFit/>
          </a:bodyPr>
          <a:lstStyle/>
          <a:p>
            <a:pPr algn="ctr"/>
            <a:r>
              <a:rPr sz="1100" b="1" i="0">
                <a:solidFill>
                  <a:srgbClr val="0A1A2E"/>
                </a:solidFill>
              </a:rPr>
              <a:t>L1 Breach Prob.</a:t>
            </a:r>
          </a:p>
        </p:txBody>
      </p:sp>
      <p:sp>
        <p:nvSpPr>
          <p:cNvPr id="30" name="TextBox 29"/>
          <p:cNvSpPr txBox="1"/>
          <p:nvPr/>
        </p:nvSpPr>
        <p:spPr>
          <a:xfrm>
            <a:off x="6492240" y="3017520"/>
            <a:ext cx="1554480" cy="365760"/>
          </a:xfrm>
          <a:prstGeom prst="rect">
            <a:avLst/>
          </a:prstGeom>
          <a:noFill/>
        </p:spPr>
        <p:txBody>
          <a:bodyPr wrap="square">
            <a:spAutoFit/>
          </a:bodyPr>
          <a:lstStyle/>
          <a:p>
            <a:pPr algn="ctr"/>
            <a:r>
              <a:rPr sz="1000" b="0" i="1">
                <a:solidFill>
                  <a:srgbClr val="64748B"/>
                </a:solidFill>
              </a:rPr>
              <a:t>Elevated regulatory risk</a:t>
            </a:r>
          </a:p>
        </p:txBody>
      </p:sp>
      <p:sp>
        <p:nvSpPr>
          <p:cNvPr id="31" name="Rectangle 30"/>
          <p:cNvSpPr/>
          <p:nvPr/>
        </p:nvSpPr>
        <p:spPr>
          <a:xfrm>
            <a:off x="8275320" y="2103120"/>
            <a:ext cx="1645920" cy="1371600"/>
          </a:xfrm>
          <a:prstGeom prst="rect">
            <a:avLst/>
          </a:prstGeom>
          <a:solidFill>
            <a:srgbClr val="E8F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8321040" y="2176272"/>
            <a:ext cx="1554480" cy="548640"/>
          </a:xfrm>
          <a:prstGeom prst="rect">
            <a:avLst/>
          </a:prstGeom>
          <a:noFill/>
        </p:spPr>
        <p:txBody>
          <a:bodyPr wrap="square">
            <a:spAutoFit/>
          </a:bodyPr>
          <a:lstStyle/>
          <a:p>
            <a:pPr algn="ctr"/>
            <a:r>
              <a:rPr sz="2600" b="1" i="0">
                <a:solidFill>
                  <a:srgbClr val="EA580C"/>
                </a:solidFill>
              </a:rPr>
              <a:t>$508M</a:t>
            </a:r>
          </a:p>
        </p:txBody>
      </p:sp>
      <p:sp>
        <p:nvSpPr>
          <p:cNvPr id="33" name="TextBox 32"/>
          <p:cNvSpPr txBox="1"/>
          <p:nvPr/>
        </p:nvSpPr>
        <p:spPr>
          <a:xfrm>
            <a:off x="8321040" y="2697480"/>
            <a:ext cx="1554480" cy="320040"/>
          </a:xfrm>
          <a:prstGeom prst="rect">
            <a:avLst/>
          </a:prstGeom>
          <a:noFill/>
        </p:spPr>
        <p:txBody>
          <a:bodyPr wrap="square">
            <a:spAutoFit/>
          </a:bodyPr>
          <a:lstStyle/>
          <a:p>
            <a:pPr algn="ctr"/>
            <a:r>
              <a:rPr sz="1100" b="1" i="0">
                <a:solidFill>
                  <a:srgbClr val="0A1A2E"/>
                </a:solidFill>
              </a:rPr>
              <a:t>Tail Exposure</a:t>
            </a:r>
          </a:p>
        </p:txBody>
      </p:sp>
      <p:sp>
        <p:nvSpPr>
          <p:cNvPr id="34" name="TextBox 33"/>
          <p:cNvSpPr txBox="1"/>
          <p:nvPr/>
        </p:nvSpPr>
        <p:spPr>
          <a:xfrm>
            <a:off x="8321040" y="3017520"/>
            <a:ext cx="1554480" cy="365760"/>
          </a:xfrm>
          <a:prstGeom prst="rect">
            <a:avLst/>
          </a:prstGeom>
          <a:noFill/>
        </p:spPr>
        <p:txBody>
          <a:bodyPr wrap="square">
            <a:spAutoFit/>
          </a:bodyPr>
          <a:lstStyle/>
          <a:p>
            <a:pPr algn="ctr"/>
            <a:r>
              <a:rPr sz="1000" b="0" i="1">
                <a:solidFill>
                  <a:srgbClr val="64748B"/>
                </a:solidFill>
              </a:rPr>
              <a:t>Pessimistic GDPR fine</a:t>
            </a:r>
          </a:p>
        </p:txBody>
      </p:sp>
      <p:sp>
        <p:nvSpPr>
          <p:cNvPr id="35" name="Rectangle 34"/>
          <p:cNvSpPr/>
          <p:nvPr/>
        </p:nvSpPr>
        <p:spPr>
          <a:xfrm>
            <a:off x="10104120" y="2103120"/>
            <a:ext cx="1645920" cy="1371600"/>
          </a:xfrm>
          <a:prstGeom prst="rect">
            <a:avLst/>
          </a:prstGeom>
          <a:solidFill>
            <a:srgbClr val="E8F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10149840" y="2176272"/>
            <a:ext cx="1554480" cy="548640"/>
          </a:xfrm>
          <a:prstGeom prst="rect">
            <a:avLst/>
          </a:prstGeom>
          <a:noFill/>
        </p:spPr>
        <p:txBody>
          <a:bodyPr wrap="square">
            <a:spAutoFit/>
          </a:bodyPr>
          <a:lstStyle/>
          <a:p>
            <a:pPr algn="ctr"/>
            <a:r>
              <a:rPr sz="2600" b="1" i="0">
                <a:solidFill>
                  <a:srgbClr val="EA580C"/>
                </a:solidFill>
              </a:rPr>
              <a:t>#2</a:t>
            </a:r>
          </a:p>
        </p:txBody>
      </p:sp>
      <p:sp>
        <p:nvSpPr>
          <p:cNvPr id="37" name="TextBox 36"/>
          <p:cNvSpPr txBox="1"/>
          <p:nvPr/>
        </p:nvSpPr>
        <p:spPr>
          <a:xfrm>
            <a:off x="10149840" y="2697480"/>
            <a:ext cx="1554480" cy="320040"/>
          </a:xfrm>
          <a:prstGeom prst="rect">
            <a:avLst/>
          </a:prstGeom>
          <a:noFill/>
        </p:spPr>
        <p:txBody>
          <a:bodyPr wrap="square">
            <a:spAutoFit/>
          </a:bodyPr>
          <a:lstStyle/>
          <a:p>
            <a:pPr algn="ctr"/>
            <a:r>
              <a:rPr sz="1100" b="1" i="0">
                <a:solidFill>
                  <a:srgbClr val="0A1A2E"/>
                </a:solidFill>
              </a:rPr>
              <a:t>Priority</a:t>
            </a:r>
          </a:p>
        </p:txBody>
      </p:sp>
      <p:sp>
        <p:nvSpPr>
          <p:cNvPr id="38" name="TextBox 37"/>
          <p:cNvSpPr txBox="1"/>
          <p:nvPr/>
        </p:nvSpPr>
        <p:spPr>
          <a:xfrm>
            <a:off x="10149840" y="3017520"/>
            <a:ext cx="1554480" cy="365760"/>
          </a:xfrm>
          <a:prstGeom prst="rect">
            <a:avLst/>
          </a:prstGeom>
          <a:noFill/>
        </p:spPr>
        <p:txBody>
          <a:bodyPr wrap="square">
            <a:spAutoFit/>
          </a:bodyPr>
          <a:lstStyle/>
          <a:p>
            <a:pPr algn="ctr"/>
            <a:r>
              <a:rPr sz="1000" b="0" i="1">
                <a:solidFill>
                  <a:srgbClr val="64748B"/>
                </a:solidFill>
              </a:rPr>
              <a:t>Largest single tail risk</a:t>
            </a:r>
          </a:p>
        </p:txBody>
      </p:sp>
      <p:sp>
        <p:nvSpPr>
          <p:cNvPr id="39" name="TextBox 38"/>
          <p:cNvSpPr txBox="1"/>
          <p:nvPr/>
        </p:nvSpPr>
        <p:spPr>
          <a:xfrm>
            <a:off x="6446520" y="3611880"/>
            <a:ext cx="5212080" cy="830997"/>
          </a:xfrm>
          <a:prstGeom prst="rect">
            <a:avLst/>
          </a:prstGeom>
          <a:noFill/>
        </p:spPr>
        <p:txBody>
          <a:bodyPr wrap="square">
            <a:spAutoFit/>
          </a:bodyPr>
          <a:lstStyle/>
          <a:p>
            <a:pPr algn="just"/>
            <a:r>
              <a:rPr sz="1200" b="0" i="0" dirty="0">
                <a:solidFill>
                  <a:srgbClr val="0A1A2E"/>
                </a:solidFill>
              </a:rPr>
              <a:t>Interpretation: At 70.4% L1 breach probability and a tail exposure of $508M, regulatory risk represents the single largest potential financial consequence in the entire analysis. Even at P50, the exposure demands rigorous compliance controls across PIPEDA, GDPR, and the EU AI Act simultaneously.</a:t>
            </a:r>
          </a:p>
        </p:txBody>
      </p:sp>
      <p:sp>
        <p:nvSpPr>
          <p:cNvPr id="40" name="TextBox 39"/>
          <p:cNvSpPr txBox="1"/>
          <p:nvPr/>
        </p:nvSpPr>
        <p:spPr>
          <a:xfrm>
            <a:off x="6446520" y="5029200"/>
            <a:ext cx="5212080" cy="261610"/>
          </a:xfrm>
          <a:prstGeom prst="rect">
            <a:avLst/>
          </a:prstGeom>
          <a:noFill/>
        </p:spPr>
        <p:txBody>
          <a:bodyPr wrap="square">
            <a:spAutoFit/>
          </a:bodyPr>
          <a:lstStyle/>
          <a:p>
            <a:pPr algn="l"/>
            <a:r>
              <a:rPr sz="1100" b="1" i="1" dirty="0">
                <a:solidFill>
                  <a:srgbClr val="1A4A3A"/>
                </a:solidFill>
              </a:rPr>
              <a:t>KRI: Regulatory inquiry filings · Threshold L1: 1 formal inquiry in 90 days</a:t>
            </a:r>
            <a:r>
              <a:rPr lang="es-CL" sz="1100" b="1" i="1" dirty="0">
                <a:solidFill>
                  <a:srgbClr val="1A4A3A"/>
                </a:solidFill>
              </a:rPr>
              <a:t>.</a:t>
            </a:r>
            <a:endParaRPr sz="1100" b="1" i="1" dirty="0">
              <a:solidFill>
                <a:srgbClr val="1A4A3A"/>
              </a:solidFill>
            </a:endParaRPr>
          </a:p>
        </p:txBody>
      </p:sp>
      <p:sp>
        <p:nvSpPr>
          <p:cNvPr id="41" name="TextBox 40"/>
          <p:cNvSpPr txBox="1"/>
          <p:nvPr/>
        </p:nvSpPr>
        <p:spPr>
          <a:xfrm>
            <a:off x="6446520" y="5349240"/>
            <a:ext cx="5212080" cy="246221"/>
          </a:xfrm>
          <a:prstGeom prst="rect">
            <a:avLst/>
          </a:prstGeom>
          <a:noFill/>
        </p:spPr>
        <p:txBody>
          <a:bodyPr wrap="square">
            <a:spAutoFit/>
          </a:bodyPr>
          <a:lstStyle/>
          <a:p>
            <a:pPr algn="l"/>
            <a:r>
              <a:rPr sz="1000" b="0" i="1" dirty="0">
                <a:solidFill>
                  <a:srgbClr val="64748B"/>
                </a:solidFill>
              </a:rPr>
              <a:t>Risk Owner: Chief Legal Officer + Data Protection Officer</a:t>
            </a:r>
            <a:r>
              <a:rPr lang="es-CL" sz="1000" b="0" i="1" dirty="0">
                <a:solidFill>
                  <a:srgbClr val="64748B"/>
                </a:solidFill>
              </a:rPr>
              <a:t>.</a:t>
            </a:r>
            <a:endParaRPr sz="1000" b="0" i="1" dirty="0">
              <a:solidFill>
                <a:srgbClr val="64748B"/>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280160"/>
          </a:xfrm>
          <a:prstGeom prst="rect">
            <a:avLst/>
          </a:prstGeom>
          <a:solidFill>
            <a:schemeClr val="accent5">
              <a:lumMod val="5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182880"/>
            <a:ext cx="10972800" cy="553998"/>
          </a:xfrm>
          <a:prstGeom prst="rect">
            <a:avLst/>
          </a:prstGeom>
          <a:noFill/>
        </p:spPr>
        <p:txBody>
          <a:bodyPr wrap="square">
            <a:spAutoFit/>
          </a:bodyPr>
          <a:lstStyle/>
          <a:p>
            <a:r>
              <a:rPr lang="es-CL" sz="3000" b="1" dirty="0">
                <a:solidFill>
                  <a:srgbClr val="FFFFFF"/>
                </a:solidFill>
              </a:rPr>
              <a:t>$491M Market </a:t>
            </a:r>
            <a:r>
              <a:rPr lang="es-CL" sz="3000" b="1" dirty="0" err="1">
                <a:solidFill>
                  <a:srgbClr val="FFFFFF"/>
                </a:solidFill>
              </a:rPr>
              <a:t>Opportunity</a:t>
            </a:r>
            <a:r>
              <a:rPr lang="es-CL" sz="3000" b="1" dirty="0">
                <a:solidFill>
                  <a:srgbClr val="FFFFFF"/>
                </a:solidFill>
              </a:rPr>
              <a:t> &amp; Risk </a:t>
            </a:r>
            <a:r>
              <a:rPr lang="es-CL" sz="3000" b="1" dirty="0" err="1">
                <a:solidFill>
                  <a:srgbClr val="FFFFFF"/>
                </a:solidFill>
              </a:rPr>
              <a:t>Monitoring</a:t>
            </a:r>
            <a:r>
              <a:rPr lang="es-CL" sz="3000" b="1" dirty="0">
                <a:solidFill>
                  <a:srgbClr val="FFFFFF"/>
                </a:solidFill>
              </a:rPr>
              <a:t> </a:t>
            </a:r>
            <a:r>
              <a:rPr lang="es-CL" sz="3000" b="1" dirty="0" err="1">
                <a:solidFill>
                  <a:srgbClr val="FFFFFF"/>
                </a:solidFill>
              </a:rPr>
              <a:t>Thresholds</a:t>
            </a:r>
            <a:endParaRPr sz="3000" b="1" dirty="0">
              <a:solidFill>
                <a:srgbClr val="FFFFFF"/>
              </a:solidFill>
            </a:endParaRPr>
          </a:p>
        </p:txBody>
      </p:sp>
      <p:sp>
        <p:nvSpPr>
          <p:cNvPr id="5" name="TextBox 4"/>
          <p:cNvSpPr txBox="1"/>
          <p:nvPr/>
        </p:nvSpPr>
        <p:spPr>
          <a:xfrm>
            <a:off x="365760" y="914400"/>
            <a:ext cx="10972800" cy="292388"/>
          </a:xfrm>
          <a:prstGeom prst="rect">
            <a:avLst/>
          </a:prstGeom>
          <a:noFill/>
        </p:spPr>
        <p:txBody>
          <a:bodyPr wrap="square">
            <a:spAutoFit/>
          </a:bodyPr>
          <a:lstStyle/>
          <a:p>
            <a:pPr algn="l"/>
            <a:r>
              <a:rPr sz="1300" b="0" i="0" dirty="0">
                <a:solidFill>
                  <a:srgbClr val="E8F5EE"/>
                </a:solidFill>
              </a:rPr>
              <a:t>Part 2 · Terry Lucas Boye</a:t>
            </a:r>
          </a:p>
        </p:txBody>
      </p:sp>
      <p:sp>
        <p:nvSpPr>
          <p:cNvPr id="6" name="Rectangle 5"/>
          <p:cNvSpPr/>
          <p:nvPr/>
        </p:nvSpPr>
        <p:spPr>
          <a:xfrm>
            <a:off x="274320" y="1508759"/>
            <a:ext cx="5577840" cy="3137863"/>
          </a:xfrm>
          <a:prstGeom prst="rect">
            <a:avLst/>
          </a:prstGeom>
          <a:solidFill>
            <a:srgbClr val="FFFFFF"/>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274320" y="1508760"/>
            <a:ext cx="5577840" cy="457200"/>
          </a:xfrm>
          <a:prstGeom prst="rect">
            <a:avLst/>
          </a:prstGeom>
          <a:solidFill>
            <a:srgbClr val="008C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1554480"/>
            <a:ext cx="5303520" cy="347472"/>
          </a:xfrm>
          <a:prstGeom prst="rect">
            <a:avLst/>
          </a:prstGeom>
          <a:noFill/>
        </p:spPr>
        <p:txBody>
          <a:bodyPr wrap="square">
            <a:spAutoFit/>
          </a:bodyPr>
          <a:lstStyle/>
          <a:p>
            <a:pPr algn="l"/>
            <a:r>
              <a:rPr sz="1300" b="1" i="0">
                <a:solidFill>
                  <a:srgbClr val="FFFFFF"/>
                </a:solidFill>
              </a:rPr>
              <a:t>RISK 3 — Market Window Opportunity (Positive Risk)</a:t>
            </a:r>
          </a:p>
        </p:txBody>
      </p:sp>
      <p:sp>
        <p:nvSpPr>
          <p:cNvPr id="9" name="Rectangle 8"/>
          <p:cNvSpPr/>
          <p:nvPr/>
        </p:nvSpPr>
        <p:spPr>
          <a:xfrm>
            <a:off x="457200" y="2084831"/>
            <a:ext cx="1645920" cy="1005840"/>
          </a:xfrm>
          <a:prstGeom prst="rect">
            <a:avLst/>
          </a:prstGeom>
          <a:solidFill>
            <a:srgbClr val="E8F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02920" y="2130552"/>
            <a:ext cx="1554480" cy="457200"/>
          </a:xfrm>
          <a:prstGeom prst="rect">
            <a:avLst/>
          </a:prstGeom>
          <a:noFill/>
        </p:spPr>
        <p:txBody>
          <a:bodyPr wrap="square">
            <a:spAutoFit/>
          </a:bodyPr>
          <a:lstStyle/>
          <a:p>
            <a:pPr algn="ctr"/>
            <a:r>
              <a:rPr sz="2200" b="1" i="0">
                <a:solidFill>
                  <a:srgbClr val="008C5A"/>
                </a:solidFill>
              </a:rPr>
              <a:t>+$491.3M</a:t>
            </a:r>
          </a:p>
        </p:txBody>
      </p:sp>
      <p:sp>
        <p:nvSpPr>
          <p:cNvPr id="11" name="TextBox 10"/>
          <p:cNvSpPr txBox="1"/>
          <p:nvPr/>
        </p:nvSpPr>
        <p:spPr>
          <a:xfrm>
            <a:off x="502920" y="2578608"/>
            <a:ext cx="1554480" cy="292608"/>
          </a:xfrm>
          <a:prstGeom prst="rect">
            <a:avLst/>
          </a:prstGeom>
          <a:noFill/>
        </p:spPr>
        <p:txBody>
          <a:bodyPr wrap="square">
            <a:spAutoFit/>
          </a:bodyPr>
          <a:lstStyle/>
          <a:p>
            <a:pPr algn="ctr"/>
            <a:r>
              <a:rPr sz="1000" b="1" i="0">
                <a:solidFill>
                  <a:srgbClr val="0A1A2E"/>
                </a:solidFill>
              </a:rPr>
              <a:t>P50 ARR Upside</a:t>
            </a:r>
          </a:p>
        </p:txBody>
      </p:sp>
      <p:sp>
        <p:nvSpPr>
          <p:cNvPr id="12" name="Rectangle 11"/>
          <p:cNvSpPr/>
          <p:nvPr/>
        </p:nvSpPr>
        <p:spPr>
          <a:xfrm>
            <a:off x="2286000" y="2084831"/>
            <a:ext cx="1645920" cy="1005840"/>
          </a:xfrm>
          <a:prstGeom prst="rect">
            <a:avLst/>
          </a:prstGeom>
          <a:solidFill>
            <a:srgbClr val="E8F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331720" y="2130552"/>
            <a:ext cx="1554480" cy="457200"/>
          </a:xfrm>
          <a:prstGeom prst="rect">
            <a:avLst/>
          </a:prstGeom>
          <a:noFill/>
        </p:spPr>
        <p:txBody>
          <a:bodyPr wrap="square">
            <a:spAutoFit/>
          </a:bodyPr>
          <a:lstStyle/>
          <a:p>
            <a:pPr algn="ctr"/>
            <a:r>
              <a:rPr sz="2200" b="1" i="0">
                <a:solidFill>
                  <a:srgbClr val="008C5A"/>
                </a:solidFill>
              </a:rPr>
              <a:t>45.1%</a:t>
            </a:r>
          </a:p>
        </p:txBody>
      </p:sp>
      <p:sp>
        <p:nvSpPr>
          <p:cNvPr id="14" name="TextBox 13"/>
          <p:cNvSpPr txBox="1"/>
          <p:nvPr/>
        </p:nvSpPr>
        <p:spPr>
          <a:xfrm>
            <a:off x="2331720" y="2578608"/>
            <a:ext cx="1554480" cy="292608"/>
          </a:xfrm>
          <a:prstGeom prst="rect">
            <a:avLst/>
          </a:prstGeom>
          <a:noFill/>
        </p:spPr>
        <p:txBody>
          <a:bodyPr wrap="square">
            <a:spAutoFit/>
          </a:bodyPr>
          <a:lstStyle/>
          <a:p>
            <a:pPr algn="ctr"/>
            <a:r>
              <a:rPr sz="1000" b="1" i="0">
                <a:solidFill>
                  <a:srgbClr val="0A1A2E"/>
                </a:solidFill>
              </a:rPr>
              <a:t>L1 Breach Prob.</a:t>
            </a:r>
          </a:p>
        </p:txBody>
      </p:sp>
      <p:sp>
        <p:nvSpPr>
          <p:cNvPr id="15" name="Rectangle 14"/>
          <p:cNvSpPr/>
          <p:nvPr/>
        </p:nvSpPr>
        <p:spPr>
          <a:xfrm>
            <a:off x="4114800" y="2084831"/>
            <a:ext cx="1645920" cy="1005840"/>
          </a:xfrm>
          <a:prstGeom prst="rect">
            <a:avLst/>
          </a:prstGeom>
          <a:solidFill>
            <a:srgbClr val="E8F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160520" y="2130552"/>
            <a:ext cx="1554480" cy="457200"/>
          </a:xfrm>
          <a:prstGeom prst="rect">
            <a:avLst/>
          </a:prstGeom>
          <a:noFill/>
        </p:spPr>
        <p:txBody>
          <a:bodyPr wrap="square">
            <a:spAutoFit/>
          </a:bodyPr>
          <a:lstStyle/>
          <a:p>
            <a:pPr algn="ctr"/>
            <a:r>
              <a:rPr sz="2200" b="1" i="0">
                <a:solidFill>
                  <a:srgbClr val="008C5A"/>
                </a:solidFill>
              </a:rPr>
              <a:t>6–18 mo.</a:t>
            </a:r>
          </a:p>
        </p:txBody>
      </p:sp>
      <p:sp>
        <p:nvSpPr>
          <p:cNvPr id="17" name="TextBox 16"/>
          <p:cNvSpPr txBox="1"/>
          <p:nvPr/>
        </p:nvSpPr>
        <p:spPr>
          <a:xfrm>
            <a:off x="4160520" y="2578608"/>
            <a:ext cx="1554480" cy="292608"/>
          </a:xfrm>
          <a:prstGeom prst="rect">
            <a:avLst/>
          </a:prstGeom>
          <a:noFill/>
        </p:spPr>
        <p:txBody>
          <a:bodyPr wrap="square">
            <a:spAutoFit/>
          </a:bodyPr>
          <a:lstStyle/>
          <a:p>
            <a:pPr algn="ctr"/>
            <a:r>
              <a:rPr sz="1000" b="1" i="0">
                <a:solidFill>
                  <a:srgbClr val="0A1A2E"/>
                </a:solidFill>
              </a:rPr>
              <a:t>Window</a:t>
            </a:r>
          </a:p>
        </p:txBody>
      </p:sp>
      <p:sp>
        <p:nvSpPr>
          <p:cNvPr id="18" name="TextBox 17"/>
          <p:cNvSpPr txBox="1"/>
          <p:nvPr/>
        </p:nvSpPr>
        <p:spPr>
          <a:xfrm>
            <a:off x="457200" y="3200400"/>
            <a:ext cx="5212080" cy="1508105"/>
          </a:xfrm>
          <a:prstGeom prst="rect">
            <a:avLst/>
          </a:prstGeom>
          <a:noFill/>
        </p:spPr>
        <p:txBody>
          <a:bodyPr wrap="square">
            <a:spAutoFit/>
          </a:bodyPr>
          <a:lstStyle/>
          <a:p>
            <a:pPr algn="just"/>
            <a:r>
              <a:rPr sz="1200" b="0" i="0" dirty="0">
                <a:solidFill>
                  <a:srgbClr val="0A1A2E"/>
                </a:solidFill>
              </a:rPr>
              <a:t>This is a time-bounded opportunity. If Shopify does not act within 6–18 months, competitors will reach AI search parity</a:t>
            </a:r>
            <a:r>
              <a:rPr lang="es-CL" sz="1200" b="0" i="0" dirty="0">
                <a:solidFill>
                  <a:srgbClr val="0A1A2E"/>
                </a:solidFill>
              </a:rPr>
              <a:t>, and </a:t>
            </a:r>
            <a:r>
              <a:rPr lang="es-CL" sz="1200" b="0" i="0" dirty="0" err="1">
                <a:solidFill>
                  <a:srgbClr val="0A1A2E"/>
                </a:solidFill>
              </a:rPr>
              <a:t>the</a:t>
            </a:r>
            <a:r>
              <a:rPr lang="es-CL" sz="1200" b="0" i="0" dirty="0">
                <a:solidFill>
                  <a:srgbClr val="0A1A2E"/>
                </a:solidFill>
              </a:rPr>
              <a:t> </a:t>
            </a:r>
            <a:r>
              <a:rPr lang="es-CL" sz="1200" b="0" i="0" dirty="0" err="1">
                <a:solidFill>
                  <a:srgbClr val="0A1A2E"/>
                </a:solidFill>
              </a:rPr>
              <a:t>window</a:t>
            </a:r>
            <a:r>
              <a:rPr lang="es-CL" sz="1200" b="0" i="0" dirty="0">
                <a:solidFill>
                  <a:srgbClr val="0A1A2E"/>
                </a:solidFill>
              </a:rPr>
              <a:t> </a:t>
            </a:r>
            <a:r>
              <a:rPr lang="es-CL" sz="1200" b="0" i="0" dirty="0" err="1">
                <a:solidFill>
                  <a:srgbClr val="0A1A2E"/>
                </a:solidFill>
              </a:rPr>
              <a:t>will</a:t>
            </a:r>
            <a:r>
              <a:rPr lang="es-CL" sz="1200" b="0" i="0" dirty="0">
                <a:solidFill>
                  <a:srgbClr val="0A1A2E"/>
                </a:solidFill>
              </a:rPr>
              <a:t> </a:t>
            </a:r>
            <a:r>
              <a:rPr lang="es-CL" sz="1200" b="0" i="0" dirty="0" err="1">
                <a:solidFill>
                  <a:srgbClr val="0A1A2E"/>
                </a:solidFill>
              </a:rPr>
              <a:t>close</a:t>
            </a:r>
            <a:r>
              <a:rPr sz="1200" b="0" i="0" dirty="0">
                <a:solidFill>
                  <a:srgbClr val="0A1A2E"/>
                </a:solidFill>
              </a:rPr>
              <a:t> permanently.</a:t>
            </a:r>
            <a:endParaRPr lang="es-CL" sz="1200" b="0" i="0" dirty="0">
              <a:solidFill>
                <a:srgbClr val="0A1A2E"/>
              </a:solidFill>
            </a:endParaRPr>
          </a:p>
          <a:p>
            <a:pPr algn="l"/>
            <a:endParaRPr lang="es-CL" sz="1150" dirty="0">
              <a:solidFill>
                <a:srgbClr val="0A1A2E"/>
              </a:solidFill>
            </a:endParaRPr>
          </a:p>
          <a:p>
            <a:r>
              <a:rPr lang="es-CL" sz="1100" b="1" i="1" dirty="0">
                <a:solidFill>
                  <a:srgbClr val="1A4A3A"/>
                </a:solidFill>
              </a:rPr>
              <a:t>KRI: </a:t>
            </a:r>
            <a:r>
              <a:rPr lang="es-CL" sz="1100" b="1" i="1" dirty="0" err="1">
                <a:solidFill>
                  <a:srgbClr val="1A4A3A"/>
                </a:solidFill>
              </a:rPr>
              <a:t>Monthly</a:t>
            </a:r>
            <a:r>
              <a:rPr lang="es-CL" sz="1100" b="1" i="1" dirty="0">
                <a:solidFill>
                  <a:srgbClr val="1A4A3A"/>
                </a:solidFill>
              </a:rPr>
              <a:t> new </a:t>
            </a:r>
            <a:r>
              <a:rPr lang="es-CL" sz="1100" b="1" i="1" dirty="0" err="1">
                <a:solidFill>
                  <a:srgbClr val="1A4A3A"/>
                </a:solidFill>
              </a:rPr>
              <a:t>merchant</a:t>
            </a:r>
            <a:r>
              <a:rPr lang="es-CL" sz="1100" b="1" i="1" dirty="0">
                <a:solidFill>
                  <a:srgbClr val="1A4A3A"/>
                </a:solidFill>
              </a:rPr>
              <a:t> </a:t>
            </a:r>
            <a:r>
              <a:rPr lang="es-CL" sz="1100" b="1" i="1" dirty="0" err="1">
                <a:solidFill>
                  <a:srgbClr val="1A4A3A"/>
                </a:solidFill>
              </a:rPr>
              <a:t>signup</a:t>
            </a:r>
            <a:r>
              <a:rPr lang="es-CL" sz="1100" b="1" i="1" dirty="0">
                <a:solidFill>
                  <a:srgbClr val="1A4A3A"/>
                </a:solidFill>
              </a:rPr>
              <a:t> </a:t>
            </a:r>
            <a:r>
              <a:rPr lang="es-CL" sz="1100" b="1" i="1" dirty="0" err="1">
                <a:solidFill>
                  <a:srgbClr val="1A4A3A"/>
                </a:solidFill>
              </a:rPr>
              <a:t>conversion</a:t>
            </a:r>
            <a:r>
              <a:rPr lang="es-CL" sz="1100" b="1" i="1" dirty="0">
                <a:solidFill>
                  <a:srgbClr val="1A4A3A"/>
                </a:solidFill>
              </a:rPr>
              <a:t> </a:t>
            </a:r>
            <a:r>
              <a:rPr lang="es-CL" sz="1100" b="1" i="1" dirty="0" err="1">
                <a:solidFill>
                  <a:srgbClr val="1A4A3A"/>
                </a:solidFill>
              </a:rPr>
              <a:t>rate</a:t>
            </a:r>
            <a:r>
              <a:rPr lang="es-CL" sz="1100" b="1" i="1" dirty="0">
                <a:solidFill>
                  <a:srgbClr val="1A4A3A"/>
                </a:solidFill>
              </a:rPr>
              <a:t> </a:t>
            </a:r>
            <a:r>
              <a:rPr lang="es-CL" sz="1100" b="1" i="1" dirty="0" err="1">
                <a:solidFill>
                  <a:srgbClr val="1A4A3A"/>
                </a:solidFill>
              </a:rPr>
              <a:t>from</a:t>
            </a:r>
            <a:r>
              <a:rPr lang="es-CL" sz="1100" b="1" i="1" dirty="0">
                <a:solidFill>
                  <a:srgbClr val="1A4A3A"/>
                </a:solidFill>
              </a:rPr>
              <a:t> </a:t>
            </a:r>
            <a:r>
              <a:rPr lang="es-CL" sz="1100" b="1" i="1" dirty="0" err="1">
                <a:solidFill>
                  <a:srgbClr val="1A4A3A"/>
                </a:solidFill>
              </a:rPr>
              <a:t>competing</a:t>
            </a:r>
            <a:r>
              <a:rPr lang="es-CL" sz="1100" b="1" i="1" dirty="0">
                <a:solidFill>
                  <a:srgbClr val="1A4A3A"/>
                </a:solidFill>
              </a:rPr>
              <a:t> </a:t>
            </a:r>
            <a:r>
              <a:rPr lang="es-CL" sz="1100" b="1" i="1" dirty="0" err="1">
                <a:solidFill>
                  <a:srgbClr val="1A4A3A"/>
                </a:solidFill>
              </a:rPr>
              <a:t>platforms</a:t>
            </a:r>
            <a:r>
              <a:rPr lang="es-CL" sz="1100" b="1" i="1" dirty="0">
                <a:solidFill>
                  <a:srgbClr val="1A4A3A"/>
                </a:solidFill>
              </a:rPr>
              <a:t>. </a:t>
            </a:r>
            <a:r>
              <a:rPr lang="es-CL" sz="1200" b="1" i="1" dirty="0">
                <a:solidFill>
                  <a:srgbClr val="1A4A3A"/>
                </a:solidFill>
              </a:rPr>
              <a:t>· </a:t>
            </a:r>
            <a:r>
              <a:rPr lang="es-CL" sz="1100" b="1" i="1" dirty="0" err="1">
                <a:solidFill>
                  <a:srgbClr val="1A4A3A"/>
                </a:solidFill>
              </a:rPr>
              <a:t>Threshold</a:t>
            </a:r>
            <a:r>
              <a:rPr lang="es-CL" sz="1100" b="1" i="1" dirty="0">
                <a:solidFill>
                  <a:srgbClr val="1A4A3A"/>
                </a:solidFill>
              </a:rPr>
              <a:t> L1: Less </a:t>
            </a:r>
            <a:r>
              <a:rPr lang="es-CL" sz="1100" b="1" i="1" dirty="0" err="1">
                <a:solidFill>
                  <a:srgbClr val="1A4A3A"/>
                </a:solidFill>
              </a:rPr>
              <a:t>than</a:t>
            </a:r>
            <a:r>
              <a:rPr lang="es-CL" sz="1100" b="1" i="1" dirty="0">
                <a:solidFill>
                  <a:srgbClr val="1A4A3A"/>
                </a:solidFill>
              </a:rPr>
              <a:t> 5% </a:t>
            </a:r>
            <a:r>
              <a:rPr lang="es-CL" sz="1100" b="1" i="1" dirty="0" err="1">
                <a:solidFill>
                  <a:srgbClr val="1A4A3A"/>
                </a:solidFill>
              </a:rPr>
              <a:t>monthly</a:t>
            </a:r>
            <a:r>
              <a:rPr lang="es-CL" sz="1100" b="1" i="1" dirty="0">
                <a:solidFill>
                  <a:srgbClr val="1A4A3A"/>
                </a:solidFill>
              </a:rPr>
              <a:t> </a:t>
            </a:r>
            <a:r>
              <a:rPr lang="es-CL" sz="1100" b="1" i="1" dirty="0" err="1">
                <a:solidFill>
                  <a:srgbClr val="1A4A3A"/>
                </a:solidFill>
              </a:rPr>
              <a:t>growth</a:t>
            </a:r>
            <a:r>
              <a:rPr lang="es-CL" sz="1100" b="1" i="1" dirty="0">
                <a:solidFill>
                  <a:srgbClr val="1A4A3A"/>
                </a:solidFill>
              </a:rPr>
              <a:t> in new Shopify Plus </a:t>
            </a:r>
            <a:r>
              <a:rPr lang="es-CL" sz="1100" b="1" i="1" dirty="0" err="1">
                <a:solidFill>
                  <a:srgbClr val="1A4A3A"/>
                </a:solidFill>
              </a:rPr>
              <a:t>merchant</a:t>
            </a:r>
            <a:r>
              <a:rPr lang="es-CL" sz="1100" b="1" i="1" dirty="0">
                <a:solidFill>
                  <a:srgbClr val="1A4A3A"/>
                </a:solidFill>
              </a:rPr>
              <a:t> </a:t>
            </a:r>
            <a:r>
              <a:rPr lang="es-CL" sz="1100" b="1" i="1" dirty="0" err="1">
                <a:solidFill>
                  <a:srgbClr val="1A4A3A"/>
                </a:solidFill>
              </a:rPr>
              <a:t>acquisitions</a:t>
            </a:r>
            <a:r>
              <a:rPr lang="es-CL" sz="1100" b="1" i="1" dirty="0">
                <a:solidFill>
                  <a:srgbClr val="1A4A3A"/>
                </a:solidFill>
              </a:rPr>
              <a:t>.</a:t>
            </a:r>
          </a:p>
          <a:p>
            <a:br>
              <a:rPr lang="es-CL" sz="1200" dirty="0"/>
            </a:br>
            <a:r>
              <a:rPr lang="es-CL" sz="1000" i="1" dirty="0">
                <a:solidFill>
                  <a:srgbClr val="64748B"/>
                </a:solidFill>
              </a:rPr>
              <a:t>Risk Owner: Chief Marketing Officer / </a:t>
            </a:r>
            <a:r>
              <a:rPr lang="es-CL" sz="1000" i="1" dirty="0" err="1">
                <a:solidFill>
                  <a:srgbClr val="64748B"/>
                </a:solidFill>
              </a:rPr>
              <a:t>Strategy</a:t>
            </a:r>
            <a:r>
              <a:rPr lang="es-CL" sz="1000" i="1" dirty="0">
                <a:solidFill>
                  <a:srgbClr val="64748B"/>
                </a:solidFill>
              </a:rPr>
              <a:t> Team</a:t>
            </a:r>
          </a:p>
          <a:p>
            <a:pPr algn="l"/>
            <a:endParaRPr sz="1150" b="0" i="0" dirty="0">
              <a:solidFill>
                <a:srgbClr val="0A1A2E"/>
              </a:solidFill>
            </a:endParaRPr>
          </a:p>
        </p:txBody>
      </p:sp>
      <p:sp>
        <p:nvSpPr>
          <p:cNvPr id="19" name="Rectangle 18"/>
          <p:cNvSpPr/>
          <p:nvPr/>
        </p:nvSpPr>
        <p:spPr>
          <a:xfrm>
            <a:off x="274320" y="4674056"/>
            <a:ext cx="6726844" cy="1828800"/>
          </a:xfrm>
          <a:prstGeom prst="rect">
            <a:avLst/>
          </a:prstGeom>
          <a:solidFill>
            <a:srgbClr val="FFFFFF"/>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57200" y="4617720"/>
            <a:ext cx="5212080" cy="320040"/>
          </a:xfrm>
          <a:prstGeom prst="rect">
            <a:avLst/>
          </a:prstGeom>
          <a:noFill/>
        </p:spPr>
        <p:txBody>
          <a:bodyPr wrap="square">
            <a:spAutoFit/>
          </a:bodyPr>
          <a:lstStyle/>
          <a:p>
            <a:pPr algn="l"/>
            <a:r>
              <a:rPr sz="1300" b="1" i="0">
                <a:solidFill>
                  <a:srgbClr val="008C5A"/>
                </a:solidFill>
              </a:rPr>
              <a:t>KRI Traffic Light System</a:t>
            </a:r>
          </a:p>
        </p:txBody>
      </p:sp>
      <p:sp>
        <p:nvSpPr>
          <p:cNvPr id="21" name="Rectangle 20"/>
          <p:cNvSpPr/>
          <p:nvPr/>
        </p:nvSpPr>
        <p:spPr>
          <a:xfrm>
            <a:off x="411480" y="4956048"/>
            <a:ext cx="731520" cy="274320"/>
          </a:xfrm>
          <a:prstGeom prst="rect">
            <a:avLst/>
          </a:prstGeom>
          <a:solidFill>
            <a:srgbClr val="0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48056" y="4974336"/>
            <a:ext cx="676656" cy="228600"/>
          </a:xfrm>
          <a:prstGeom prst="rect">
            <a:avLst/>
          </a:prstGeom>
          <a:noFill/>
        </p:spPr>
        <p:txBody>
          <a:bodyPr wrap="square">
            <a:spAutoFit/>
          </a:bodyPr>
          <a:lstStyle/>
          <a:p>
            <a:pPr algn="ctr"/>
            <a:r>
              <a:rPr sz="1000" b="1" i="0">
                <a:solidFill>
                  <a:srgbClr val="FFFFFF"/>
                </a:solidFill>
              </a:rPr>
              <a:t>Risk</a:t>
            </a:r>
          </a:p>
        </p:txBody>
      </p:sp>
      <p:sp>
        <p:nvSpPr>
          <p:cNvPr id="23" name="Rectangle 22"/>
          <p:cNvSpPr/>
          <p:nvPr/>
        </p:nvSpPr>
        <p:spPr>
          <a:xfrm>
            <a:off x="1179576" y="4956048"/>
            <a:ext cx="1828800" cy="274320"/>
          </a:xfrm>
          <a:prstGeom prst="rect">
            <a:avLst/>
          </a:prstGeom>
          <a:solidFill>
            <a:srgbClr val="0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1216152" y="4974336"/>
            <a:ext cx="1773936" cy="228600"/>
          </a:xfrm>
          <a:prstGeom prst="rect">
            <a:avLst/>
          </a:prstGeom>
          <a:noFill/>
        </p:spPr>
        <p:txBody>
          <a:bodyPr wrap="square">
            <a:spAutoFit/>
          </a:bodyPr>
          <a:lstStyle/>
          <a:p>
            <a:pPr algn="ctr"/>
            <a:r>
              <a:rPr sz="1000" b="1" i="0">
                <a:solidFill>
                  <a:srgbClr val="FFFFFF"/>
                </a:solidFill>
              </a:rPr>
              <a:t>KRI</a:t>
            </a:r>
          </a:p>
        </p:txBody>
      </p:sp>
      <p:sp>
        <p:nvSpPr>
          <p:cNvPr id="25" name="Rectangle 24"/>
          <p:cNvSpPr/>
          <p:nvPr/>
        </p:nvSpPr>
        <p:spPr>
          <a:xfrm>
            <a:off x="3044952" y="4956048"/>
            <a:ext cx="1234440" cy="274320"/>
          </a:xfrm>
          <a:prstGeom prst="rect">
            <a:avLst/>
          </a:prstGeom>
          <a:solidFill>
            <a:srgbClr val="0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3081528" y="4974336"/>
            <a:ext cx="1179576" cy="228600"/>
          </a:xfrm>
          <a:prstGeom prst="rect">
            <a:avLst/>
          </a:prstGeom>
          <a:noFill/>
        </p:spPr>
        <p:txBody>
          <a:bodyPr wrap="square">
            <a:spAutoFit/>
          </a:bodyPr>
          <a:lstStyle/>
          <a:p>
            <a:pPr algn="ctr"/>
            <a:r>
              <a:rPr sz="1000" b="1" i="0" dirty="0">
                <a:solidFill>
                  <a:srgbClr val="FFFFFF"/>
                </a:solidFill>
              </a:rPr>
              <a:t>L3 — Green</a:t>
            </a:r>
          </a:p>
        </p:txBody>
      </p:sp>
      <p:sp>
        <p:nvSpPr>
          <p:cNvPr id="27" name="Rectangle 26"/>
          <p:cNvSpPr/>
          <p:nvPr/>
        </p:nvSpPr>
        <p:spPr>
          <a:xfrm>
            <a:off x="4315968" y="4956048"/>
            <a:ext cx="1234440" cy="274320"/>
          </a:xfrm>
          <a:prstGeom prst="rect">
            <a:avLst/>
          </a:prstGeom>
          <a:solidFill>
            <a:srgbClr val="0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4352544" y="4974336"/>
            <a:ext cx="1179576" cy="228600"/>
          </a:xfrm>
          <a:prstGeom prst="rect">
            <a:avLst/>
          </a:prstGeom>
          <a:noFill/>
        </p:spPr>
        <p:txBody>
          <a:bodyPr wrap="square">
            <a:spAutoFit/>
          </a:bodyPr>
          <a:lstStyle/>
          <a:p>
            <a:pPr algn="ctr"/>
            <a:r>
              <a:rPr sz="1000" b="1" i="0">
                <a:solidFill>
                  <a:srgbClr val="FFFFFF"/>
                </a:solidFill>
              </a:rPr>
              <a:t>L2 — Amber</a:t>
            </a:r>
          </a:p>
        </p:txBody>
      </p:sp>
      <p:sp>
        <p:nvSpPr>
          <p:cNvPr id="29" name="Rectangle 28"/>
          <p:cNvSpPr/>
          <p:nvPr/>
        </p:nvSpPr>
        <p:spPr>
          <a:xfrm>
            <a:off x="5586984" y="4956048"/>
            <a:ext cx="1234440" cy="274320"/>
          </a:xfrm>
          <a:prstGeom prst="rect">
            <a:avLst/>
          </a:prstGeom>
          <a:solidFill>
            <a:srgbClr val="0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5623560" y="4974336"/>
            <a:ext cx="1179576" cy="228600"/>
          </a:xfrm>
          <a:prstGeom prst="rect">
            <a:avLst/>
          </a:prstGeom>
          <a:noFill/>
        </p:spPr>
        <p:txBody>
          <a:bodyPr wrap="square">
            <a:spAutoFit/>
          </a:bodyPr>
          <a:lstStyle/>
          <a:p>
            <a:pPr algn="ctr"/>
            <a:r>
              <a:rPr sz="1000" b="1" i="0">
                <a:solidFill>
                  <a:srgbClr val="FFFFFF"/>
                </a:solidFill>
              </a:rPr>
              <a:t>L1 — Red</a:t>
            </a:r>
          </a:p>
        </p:txBody>
      </p:sp>
      <p:sp>
        <p:nvSpPr>
          <p:cNvPr id="31" name="Rectangle 30"/>
          <p:cNvSpPr/>
          <p:nvPr/>
        </p:nvSpPr>
        <p:spPr>
          <a:xfrm>
            <a:off x="411480" y="5257800"/>
            <a:ext cx="731520" cy="32004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448056" y="5276088"/>
            <a:ext cx="676656" cy="274320"/>
          </a:xfrm>
          <a:prstGeom prst="rect">
            <a:avLst/>
          </a:prstGeom>
          <a:noFill/>
        </p:spPr>
        <p:txBody>
          <a:bodyPr wrap="square">
            <a:spAutoFit/>
          </a:bodyPr>
          <a:lstStyle/>
          <a:p>
            <a:pPr algn="ctr"/>
            <a:r>
              <a:rPr sz="1000" b="0" i="0">
                <a:solidFill>
                  <a:srgbClr val="0A1A2E"/>
                </a:solidFill>
              </a:rPr>
              <a:t>Risk 1</a:t>
            </a:r>
          </a:p>
        </p:txBody>
      </p:sp>
      <p:sp>
        <p:nvSpPr>
          <p:cNvPr id="33" name="Rectangle 32"/>
          <p:cNvSpPr/>
          <p:nvPr/>
        </p:nvSpPr>
        <p:spPr>
          <a:xfrm>
            <a:off x="1179576" y="5257800"/>
            <a:ext cx="1828800" cy="32004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1216152" y="5276088"/>
            <a:ext cx="1773936" cy="274320"/>
          </a:xfrm>
          <a:prstGeom prst="rect">
            <a:avLst/>
          </a:prstGeom>
          <a:noFill/>
        </p:spPr>
        <p:txBody>
          <a:bodyPr wrap="square">
            <a:spAutoFit/>
          </a:bodyPr>
          <a:lstStyle/>
          <a:p>
            <a:pPr algn="ctr"/>
            <a:r>
              <a:rPr sz="1000" b="0" i="0">
                <a:solidFill>
                  <a:srgbClr val="0A1A2E"/>
                </a:solidFill>
              </a:rPr>
              <a:t>Monthly merchant loss</a:t>
            </a:r>
          </a:p>
        </p:txBody>
      </p:sp>
      <p:sp>
        <p:nvSpPr>
          <p:cNvPr id="35" name="Rectangle 34"/>
          <p:cNvSpPr/>
          <p:nvPr/>
        </p:nvSpPr>
        <p:spPr>
          <a:xfrm>
            <a:off x="3044952" y="5257800"/>
            <a:ext cx="1234440" cy="32004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3081528" y="5276088"/>
            <a:ext cx="1179576" cy="274320"/>
          </a:xfrm>
          <a:prstGeom prst="rect">
            <a:avLst/>
          </a:prstGeom>
          <a:noFill/>
        </p:spPr>
        <p:txBody>
          <a:bodyPr wrap="square">
            <a:spAutoFit/>
          </a:bodyPr>
          <a:lstStyle/>
          <a:p>
            <a:pPr algn="ctr"/>
            <a:r>
              <a:rPr sz="1000" b="0" i="0">
                <a:solidFill>
                  <a:srgbClr val="0A1A2E"/>
                </a:solidFill>
              </a:rPr>
              <a:t>🟢 &lt;1%</a:t>
            </a:r>
          </a:p>
        </p:txBody>
      </p:sp>
      <p:sp>
        <p:nvSpPr>
          <p:cNvPr id="37" name="Rectangle 36"/>
          <p:cNvSpPr/>
          <p:nvPr/>
        </p:nvSpPr>
        <p:spPr>
          <a:xfrm>
            <a:off x="4315968" y="5257800"/>
            <a:ext cx="1234440" cy="32004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4352544" y="5276088"/>
            <a:ext cx="1179576" cy="274320"/>
          </a:xfrm>
          <a:prstGeom prst="rect">
            <a:avLst/>
          </a:prstGeom>
          <a:noFill/>
        </p:spPr>
        <p:txBody>
          <a:bodyPr wrap="square">
            <a:spAutoFit/>
          </a:bodyPr>
          <a:lstStyle/>
          <a:p>
            <a:pPr algn="ctr"/>
            <a:r>
              <a:rPr sz="1000" b="0" i="0">
                <a:solidFill>
                  <a:srgbClr val="0A1A2E"/>
                </a:solidFill>
              </a:rPr>
              <a:t>🟡 1–2%</a:t>
            </a:r>
          </a:p>
        </p:txBody>
      </p:sp>
      <p:sp>
        <p:nvSpPr>
          <p:cNvPr id="39" name="Rectangle 38"/>
          <p:cNvSpPr/>
          <p:nvPr/>
        </p:nvSpPr>
        <p:spPr>
          <a:xfrm>
            <a:off x="5586984" y="5257800"/>
            <a:ext cx="1234440" cy="32004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5623560" y="5276088"/>
            <a:ext cx="1179576" cy="274320"/>
          </a:xfrm>
          <a:prstGeom prst="rect">
            <a:avLst/>
          </a:prstGeom>
          <a:noFill/>
        </p:spPr>
        <p:txBody>
          <a:bodyPr wrap="square">
            <a:spAutoFit/>
          </a:bodyPr>
          <a:lstStyle/>
          <a:p>
            <a:pPr algn="ctr"/>
            <a:r>
              <a:rPr sz="1000" b="0" i="0">
                <a:solidFill>
                  <a:srgbClr val="0A1A2E"/>
                </a:solidFill>
              </a:rPr>
              <a:t>🔴 &gt;2%</a:t>
            </a:r>
          </a:p>
        </p:txBody>
      </p:sp>
      <p:sp>
        <p:nvSpPr>
          <p:cNvPr id="41" name="Rectangle 40"/>
          <p:cNvSpPr/>
          <p:nvPr/>
        </p:nvSpPr>
        <p:spPr>
          <a:xfrm>
            <a:off x="411480" y="5605272"/>
            <a:ext cx="731520" cy="3200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448056" y="5623559"/>
            <a:ext cx="676656" cy="274320"/>
          </a:xfrm>
          <a:prstGeom prst="rect">
            <a:avLst/>
          </a:prstGeom>
          <a:noFill/>
        </p:spPr>
        <p:txBody>
          <a:bodyPr wrap="square">
            <a:spAutoFit/>
          </a:bodyPr>
          <a:lstStyle/>
          <a:p>
            <a:pPr algn="ctr"/>
            <a:r>
              <a:rPr sz="1000" b="0" i="0">
                <a:solidFill>
                  <a:srgbClr val="0A1A2E"/>
                </a:solidFill>
              </a:rPr>
              <a:t>Risk 2</a:t>
            </a:r>
          </a:p>
        </p:txBody>
      </p:sp>
      <p:sp>
        <p:nvSpPr>
          <p:cNvPr id="43" name="Rectangle 42"/>
          <p:cNvSpPr/>
          <p:nvPr/>
        </p:nvSpPr>
        <p:spPr>
          <a:xfrm>
            <a:off x="1179576" y="5605272"/>
            <a:ext cx="1828800" cy="3200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1216152" y="5623559"/>
            <a:ext cx="1773936" cy="274320"/>
          </a:xfrm>
          <a:prstGeom prst="rect">
            <a:avLst/>
          </a:prstGeom>
          <a:noFill/>
        </p:spPr>
        <p:txBody>
          <a:bodyPr wrap="square">
            <a:spAutoFit/>
          </a:bodyPr>
          <a:lstStyle/>
          <a:p>
            <a:pPr algn="ctr"/>
            <a:r>
              <a:rPr sz="1000" b="0" i="0">
                <a:solidFill>
                  <a:srgbClr val="0A1A2E"/>
                </a:solidFill>
              </a:rPr>
              <a:t>Regulatory inquiries</a:t>
            </a:r>
          </a:p>
        </p:txBody>
      </p:sp>
      <p:sp>
        <p:nvSpPr>
          <p:cNvPr id="45" name="Rectangle 44"/>
          <p:cNvSpPr/>
          <p:nvPr/>
        </p:nvSpPr>
        <p:spPr>
          <a:xfrm>
            <a:off x="3044952" y="5605272"/>
            <a:ext cx="1234440" cy="3200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3081528" y="5623559"/>
            <a:ext cx="1179576" cy="274320"/>
          </a:xfrm>
          <a:prstGeom prst="rect">
            <a:avLst/>
          </a:prstGeom>
          <a:noFill/>
        </p:spPr>
        <p:txBody>
          <a:bodyPr wrap="square">
            <a:spAutoFit/>
          </a:bodyPr>
          <a:lstStyle/>
          <a:p>
            <a:pPr algn="ctr"/>
            <a:r>
              <a:rPr sz="1000" b="0" i="0">
                <a:solidFill>
                  <a:srgbClr val="0A1A2E"/>
                </a:solidFill>
              </a:rPr>
              <a:t>🟢 0</a:t>
            </a:r>
          </a:p>
        </p:txBody>
      </p:sp>
      <p:sp>
        <p:nvSpPr>
          <p:cNvPr id="47" name="Rectangle 46"/>
          <p:cNvSpPr/>
          <p:nvPr/>
        </p:nvSpPr>
        <p:spPr>
          <a:xfrm>
            <a:off x="4315968" y="5605272"/>
            <a:ext cx="1234440" cy="3200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4352544" y="5623559"/>
            <a:ext cx="1179576" cy="274320"/>
          </a:xfrm>
          <a:prstGeom prst="rect">
            <a:avLst/>
          </a:prstGeom>
          <a:noFill/>
        </p:spPr>
        <p:txBody>
          <a:bodyPr wrap="square">
            <a:spAutoFit/>
          </a:bodyPr>
          <a:lstStyle/>
          <a:p>
            <a:pPr algn="ctr"/>
            <a:r>
              <a:rPr sz="1000" b="0" i="0">
                <a:solidFill>
                  <a:srgbClr val="0A1A2E"/>
                </a:solidFill>
              </a:rPr>
              <a:t>🟡 1 in 90d</a:t>
            </a:r>
          </a:p>
        </p:txBody>
      </p:sp>
      <p:sp>
        <p:nvSpPr>
          <p:cNvPr id="49" name="Rectangle 48"/>
          <p:cNvSpPr/>
          <p:nvPr/>
        </p:nvSpPr>
        <p:spPr>
          <a:xfrm>
            <a:off x="5586984" y="5605272"/>
            <a:ext cx="1234440" cy="3200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5623560" y="5623559"/>
            <a:ext cx="1179576" cy="274320"/>
          </a:xfrm>
          <a:prstGeom prst="rect">
            <a:avLst/>
          </a:prstGeom>
          <a:noFill/>
        </p:spPr>
        <p:txBody>
          <a:bodyPr wrap="square">
            <a:spAutoFit/>
          </a:bodyPr>
          <a:lstStyle/>
          <a:p>
            <a:pPr algn="ctr"/>
            <a:r>
              <a:rPr sz="1000" b="0" i="0">
                <a:solidFill>
                  <a:srgbClr val="0A1A2E"/>
                </a:solidFill>
              </a:rPr>
              <a:t>🔴 Formal action</a:t>
            </a:r>
          </a:p>
        </p:txBody>
      </p:sp>
      <p:sp>
        <p:nvSpPr>
          <p:cNvPr id="51" name="Rectangle 50"/>
          <p:cNvSpPr/>
          <p:nvPr/>
        </p:nvSpPr>
        <p:spPr>
          <a:xfrm>
            <a:off x="411480" y="5952744"/>
            <a:ext cx="731520" cy="32004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448056" y="5971031"/>
            <a:ext cx="676656" cy="274320"/>
          </a:xfrm>
          <a:prstGeom prst="rect">
            <a:avLst/>
          </a:prstGeom>
          <a:noFill/>
        </p:spPr>
        <p:txBody>
          <a:bodyPr wrap="square">
            <a:spAutoFit/>
          </a:bodyPr>
          <a:lstStyle/>
          <a:p>
            <a:pPr algn="ctr"/>
            <a:r>
              <a:rPr sz="1000" b="0" i="0">
                <a:solidFill>
                  <a:srgbClr val="0A1A2E"/>
                </a:solidFill>
              </a:rPr>
              <a:t>Risk 3+</a:t>
            </a:r>
          </a:p>
        </p:txBody>
      </p:sp>
      <p:sp>
        <p:nvSpPr>
          <p:cNvPr id="53" name="Rectangle 52"/>
          <p:cNvSpPr/>
          <p:nvPr/>
        </p:nvSpPr>
        <p:spPr>
          <a:xfrm>
            <a:off x="1179576" y="5952744"/>
            <a:ext cx="1828800" cy="32004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1216152" y="5971031"/>
            <a:ext cx="1773936" cy="274320"/>
          </a:xfrm>
          <a:prstGeom prst="rect">
            <a:avLst/>
          </a:prstGeom>
          <a:noFill/>
        </p:spPr>
        <p:txBody>
          <a:bodyPr wrap="square">
            <a:spAutoFit/>
          </a:bodyPr>
          <a:lstStyle/>
          <a:p>
            <a:pPr algn="ctr"/>
            <a:r>
              <a:rPr sz="1000" b="0" i="0">
                <a:solidFill>
                  <a:srgbClr val="0A1A2E"/>
                </a:solidFill>
              </a:rPr>
              <a:t>New merchant signups</a:t>
            </a:r>
          </a:p>
        </p:txBody>
      </p:sp>
      <p:sp>
        <p:nvSpPr>
          <p:cNvPr id="55" name="Rectangle 54"/>
          <p:cNvSpPr/>
          <p:nvPr/>
        </p:nvSpPr>
        <p:spPr>
          <a:xfrm>
            <a:off x="3044952" y="5952744"/>
            <a:ext cx="1234440" cy="32004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3081528" y="5971031"/>
            <a:ext cx="1179576" cy="274320"/>
          </a:xfrm>
          <a:prstGeom prst="rect">
            <a:avLst/>
          </a:prstGeom>
          <a:noFill/>
        </p:spPr>
        <p:txBody>
          <a:bodyPr wrap="square">
            <a:spAutoFit/>
          </a:bodyPr>
          <a:lstStyle/>
          <a:p>
            <a:pPr algn="ctr"/>
            <a:r>
              <a:rPr sz="1000" b="0" i="0">
                <a:solidFill>
                  <a:srgbClr val="0A1A2E"/>
                </a:solidFill>
              </a:rPr>
              <a:t>🔴 &lt;5%</a:t>
            </a:r>
          </a:p>
        </p:txBody>
      </p:sp>
      <p:sp>
        <p:nvSpPr>
          <p:cNvPr id="57" name="Rectangle 56"/>
          <p:cNvSpPr/>
          <p:nvPr/>
        </p:nvSpPr>
        <p:spPr>
          <a:xfrm>
            <a:off x="4315968" y="5952744"/>
            <a:ext cx="1234440" cy="32004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4352544" y="5971031"/>
            <a:ext cx="1179576" cy="274320"/>
          </a:xfrm>
          <a:prstGeom prst="rect">
            <a:avLst/>
          </a:prstGeom>
          <a:noFill/>
        </p:spPr>
        <p:txBody>
          <a:bodyPr wrap="square">
            <a:spAutoFit/>
          </a:bodyPr>
          <a:lstStyle/>
          <a:p>
            <a:pPr algn="ctr"/>
            <a:r>
              <a:rPr sz="1000" b="0" i="0">
                <a:solidFill>
                  <a:srgbClr val="0A1A2E"/>
                </a:solidFill>
              </a:rPr>
              <a:t>🟡 5–15%</a:t>
            </a:r>
          </a:p>
        </p:txBody>
      </p:sp>
      <p:sp>
        <p:nvSpPr>
          <p:cNvPr id="59" name="Rectangle 58"/>
          <p:cNvSpPr/>
          <p:nvPr/>
        </p:nvSpPr>
        <p:spPr>
          <a:xfrm>
            <a:off x="5586984" y="5952744"/>
            <a:ext cx="1234440" cy="32004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5623560" y="5971031"/>
            <a:ext cx="1179576" cy="274320"/>
          </a:xfrm>
          <a:prstGeom prst="rect">
            <a:avLst/>
          </a:prstGeom>
          <a:noFill/>
        </p:spPr>
        <p:txBody>
          <a:bodyPr wrap="square">
            <a:spAutoFit/>
          </a:bodyPr>
          <a:lstStyle/>
          <a:p>
            <a:pPr algn="ctr"/>
            <a:r>
              <a:rPr sz="1000" b="0" i="0">
                <a:solidFill>
                  <a:srgbClr val="0A1A2E"/>
                </a:solidFill>
              </a:rPr>
              <a:t>🟢 &gt;15% growth</a:t>
            </a:r>
          </a:p>
        </p:txBody>
      </p:sp>
      <p:sp>
        <p:nvSpPr>
          <p:cNvPr id="61" name="Rectangle 60"/>
          <p:cNvSpPr/>
          <p:nvPr/>
        </p:nvSpPr>
        <p:spPr>
          <a:xfrm>
            <a:off x="6263640" y="1508760"/>
            <a:ext cx="5577840" cy="3165296"/>
          </a:xfrm>
          <a:prstGeom prst="rect">
            <a:avLst/>
          </a:prstGeom>
          <a:solidFill>
            <a:srgbClr val="FFFFFF"/>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6446520" y="1645920"/>
            <a:ext cx="5212080" cy="320040"/>
          </a:xfrm>
          <a:prstGeom prst="rect">
            <a:avLst/>
          </a:prstGeom>
          <a:noFill/>
        </p:spPr>
        <p:txBody>
          <a:bodyPr wrap="square">
            <a:spAutoFit/>
          </a:bodyPr>
          <a:lstStyle/>
          <a:p>
            <a:pPr algn="l"/>
            <a:r>
              <a:rPr sz="1400" b="1" i="0">
                <a:solidFill>
                  <a:srgbClr val="008C5A"/>
                </a:solidFill>
              </a:rPr>
              <a:t>Simulation Design</a:t>
            </a:r>
          </a:p>
        </p:txBody>
      </p:sp>
      <p:sp>
        <p:nvSpPr>
          <p:cNvPr id="63" name="TextBox 62"/>
          <p:cNvSpPr txBox="1"/>
          <p:nvPr/>
        </p:nvSpPr>
        <p:spPr>
          <a:xfrm>
            <a:off x="6446520" y="2084831"/>
            <a:ext cx="5212080" cy="269304"/>
          </a:xfrm>
          <a:prstGeom prst="rect">
            <a:avLst/>
          </a:prstGeom>
          <a:noFill/>
        </p:spPr>
        <p:txBody>
          <a:bodyPr wrap="square">
            <a:spAutoFit/>
          </a:bodyPr>
          <a:lstStyle/>
          <a:p>
            <a:pPr algn="l"/>
            <a:r>
              <a:rPr sz="1150" b="0" i="0" dirty="0">
                <a:solidFill>
                  <a:srgbClr val="0A1A2E"/>
                </a:solidFill>
              </a:rPr>
              <a:t>·  10,000 Monte Carlo iterations per risk</a:t>
            </a:r>
            <a:r>
              <a:rPr lang="es-CL" sz="1150" b="0" i="0" dirty="0">
                <a:solidFill>
                  <a:srgbClr val="0A1A2E"/>
                </a:solidFill>
              </a:rPr>
              <a:t>.</a:t>
            </a:r>
            <a:endParaRPr sz="1150" b="0" i="0" dirty="0">
              <a:solidFill>
                <a:srgbClr val="0A1A2E"/>
              </a:solidFill>
            </a:endParaRPr>
          </a:p>
        </p:txBody>
      </p:sp>
      <p:sp>
        <p:nvSpPr>
          <p:cNvPr id="64" name="TextBox 63"/>
          <p:cNvSpPr txBox="1"/>
          <p:nvPr/>
        </p:nvSpPr>
        <p:spPr>
          <a:xfrm>
            <a:off x="6446520" y="2372868"/>
            <a:ext cx="5212080" cy="269304"/>
          </a:xfrm>
          <a:prstGeom prst="rect">
            <a:avLst/>
          </a:prstGeom>
          <a:noFill/>
        </p:spPr>
        <p:txBody>
          <a:bodyPr wrap="square">
            <a:spAutoFit/>
          </a:bodyPr>
          <a:lstStyle/>
          <a:p>
            <a:pPr algn="l"/>
            <a:r>
              <a:rPr sz="1150" b="0" i="0" dirty="0">
                <a:solidFill>
                  <a:srgbClr val="0A1A2E"/>
                </a:solidFill>
              </a:rPr>
              <a:t>·  Input distributions calibrated from Shopify Q1–Q4 2025 financial data</a:t>
            </a:r>
            <a:r>
              <a:rPr lang="es-CL" sz="1150" b="0" i="0" dirty="0">
                <a:solidFill>
                  <a:srgbClr val="0A1A2E"/>
                </a:solidFill>
              </a:rPr>
              <a:t>.</a:t>
            </a:r>
            <a:endParaRPr sz="1150" b="0" i="0" dirty="0">
              <a:solidFill>
                <a:srgbClr val="0A1A2E"/>
              </a:solidFill>
            </a:endParaRPr>
          </a:p>
        </p:txBody>
      </p:sp>
      <p:sp>
        <p:nvSpPr>
          <p:cNvPr id="65" name="TextBox 64"/>
          <p:cNvSpPr txBox="1"/>
          <p:nvPr/>
        </p:nvSpPr>
        <p:spPr>
          <a:xfrm>
            <a:off x="6446520" y="2720340"/>
            <a:ext cx="5212080" cy="269304"/>
          </a:xfrm>
          <a:prstGeom prst="rect">
            <a:avLst/>
          </a:prstGeom>
          <a:noFill/>
        </p:spPr>
        <p:txBody>
          <a:bodyPr wrap="square">
            <a:spAutoFit/>
          </a:bodyPr>
          <a:lstStyle/>
          <a:p>
            <a:pPr algn="l"/>
            <a:r>
              <a:rPr sz="1150" b="0" i="0" dirty="0">
                <a:solidFill>
                  <a:srgbClr val="0A1A2E"/>
                </a:solidFill>
              </a:rPr>
              <a:t>·  Risk 1 uses triangular distribution for merchant churn rates</a:t>
            </a:r>
            <a:r>
              <a:rPr lang="es-CL" sz="1150" b="0" i="0" dirty="0">
                <a:solidFill>
                  <a:srgbClr val="0A1A2E"/>
                </a:solidFill>
              </a:rPr>
              <a:t>.</a:t>
            </a:r>
            <a:endParaRPr sz="1150" b="0" i="0" dirty="0">
              <a:solidFill>
                <a:srgbClr val="0A1A2E"/>
              </a:solidFill>
            </a:endParaRPr>
          </a:p>
        </p:txBody>
      </p:sp>
      <p:sp>
        <p:nvSpPr>
          <p:cNvPr id="66" name="TextBox 65"/>
          <p:cNvSpPr txBox="1"/>
          <p:nvPr/>
        </p:nvSpPr>
        <p:spPr>
          <a:xfrm>
            <a:off x="6446520" y="3067812"/>
            <a:ext cx="5212080" cy="269304"/>
          </a:xfrm>
          <a:prstGeom prst="rect">
            <a:avLst/>
          </a:prstGeom>
          <a:noFill/>
        </p:spPr>
        <p:txBody>
          <a:bodyPr wrap="square">
            <a:spAutoFit/>
          </a:bodyPr>
          <a:lstStyle/>
          <a:p>
            <a:pPr algn="l"/>
            <a:r>
              <a:rPr sz="1150" b="0" i="0" dirty="0">
                <a:solidFill>
                  <a:srgbClr val="0A1A2E"/>
                </a:solidFill>
              </a:rPr>
              <a:t>·  Risk 2 uses uniform distribution for GDPR fine magnitudes</a:t>
            </a:r>
            <a:r>
              <a:rPr lang="es-CL" sz="1150" b="0" i="0" dirty="0">
                <a:solidFill>
                  <a:srgbClr val="0A1A2E"/>
                </a:solidFill>
              </a:rPr>
              <a:t>.</a:t>
            </a:r>
            <a:endParaRPr sz="1150" b="0" i="0" dirty="0">
              <a:solidFill>
                <a:srgbClr val="0A1A2E"/>
              </a:solidFill>
            </a:endParaRPr>
          </a:p>
        </p:txBody>
      </p:sp>
      <p:sp>
        <p:nvSpPr>
          <p:cNvPr id="67" name="TextBox 66"/>
          <p:cNvSpPr txBox="1"/>
          <p:nvPr/>
        </p:nvSpPr>
        <p:spPr>
          <a:xfrm>
            <a:off x="6446520" y="3378709"/>
            <a:ext cx="5212080" cy="269304"/>
          </a:xfrm>
          <a:prstGeom prst="rect">
            <a:avLst/>
          </a:prstGeom>
          <a:noFill/>
        </p:spPr>
        <p:txBody>
          <a:bodyPr wrap="square">
            <a:spAutoFit/>
          </a:bodyPr>
          <a:lstStyle/>
          <a:p>
            <a:pPr algn="l"/>
            <a:r>
              <a:rPr sz="1150" b="0" i="0" dirty="0">
                <a:solidFill>
                  <a:srgbClr val="0A1A2E"/>
                </a:solidFill>
              </a:rPr>
              <a:t>·  Risk 3 uses normal distribution for incremental ARR capture</a:t>
            </a:r>
            <a:r>
              <a:rPr lang="es-CL" sz="1150" b="0" i="0" dirty="0">
                <a:solidFill>
                  <a:srgbClr val="0A1A2E"/>
                </a:solidFill>
              </a:rPr>
              <a:t>.</a:t>
            </a:r>
            <a:endParaRPr sz="1150" b="0" i="0" dirty="0">
              <a:solidFill>
                <a:srgbClr val="0A1A2E"/>
              </a:solidFill>
            </a:endParaRPr>
          </a:p>
        </p:txBody>
      </p:sp>
      <p:sp>
        <p:nvSpPr>
          <p:cNvPr id="68" name="TextBox 67"/>
          <p:cNvSpPr txBox="1"/>
          <p:nvPr/>
        </p:nvSpPr>
        <p:spPr>
          <a:xfrm>
            <a:off x="6446520" y="3707892"/>
            <a:ext cx="5212080" cy="269304"/>
          </a:xfrm>
          <a:prstGeom prst="rect">
            <a:avLst/>
          </a:prstGeom>
          <a:noFill/>
        </p:spPr>
        <p:txBody>
          <a:bodyPr wrap="square">
            <a:spAutoFit/>
          </a:bodyPr>
          <a:lstStyle/>
          <a:p>
            <a:pPr algn="l"/>
            <a:r>
              <a:rPr sz="1150" b="0" i="0" dirty="0">
                <a:solidFill>
                  <a:srgbClr val="0A1A2E"/>
                </a:solidFill>
              </a:rPr>
              <a:t>·  I&amp;W L1/L2 thresholds set from KRI definitions in Assignment 2</a:t>
            </a:r>
            <a:r>
              <a:rPr lang="es-CL" sz="1150" b="0" i="0" dirty="0">
                <a:solidFill>
                  <a:srgbClr val="0A1A2E"/>
                </a:solidFill>
              </a:rPr>
              <a:t>.</a:t>
            </a:r>
            <a:endParaRPr sz="1150" b="0" i="0" dirty="0">
              <a:solidFill>
                <a:srgbClr val="0A1A2E"/>
              </a:solidFill>
            </a:endParaRPr>
          </a:p>
        </p:txBody>
      </p:sp>
      <p:sp>
        <p:nvSpPr>
          <p:cNvPr id="69" name="TextBox 68"/>
          <p:cNvSpPr txBox="1"/>
          <p:nvPr/>
        </p:nvSpPr>
        <p:spPr>
          <a:xfrm>
            <a:off x="6519545" y="4137845"/>
            <a:ext cx="5212080" cy="594360"/>
          </a:xfrm>
          <a:prstGeom prst="rect">
            <a:avLst/>
          </a:prstGeom>
          <a:noFill/>
        </p:spPr>
        <p:txBody>
          <a:bodyPr wrap="square">
            <a:spAutoFit/>
          </a:bodyPr>
          <a:lstStyle/>
          <a:p>
            <a:pPr algn="l"/>
            <a:r>
              <a:rPr sz="1100" b="1" i="1" dirty="0">
                <a:solidFill>
                  <a:srgbClr val="1A4A3A"/>
                </a:solidFill>
              </a:rPr>
              <a:t>Replacing single-point estimates with full distributions enables probability-weighted resource allocation over intuition-based ranking.</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280160"/>
          </a:xfrm>
          <a:prstGeom prst="rect">
            <a:avLst/>
          </a:prstGeom>
          <a:solidFill>
            <a:schemeClr val="accent5">
              <a:lumMod val="5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182880"/>
            <a:ext cx="10972800" cy="553998"/>
          </a:xfrm>
          <a:prstGeom prst="rect">
            <a:avLst/>
          </a:prstGeom>
          <a:noFill/>
        </p:spPr>
        <p:txBody>
          <a:bodyPr wrap="square">
            <a:spAutoFit/>
          </a:bodyPr>
          <a:lstStyle/>
          <a:p>
            <a:r>
              <a:rPr lang="es-CL" sz="3000" b="1" dirty="0">
                <a:solidFill>
                  <a:srgbClr val="FFFFFF"/>
                </a:solidFill>
              </a:rPr>
              <a:t>Merchant </a:t>
            </a:r>
            <a:r>
              <a:rPr lang="es-CL" sz="3000" b="1" dirty="0" err="1">
                <a:solidFill>
                  <a:srgbClr val="FFFFFF"/>
                </a:solidFill>
              </a:rPr>
              <a:t>Retention</a:t>
            </a:r>
            <a:r>
              <a:rPr lang="es-CL" sz="3000" b="1" dirty="0">
                <a:solidFill>
                  <a:srgbClr val="FFFFFF"/>
                </a:solidFill>
              </a:rPr>
              <a:t>: </a:t>
            </a:r>
            <a:r>
              <a:rPr lang="es-CL" sz="3000" b="1" dirty="0" err="1">
                <a:solidFill>
                  <a:srgbClr val="FFFFFF"/>
                </a:solidFill>
              </a:rPr>
              <a:t>Mitigation</a:t>
            </a:r>
            <a:r>
              <a:rPr lang="es-CL" sz="3000" b="1" dirty="0">
                <a:solidFill>
                  <a:srgbClr val="FFFFFF"/>
                </a:solidFill>
              </a:rPr>
              <a:t> Plan &amp; Response </a:t>
            </a:r>
            <a:r>
              <a:rPr lang="es-CL" sz="3000" b="1" dirty="0" err="1">
                <a:solidFill>
                  <a:srgbClr val="FFFFFF"/>
                </a:solidFill>
              </a:rPr>
              <a:t>Protocol</a:t>
            </a:r>
            <a:endParaRPr sz="3000" b="1" dirty="0">
              <a:solidFill>
                <a:srgbClr val="FFFFFF"/>
              </a:solidFill>
            </a:endParaRPr>
          </a:p>
        </p:txBody>
      </p:sp>
      <p:sp>
        <p:nvSpPr>
          <p:cNvPr id="5" name="TextBox 4"/>
          <p:cNvSpPr txBox="1"/>
          <p:nvPr/>
        </p:nvSpPr>
        <p:spPr>
          <a:xfrm>
            <a:off x="365760" y="914400"/>
            <a:ext cx="10972800" cy="365760"/>
          </a:xfrm>
          <a:prstGeom prst="rect">
            <a:avLst/>
          </a:prstGeom>
          <a:noFill/>
        </p:spPr>
        <p:txBody>
          <a:bodyPr wrap="square">
            <a:spAutoFit/>
          </a:bodyPr>
          <a:lstStyle/>
          <a:p>
            <a:pPr algn="l"/>
            <a:r>
              <a:rPr sz="1300" b="0" i="0">
                <a:solidFill>
                  <a:srgbClr val="E8F5EE"/>
                </a:solidFill>
              </a:rPr>
              <a:t>Part 3 · Ekene Onyemanjo</a:t>
            </a:r>
          </a:p>
        </p:txBody>
      </p:sp>
      <p:sp>
        <p:nvSpPr>
          <p:cNvPr id="6" name="Rectangle 5"/>
          <p:cNvSpPr/>
          <p:nvPr/>
        </p:nvSpPr>
        <p:spPr>
          <a:xfrm>
            <a:off x="274320" y="1508760"/>
            <a:ext cx="5577840" cy="4983480"/>
          </a:xfrm>
          <a:prstGeom prst="rect">
            <a:avLst/>
          </a:prstGeom>
          <a:solidFill>
            <a:srgbClr val="FFFFFF"/>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274320" y="1508760"/>
            <a:ext cx="5577840" cy="457200"/>
          </a:xfrm>
          <a:prstGeom prst="rect">
            <a:avLst/>
          </a:prstGeom>
          <a:solidFill>
            <a:srgbClr val="008C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11479" y="1554480"/>
            <a:ext cx="5303520" cy="347472"/>
          </a:xfrm>
          <a:prstGeom prst="rect">
            <a:avLst/>
          </a:prstGeom>
          <a:noFill/>
        </p:spPr>
        <p:txBody>
          <a:bodyPr wrap="square">
            <a:spAutoFit/>
          </a:bodyPr>
          <a:lstStyle/>
          <a:p>
            <a:pPr algn="l"/>
            <a:r>
              <a:rPr sz="1300" b="1" i="0">
                <a:solidFill>
                  <a:srgbClr val="FFFFFF"/>
                </a:solidFill>
              </a:rPr>
              <a:t>OPTIMAL STRATEGY</a:t>
            </a:r>
          </a:p>
        </p:txBody>
      </p:sp>
      <p:sp>
        <p:nvSpPr>
          <p:cNvPr id="9" name="TextBox 8"/>
          <p:cNvSpPr txBox="1"/>
          <p:nvPr/>
        </p:nvSpPr>
        <p:spPr>
          <a:xfrm>
            <a:off x="411479" y="2084831"/>
            <a:ext cx="5303520" cy="320040"/>
          </a:xfrm>
          <a:prstGeom prst="rect">
            <a:avLst/>
          </a:prstGeom>
          <a:noFill/>
        </p:spPr>
        <p:txBody>
          <a:bodyPr wrap="square">
            <a:spAutoFit/>
          </a:bodyPr>
          <a:lstStyle/>
          <a:p>
            <a:pPr algn="l"/>
            <a:r>
              <a:rPr sz="1200" b="1" i="0">
                <a:solidFill>
                  <a:srgbClr val="008C5A"/>
                </a:solidFill>
              </a:rPr>
              <a:t>Phased Rollout Protocol</a:t>
            </a:r>
          </a:p>
        </p:txBody>
      </p:sp>
      <p:sp>
        <p:nvSpPr>
          <p:cNvPr id="10" name="TextBox 9"/>
          <p:cNvSpPr txBox="1"/>
          <p:nvPr/>
        </p:nvSpPr>
        <p:spPr>
          <a:xfrm>
            <a:off x="411479" y="2432303"/>
            <a:ext cx="5303520" cy="646331"/>
          </a:xfrm>
          <a:prstGeom prst="rect">
            <a:avLst/>
          </a:prstGeom>
          <a:noFill/>
        </p:spPr>
        <p:txBody>
          <a:bodyPr wrap="square">
            <a:spAutoFit/>
          </a:bodyPr>
          <a:lstStyle/>
          <a:p>
            <a:pPr algn="just"/>
            <a:r>
              <a:rPr sz="1200" b="0" i="0" dirty="0">
                <a:solidFill>
                  <a:srgbClr val="0A1A2E"/>
                </a:solidFill>
                <a:latin typeface="Calirbri"/>
              </a:rPr>
              <a:t>Deploy Vantage Discovery AI search in pilot cohort of 500 Shopify Plus merchants before full launch. Gate each phase on NPS score and churn metrics</a:t>
            </a:r>
            <a:r>
              <a:rPr lang="es-CL" sz="1200" b="0" i="0" dirty="0">
                <a:solidFill>
                  <a:srgbClr val="0A1A2E"/>
                </a:solidFill>
                <a:latin typeface="Calirbri"/>
              </a:rPr>
              <a:t>,</a:t>
            </a:r>
            <a:r>
              <a:rPr sz="1200" b="0" i="0" dirty="0">
                <a:solidFill>
                  <a:srgbClr val="0A1A2E"/>
                </a:solidFill>
                <a:latin typeface="Calirbri"/>
              </a:rPr>
              <a:t> only expand if KRIs remain green.</a:t>
            </a:r>
          </a:p>
        </p:txBody>
      </p:sp>
      <p:sp>
        <p:nvSpPr>
          <p:cNvPr id="11" name="TextBox 10"/>
          <p:cNvSpPr txBox="1"/>
          <p:nvPr/>
        </p:nvSpPr>
        <p:spPr>
          <a:xfrm>
            <a:off x="411479" y="3547872"/>
            <a:ext cx="5303520" cy="320040"/>
          </a:xfrm>
          <a:prstGeom prst="rect">
            <a:avLst/>
          </a:prstGeom>
          <a:noFill/>
        </p:spPr>
        <p:txBody>
          <a:bodyPr wrap="square">
            <a:spAutoFit/>
          </a:bodyPr>
          <a:lstStyle/>
          <a:p>
            <a:pPr algn="l"/>
            <a:r>
              <a:rPr sz="1200" b="1" i="0">
                <a:solidFill>
                  <a:srgbClr val="008C5A"/>
                </a:solidFill>
              </a:rPr>
              <a:t>Early Warning System</a:t>
            </a:r>
          </a:p>
        </p:txBody>
      </p:sp>
      <p:sp>
        <p:nvSpPr>
          <p:cNvPr id="12" name="TextBox 11"/>
          <p:cNvSpPr txBox="1"/>
          <p:nvPr/>
        </p:nvSpPr>
        <p:spPr>
          <a:xfrm>
            <a:off x="411479" y="3895344"/>
            <a:ext cx="5303520" cy="646331"/>
          </a:xfrm>
          <a:prstGeom prst="rect">
            <a:avLst/>
          </a:prstGeom>
          <a:noFill/>
        </p:spPr>
        <p:txBody>
          <a:bodyPr wrap="square">
            <a:spAutoFit/>
          </a:bodyPr>
          <a:lstStyle/>
          <a:p>
            <a:pPr algn="just"/>
            <a:r>
              <a:rPr sz="1200" b="0" i="0">
                <a:solidFill>
                  <a:srgbClr val="0A1A2E"/>
                </a:solidFill>
                <a:latin typeface="Calirbri"/>
              </a:rPr>
              <a:t>Automate monthly KRI review: if merchant MRR declines &gt;1% two consecutive months, trigger escalation to CTO. Proactive outreach to at-risk merchants before they make the move.</a:t>
            </a:r>
          </a:p>
        </p:txBody>
      </p:sp>
      <p:sp>
        <p:nvSpPr>
          <p:cNvPr id="13" name="TextBox 12"/>
          <p:cNvSpPr txBox="1"/>
          <p:nvPr/>
        </p:nvSpPr>
        <p:spPr>
          <a:xfrm>
            <a:off x="411479" y="5010912"/>
            <a:ext cx="5303520" cy="320040"/>
          </a:xfrm>
          <a:prstGeom prst="rect">
            <a:avLst/>
          </a:prstGeom>
          <a:noFill/>
        </p:spPr>
        <p:txBody>
          <a:bodyPr wrap="square">
            <a:spAutoFit/>
          </a:bodyPr>
          <a:lstStyle/>
          <a:p>
            <a:pPr algn="l"/>
            <a:r>
              <a:rPr sz="1200" b="1" i="0">
                <a:solidFill>
                  <a:srgbClr val="008C5A"/>
                </a:solidFill>
              </a:rPr>
              <a:t>Merchant Lock-In Value</a:t>
            </a:r>
          </a:p>
        </p:txBody>
      </p:sp>
      <p:sp>
        <p:nvSpPr>
          <p:cNvPr id="14" name="TextBox 13"/>
          <p:cNvSpPr txBox="1"/>
          <p:nvPr/>
        </p:nvSpPr>
        <p:spPr>
          <a:xfrm>
            <a:off x="411479" y="5358384"/>
            <a:ext cx="5303520" cy="646331"/>
          </a:xfrm>
          <a:prstGeom prst="rect">
            <a:avLst/>
          </a:prstGeom>
          <a:noFill/>
        </p:spPr>
        <p:txBody>
          <a:bodyPr wrap="square">
            <a:spAutoFit/>
          </a:bodyPr>
          <a:lstStyle/>
          <a:p>
            <a:pPr algn="just"/>
            <a:r>
              <a:rPr sz="1200" b="0" i="0" dirty="0">
                <a:solidFill>
                  <a:srgbClr val="0A1A2E"/>
                </a:solidFill>
                <a:latin typeface="Calirbri"/>
              </a:rPr>
              <a:t>Bundle Vantage Discovery AI search with Shopify Payments and Fulfillment Network</a:t>
            </a:r>
            <a:r>
              <a:rPr lang="es-CL" sz="1200" b="0" i="0" dirty="0">
                <a:solidFill>
                  <a:srgbClr val="0A1A2E"/>
                </a:solidFill>
                <a:latin typeface="Calirbri"/>
              </a:rPr>
              <a:t>,</a:t>
            </a:r>
            <a:r>
              <a:rPr sz="1200" b="0" i="0" dirty="0">
                <a:solidFill>
                  <a:srgbClr val="0A1A2E"/>
                </a:solidFill>
                <a:latin typeface="Calirbri"/>
              </a:rPr>
              <a:t> increasing switching costs for high-value merchants while delivering real performance uplift.</a:t>
            </a:r>
          </a:p>
        </p:txBody>
      </p:sp>
      <p:sp>
        <p:nvSpPr>
          <p:cNvPr id="15" name="Rectangle 14"/>
          <p:cNvSpPr/>
          <p:nvPr/>
        </p:nvSpPr>
        <p:spPr>
          <a:xfrm>
            <a:off x="6263640" y="1508760"/>
            <a:ext cx="5577840" cy="4983480"/>
          </a:xfrm>
          <a:prstGeom prst="rect">
            <a:avLst/>
          </a:prstGeom>
          <a:solidFill>
            <a:srgbClr val="FFFFFF"/>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6263640" y="1508760"/>
            <a:ext cx="5577840" cy="45720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400800" y="1554480"/>
            <a:ext cx="5303520" cy="347472"/>
          </a:xfrm>
          <a:prstGeom prst="rect">
            <a:avLst/>
          </a:prstGeom>
          <a:noFill/>
        </p:spPr>
        <p:txBody>
          <a:bodyPr wrap="square">
            <a:spAutoFit/>
          </a:bodyPr>
          <a:lstStyle/>
          <a:p>
            <a:pPr algn="l"/>
            <a:r>
              <a:rPr sz="1300" b="1" i="0">
                <a:solidFill>
                  <a:srgbClr val="FFFFFF"/>
                </a:solidFill>
              </a:rPr>
              <a:t>SUB-OPTIMAL STRATEGY</a:t>
            </a:r>
          </a:p>
        </p:txBody>
      </p:sp>
      <p:sp>
        <p:nvSpPr>
          <p:cNvPr id="18" name="TextBox 17"/>
          <p:cNvSpPr txBox="1"/>
          <p:nvPr/>
        </p:nvSpPr>
        <p:spPr>
          <a:xfrm>
            <a:off x="6400800" y="2084831"/>
            <a:ext cx="5303520" cy="320040"/>
          </a:xfrm>
          <a:prstGeom prst="rect">
            <a:avLst/>
          </a:prstGeom>
          <a:noFill/>
        </p:spPr>
        <p:txBody>
          <a:bodyPr wrap="square">
            <a:spAutoFit/>
          </a:bodyPr>
          <a:lstStyle/>
          <a:p>
            <a:pPr algn="l"/>
            <a:r>
              <a:rPr sz="1200" b="1" i="0">
                <a:solidFill>
                  <a:srgbClr val="D97706"/>
                </a:solidFill>
              </a:rPr>
              <a:t>Fee Reduction</a:t>
            </a:r>
          </a:p>
        </p:txBody>
      </p:sp>
      <p:sp>
        <p:nvSpPr>
          <p:cNvPr id="19" name="TextBox 18"/>
          <p:cNvSpPr txBox="1"/>
          <p:nvPr/>
        </p:nvSpPr>
        <p:spPr>
          <a:xfrm>
            <a:off x="6400800" y="2432303"/>
            <a:ext cx="5303520" cy="646331"/>
          </a:xfrm>
          <a:prstGeom prst="rect">
            <a:avLst/>
          </a:prstGeom>
          <a:noFill/>
        </p:spPr>
        <p:txBody>
          <a:bodyPr wrap="square">
            <a:spAutoFit/>
          </a:bodyPr>
          <a:lstStyle/>
          <a:p>
            <a:pPr algn="just"/>
            <a:r>
              <a:rPr sz="1200" b="0" i="0" dirty="0">
                <a:solidFill>
                  <a:srgbClr val="0A1A2E"/>
                </a:solidFill>
                <a:latin typeface="Calirbri"/>
              </a:rPr>
              <a:t>Temporarily cutting merchant subscription fees to reduce immediate churn pressure. Addresses the symptom, not the cause</a:t>
            </a:r>
            <a:r>
              <a:rPr lang="es-CL" sz="1200" b="0" i="0" dirty="0">
                <a:solidFill>
                  <a:srgbClr val="0A1A2E"/>
                </a:solidFill>
                <a:latin typeface="Calirbri"/>
              </a:rPr>
              <a:t>,</a:t>
            </a:r>
            <a:r>
              <a:rPr sz="1200" b="0" i="0" dirty="0">
                <a:solidFill>
                  <a:srgbClr val="0A1A2E"/>
                </a:solidFill>
                <a:latin typeface="Calirbri"/>
              </a:rPr>
              <a:t> and erodes Shopify's margin without fixing the perceived AI quality gap.</a:t>
            </a:r>
          </a:p>
        </p:txBody>
      </p:sp>
      <p:sp>
        <p:nvSpPr>
          <p:cNvPr id="20" name="TextBox 19"/>
          <p:cNvSpPr txBox="1"/>
          <p:nvPr/>
        </p:nvSpPr>
        <p:spPr>
          <a:xfrm>
            <a:off x="6400800" y="3547872"/>
            <a:ext cx="5303520" cy="320040"/>
          </a:xfrm>
          <a:prstGeom prst="rect">
            <a:avLst/>
          </a:prstGeom>
          <a:noFill/>
        </p:spPr>
        <p:txBody>
          <a:bodyPr wrap="square">
            <a:spAutoFit/>
          </a:bodyPr>
          <a:lstStyle/>
          <a:p>
            <a:pPr algn="l"/>
            <a:r>
              <a:rPr sz="1200" b="1" i="0">
                <a:solidFill>
                  <a:srgbClr val="D97706"/>
                </a:solidFill>
              </a:rPr>
              <a:t>Reactive Retention Campaigns</a:t>
            </a:r>
          </a:p>
        </p:txBody>
      </p:sp>
      <p:sp>
        <p:nvSpPr>
          <p:cNvPr id="21" name="TextBox 20"/>
          <p:cNvSpPr txBox="1"/>
          <p:nvPr/>
        </p:nvSpPr>
        <p:spPr>
          <a:xfrm>
            <a:off x="6400800" y="3895344"/>
            <a:ext cx="5303520" cy="646331"/>
          </a:xfrm>
          <a:prstGeom prst="rect">
            <a:avLst/>
          </a:prstGeom>
          <a:noFill/>
        </p:spPr>
        <p:txBody>
          <a:bodyPr wrap="square">
            <a:spAutoFit/>
          </a:bodyPr>
          <a:lstStyle/>
          <a:p>
            <a:pPr algn="just"/>
            <a:r>
              <a:rPr sz="1200" b="0" i="0">
                <a:solidFill>
                  <a:srgbClr val="0A1A2E"/>
                </a:solidFill>
                <a:latin typeface="Calirbri"/>
              </a:rPr>
              <a:t>Waiting for churn signals before acting. By the time churn appears in reported data, merchants have already made alternative platform decisions — retention campaigns at that stage have low conversion rates.</a:t>
            </a:r>
          </a:p>
        </p:txBody>
      </p:sp>
      <p:sp>
        <p:nvSpPr>
          <p:cNvPr id="22" name="TextBox 21"/>
          <p:cNvSpPr txBox="1"/>
          <p:nvPr/>
        </p:nvSpPr>
        <p:spPr>
          <a:xfrm>
            <a:off x="6400800" y="5010912"/>
            <a:ext cx="5303520" cy="320040"/>
          </a:xfrm>
          <a:prstGeom prst="rect">
            <a:avLst/>
          </a:prstGeom>
          <a:noFill/>
        </p:spPr>
        <p:txBody>
          <a:bodyPr wrap="square">
            <a:spAutoFit/>
          </a:bodyPr>
          <a:lstStyle/>
          <a:p>
            <a:pPr algn="l"/>
            <a:r>
              <a:rPr sz="1200" b="1" i="0">
                <a:solidFill>
                  <a:srgbClr val="D97706"/>
                </a:solidFill>
              </a:rPr>
              <a:t>Feature Parity Race</a:t>
            </a:r>
          </a:p>
        </p:txBody>
      </p:sp>
      <p:sp>
        <p:nvSpPr>
          <p:cNvPr id="23" name="TextBox 22"/>
          <p:cNvSpPr txBox="1"/>
          <p:nvPr/>
        </p:nvSpPr>
        <p:spPr>
          <a:xfrm>
            <a:off x="6400800" y="5358384"/>
            <a:ext cx="5303520" cy="646331"/>
          </a:xfrm>
          <a:prstGeom prst="rect">
            <a:avLst/>
          </a:prstGeom>
          <a:noFill/>
        </p:spPr>
        <p:txBody>
          <a:bodyPr wrap="square">
            <a:spAutoFit/>
          </a:bodyPr>
          <a:lstStyle/>
          <a:p>
            <a:pPr algn="just"/>
            <a:r>
              <a:rPr sz="1200" b="0" i="0">
                <a:solidFill>
                  <a:srgbClr val="0A1A2E"/>
                </a:solidFill>
                <a:latin typeface="Calirbri"/>
              </a:rPr>
              <a:t>Trying to match every Amazon AI feature as it launches. Resource-intensive approach that keeps Shopify permanently in a follower position rather than differentiating on merchant-centric advantages.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280160"/>
          </a:xfrm>
          <a:prstGeom prst="rect">
            <a:avLst/>
          </a:prstGeom>
          <a:solidFill>
            <a:schemeClr val="accent5">
              <a:lumMod val="5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182880"/>
            <a:ext cx="10972800" cy="553998"/>
          </a:xfrm>
          <a:prstGeom prst="rect">
            <a:avLst/>
          </a:prstGeom>
          <a:noFill/>
        </p:spPr>
        <p:txBody>
          <a:bodyPr wrap="square">
            <a:spAutoFit/>
          </a:bodyPr>
          <a:lstStyle/>
          <a:p>
            <a:r>
              <a:rPr lang="es-CL" sz="3000" b="1" dirty="0" err="1">
                <a:solidFill>
                  <a:srgbClr val="FFFFFF"/>
                </a:solidFill>
              </a:rPr>
              <a:t>Managing</a:t>
            </a:r>
            <a:r>
              <a:rPr lang="es-CL" sz="3000" b="1" dirty="0">
                <a:solidFill>
                  <a:srgbClr val="FFFFFF"/>
                </a:solidFill>
              </a:rPr>
              <a:t> Legal </a:t>
            </a:r>
            <a:r>
              <a:rPr lang="es-CL" sz="3000" b="1" dirty="0" err="1">
                <a:solidFill>
                  <a:srgbClr val="FFFFFF"/>
                </a:solidFill>
              </a:rPr>
              <a:t>Exposure</a:t>
            </a:r>
            <a:r>
              <a:rPr lang="es-CL" sz="3000" b="1" dirty="0">
                <a:solidFill>
                  <a:srgbClr val="FFFFFF"/>
                </a:solidFill>
              </a:rPr>
              <a:t>: GDPR · EU AI </a:t>
            </a:r>
            <a:r>
              <a:rPr lang="es-CL" sz="3000" b="1" dirty="0" err="1">
                <a:solidFill>
                  <a:srgbClr val="FFFFFF"/>
                </a:solidFill>
              </a:rPr>
              <a:t>Act</a:t>
            </a:r>
            <a:r>
              <a:rPr lang="es-CL" sz="3000" b="1" dirty="0">
                <a:solidFill>
                  <a:srgbClr val="FFFFFF"/>
                </a:solidFill>
              </a:rPr>
              <a:t> · PIPEDA</a:t>
            </a:r>
            <a:endParaRPr sz="3000" b="1" dirty="0">
              <a:solidFill>
                <a:srgbClr val="FFFFFF"/>
              </a:solidFill>
            </a:endParaRPr>
          </a:p>
        </p:txBody>
      </p:sp>
      <p:sp>
        <p:nvSpPr>
          <p:cNvPr id="5" name="TextBox 4"/>
          <p:cNvSpPr txBox="1"/>
          <p:nvPr/>
        </p:nvSpPr>
        <p:spPr>
          <a:xfrm>
            <a:off x="365760" y="914400"/>
            <a:ext cx="10972800" cy="292388"/>
          </a:xfrm>
          <a:prstGeom prst="rect">
            <a:avLst/>
          </a:prstGeom>
          <a:noFill/>
        </p:spPr>
        <p:txBody>
          <a:bodyPr wrap="square">
            <a:spAutoFit/>
          </a:bodyPr>
          <a:lstStyle/>
          <a:p>
            <a:pPr algn="l"/>
            <a:r>
              <a:rPr sz="1300" b="0" i="0" dirty="0">
                <a:solidFill>
                  <a:srgbClr val="E8F5EE"/>
                </a:solidFill>
              </a:rPr>
              <a:t>Part 3 · Ekene </a:t>
            </a:r>
            <a:r>
              <a:rPr sz="1300" b="0" i="0" dirty="0" err="1">
                <a:solidFill>
                  <a:srgbClr val="E8F5EE"/>
                </a:solidFill>
              </a:rPr>
              <a:t>Onyemanjo</a:t>
            </a:r>
            <a:endParaRPr sz="1300" b="0" i="0" dirty="0">
              <a:solidFill>
                <a:srgbClr val="E8F5EE"/>
              </a:solidFill>
            </a:endParaRPr>
          </a:p>
        </p:txBody>
      </p:sp>
      <p:sp>
        <p:nvSpPr>
          <p:cNvPr id="6" name="Rectangle 5"/>
          <p:cNvSpPr/>
          <p:nvPr/>
        </p:nvSpPr>
        <p:spPr>
          <a:xfrm>
            <a:off x="274320" y="1508760"/>
            <a:ext cx="5577840" cy="4983480"/>
          </a:xfrm>
          <a:prstGeom prst="rect">
            <a:avLst/>
          </a:prstGeom>
          <a:solidFill>
            <a:srgbClr val="FFFFFF"/>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274320" y="1508760"/>
            <a:ext cx="5577840" cy="457200"/>
          </a:xfrm>
          <a:prstGeom prst="rect">
            <a:avLst/>
          </a:prstGeom>
          <a:solidFill>
            <a:srgbClr val="008C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11479" y="1554480"/>
            <a:ext cx="5303520" cy="347472"/>
          </a:xfrm>
          <a:prstGeom prst="rect">
            <a:avLst/>
          </a:prstGeom>
          <a:noFill/>
        </p:spPr>
        <p:txBody>
          <a:bodyPr wrap="square">
            <a:spAutoFit/>
          </a:bodyPr>
          <a:lstStyle/>
          <a:p>
            <a:pPr algn="l"/>
            <a:r>
              <a:rPr sz="1300" b="1" i="0">
                <a:solidFill>
                  <a:srgbClr val="FFFFFF"/>
                </a:solidFill>
              </a:rPr>
              <a:t>OPTIMAL STRATEGY</a:t>
            </a:r>
          </a:p>
        </p:txBody>
      </p:sp>
      <p:sp>
        <p:nvSpPr>
          <p:cNvPr id="9" name="TextBox 8"/>
          <p:cNvSpPr txBox="1"/>
          <p:nvPr/>
        </p:nvSpPr>
        <p:spPr>
          <a:xfrm>
            <a:off x="411479" y="2084831"/>
            <a:ext cx="5303520" cy="320040"/>
          </a:xfrm>
          <a:prstGeom prst="rect">
            <a:avLst/>
          </a:prstGeom>
          <a:noFill/>
        </p:spPr>
        <p:txBody>
          <a:bodyPr wrap="square">
            <a:spAutoFit/>
          </a:bodyPr>
          <a:lstStyle/>
          <a:p>
            <a:pPr algn="l"/>
            <a:r>
              <a:rPr sz="1200" b="1" i="0">
                <a:solidFill>
                  <a:srgbClr val="008C5A"/>
                </a:solidFill>
              </a:rPr>
              <a:t>Privacy-by-Design from Day 1</a:t>
            </a:r>
          </a:p>
        </p:txBody>
      </p:sp>
      <p:sp>
        <p:nvSpPr>
          <p:cNvPr id="10" name="TextBox 9"/>
          <p:cNvSpPr txBox="1"/>
          <p:nvPr/>
        </p:nvSpPr>
        <p:spPr>
          <a:xfrm>
            <a:off x="411479" y="2432303"/>
            <a:ext cx="5303520" cy="646331"/>
          </a:xfrm>
          <a:prstGeom prst="rect">
            <a:avLst/>
          </a:prstGeom>
          <a:noFill/>
        </p:spPr>
        <p:txBody>
          <a:bodyPr wrap="square">
            <a:spAutoFit/>
          </a:bodyPr>
          <a:lstStyle/>
          <a:p>
            <a:pPr algn="just"/>
            <a:r>
              <a:rPr sz="1200" b="0" i="0">
                <a:solidFill>
                  <a:srgbClr val="0A1A2E"/>
                </a:solidFill>
                <a:latin typeface="+mj-lt"/>
              </a:rPr>
              <a:t>Embed data minimization, consent management, and model transparency controls into Vantage Discovery's LLM architecture before any merchant data flows through it. Retroactive compliance is exponentially more expensive than proactive design.</a:t>
            </a:r>
          </a:p>
        </p:txBody>
      </p:sp>
      <p:sp>
        <p:nvSpPr>
          <p:cNvPr id="11" name="TextBox 10"/>
          <p:cNvSpPr txBox="1"/>
          <p:nvPr/>
        </p:nvSpPr>
        <p:spPr>
          <a:xfrm>
            <a:off x="411479" y="3547872"/>
            <a:ext cx="5303520" cy="320040"/>
          </a:xfrm>
          <a:prstGeom prst="rect">
            <a:avLst/>
          </a:prstGeom>
          <a:noFill/>
        </p:spPr>
        <p:txBody>
          <a:bodyPr wrap="square">
            <a:spAutoFit/>
          </a:bodyPr>
          <a:lstStyle/>
          <a:p>
            <a:pPr algn="l"/>
            <a:r>
              <a:rPr sz="1200" b="1" i="0">
                <a:solidFill>
                  <a:srgbClr val="008C5A"/>
                </a:solidFill>
              </a:rPr>
              <a:t>AI Governance Committee</a:t>
            </a:r>
          </a:p>
        </p:txBody>
      </p:sp>
      <p:sp>
        <p:nvSpPr>
          <p:cNvPr id="12" name="TextBox 11"/>
          <p:cNvSpPr txBox="1"/>
          <p:nvPr/>
        </p:nvSpPr>
        <p:spPr>
          <a:xfrm>
            <a:off x="411479" y="3895344"/>
            <a:ext cx="5303520" cy="646331"/>
          </a:xfrm>
          <a:prstGeom prst="rect">
            <a:avLst/>
          </a:prstGeom>
          <a:noFill/>
        </p:spPr>
        <p:txBody>
          <a:bodyPr wrap="square">
            <a:spAutoFit/>
          </a:bodyPr>
          <a:lstStyle/>
          <a:p>
            <a:pPr algn="just"/>
            <a:r>
              <a:rPr sz="1200" b="0" i="0" dirty="0">
                <a:solidFill>
                  <a:srgbClr val="0A1A2E"/>
                </a:solidFill>
                <a:latin typeface="+mj-lt"/>
              </a:rPr>
              <a:t>Establish a dedicated committee</a:t>
            </a:r>
            <a:r>
              <a:rPr lang="es-CL" sz="1200" b="0" i="0" dirty="0">
                <a:solidFill>
                  <a:srgbClr val="0A1A2E"/>
                </a:solidFill>
                <a:latin typeface="+mj-lt"/>
              </a:rPr>
              <a:t>,</a:t>
            </a:r>
            <a:r>
              <a:rPr sz="1200" b="0" i="0" dirty="0">
                <a:solidFill>
                  <a:srgbClr val="0A1A2E"/>
                </a:solidFill>
                <a:latin typeface="+mj-lt"/>
              </a:rPr>
              <a:t> CLO, DPO, CTO, and external AI legal counsel</a:t>
            </a:r>
            <a:r>
              <a:rPr lang="es-CL" sz="1200" b="0" i="0" dirty="0">
                <a:solidFill>
                  <a:srgbClr val="0A1A2E"/>
                </a:solidFill>
                <a:latin typeface="+mj-lt"/>
              </a:rPr>
              <a:t>,</a:t>
            </a:r>
            <a:r>
              <a:rPr sz="1200" b="0" i="0" dirty="0">
                <a:solidFill>
                  <a:srgbClr val="0A1A2E"/>
                </a:solidFill>
                <a:latin typeface="+mj-lt"/>
              </a:rPr>
              <a:t> with quarterly privacy impact assessments. The committee reviews all LLM model updates before deployment in EU and Canadian markets.</a:t>
            </a:r>
          </a:p>
        </p:txBody>
      </p:sp>
      <p:sp>
        <p:nvSpPr>
          <p:cNvPr id="13" name="TextBox 12"/>
          <p:cNvSpPr txBox="1"/>
          <p:nvPr/>
        </p:nvSpPr>
        <p:spPr>
          <a:xfrm>
            <a:off x="411479" y="5010912"/>
            <a:ext cx="5303520" cy="320040"/>
          </a:xfrm>
          <a:prstGeom prst="rect">
            <a:avLst/>
          </a:prstGeom>
          <a:noFill/>
        </p:spPr>
        <p:txBody>
          <a:bodyPr wrap="square">
            <a:spAutoFit/>
          </a:bodyPr>
          <a:lstStyle/>
          <a:p>
            <a:pPr algn="l"/>
            <a:r>
              <a:rPr sz="1200" b="1" i="0">
                <a:solidFill>
                  <a:srgbClr val="008C5A"/>
                </a:solidFill>
              </a:rPr>
              <a:t>Regulatory Monitoring System</a:t>
            </a:r>
          </a:p>
        </p:txBody>
      </p:sp>
      <p:sp>
        <p:nvSpPr>
          <p:cNvPr id="14" name="TextBox 13"/>
          <p:cNvSpPr txBox="1"/>
          <p:nvPr/>
        </p:nvSpPr>
        <p:spPr>
          <a:xfrm>
            <a:off x="411479" y="5358384"/>
            <a:ext cx="5303520" cy="646331"/>
          </a:xfrm>
          <a:prstGeom prst="rect">
            <a:avLst/>
          </a:prstGeom>
          <a:noFill/>
        </p:spPr>
        <p:txBody>
          <a:bodyPr wrap="square">
            <a:spAutoFit/>
          </a:bodyPr>
          <a:lstStyle/>
          <a:p>
            <a:pPr algn="just"/>
            <a:r>
              <a:rPr sz="1200" b="0" i="0">
                <a:solidFill>
                  <a:srgbClr val="0A1A2E"/>
                </a:solidFill>
                <a:latin typeface="+mj-lt"/>
              </a:rPr>
              <a:t>Dedicated legal team tracking PIPEDA, GDPR enforcement actions, and EU AI Act implementation timelines across all jurisdictions. Early identification of rule changes before they become compliance events.</a:t>
            </a:r>
          </a:p>
        </p:txBody>
      </p:sp>
      <p:sp>
        <p:nvSpPr>
          <p:cNvPr id="15" name="Rectangle 14"/>
          <p:cNvSpPr/>
          <p:nvPr/>
        </p:nvSpPr>
        <p:spPr>
          <a:xfrm>
            <a:off x="6263640" y="1508760"/>
            <a:ext cx="5577840" cy="4983480"/>
          </a:xfrm>
          <a:prstGeom prst="rect">
            <a:avLst/>
          </a:prstGeom>
          <a:solidFill>
            <a:srgbClr val="FFFFFF"/>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6263640" y="1508760"/>
            <a:ext cx="5577840" cy="45720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400800" y="1554480"/>
            <a:ext cx="5303520" cy="347472"/>
          </a:xfrm>
          <a:prstGeom prst="rect">
            <a:avLst/>
          </a:prstGeom>
          <a:noFill/>
        </p:spPr>
        <p:txBody>
          <a:bodyPr wrap="square">
            <a:spAutoFit/>
          </a:bodyPr>
          <a:lstStyle/>
          <a:p>
            <a:pPr algn="l"/>
            <a:r>
              <a:rPr sz="1300" b="1" i="0">
                <a:solidFill>
                  <a:srgbClr val="FFFFFF"/>
                </a:solidFill>
              </a:rPr>
              <a:t>SUB-OPTIMAL STRATEGY</a:t>
            </a:r>
          </a:p>
        </p:txBody>
      </p:sp>
      <p:sp>
        <p:nvSpPr>
          <p:cNvPr id="18" name="TextBox 17"/>
          <p:cNvSpPr txBox="1"/>
          <p:nvPr/>
        </p:nvSpPr>
        <p:spPr>
          <a:xfrm>
            <a:off x="6400800" y="2084831"/>
            <a:ext cx="5303520" cy="320040"/>
          </a:xfrm>
          <a:prstGeom prst="rect">
            <a:avLst/>
          </a:prstGeom>
          <a:noFill/>
        </p:spPr>
        <p:txBody>
          <a:bodyPr wrap="square">
            <a:spAutoFit/>
          </a:bodyPr>
          <a:lstStyle/>
          <a:p>
            <a:pPr algn="l"/>
            <a:r>
              <a:rPr sz="1200" b="1" i="0">
                <a:solidFill>
                  <a:srgbClr val="D97706"/>
                </a:solidFill>
              </a:rPr>
              <a:t>Cyber Insurance as Primary Defense</a:t>
            </a:r>
          </a:p>
        </p:txBody>
      </p:sp>
      <p:sp>
        <p:nvSpPr>
          <p:cNvPr id="19" name="TextBox 18"/>
          <p:cNvSpPr txBox="1"/>
          <p:nvPr/>
        </p:nvSpPr>
        <p:spPr>
          <a:xfrm>
            <a:off x="6400800" y="2432303"/>
            <a:ext cx="5303520" cy="646331"/>
          </a:xfrm>
          <a:prstGeom prst="rect">
            <a:avLst/>
          </a:prstGeom>
          <a:noFill/>
        </p:spPr>
        <p:txBody>
          <a:bodyPr wrap="square">
            <a:spAutoFit/>
          </a:bodyPr>
          <a:lstStyle/>
          <a:p>
            <a:pPr algn="just"/>
            <a:r>
              <a:rPr sz="1200" b="0" i="0" dirty="0">
                <a:solidFill>
                  <a:srgbClr val="0A1A2E"/>
                </a:solidFill>
                <a:latin typeface="+mj-lt"/>
              </a:rPr>
              <a:t>Purchasing insurance coverage for regulatory fines transfers financial exposure but does not prevent the fine from occurring</a:t>
            </a:r>
            <a:r>
              <a:rPr lang="es-CL" sz="1200" b="0" i="0" dirty="0">
                <a:solidFill>
                  <a:srgbClr val="0A1A2E"/>
                </a:solidFill>
                <a:latin typeface="+mj-lt"/>
              </a:rPr>
              <a:t>,</a:t>
            </a:r>
            <a:r>
              <a:rPr sz="1200" b="0" i="0" dirty="0">
                <a:solidFill>
                  <a:srgbClr val="0A1A2E"/>
                </a:solidFill>
                <a:latin typeface="+mj-lt"/>
              </a:rPr>
              <a:t> nor does it protect against reputational damage or operational shutdown orders that insurers don't cover.</a:t>
            </a:r>
          </a:p>
        </p:txBody>
      </p:sp>
      <p:sp>
        <p:nvSpPr>
          <p:cNvPr id="20" name="TextBox 19"/>
          <p:cNvSpPr txBox="1"/>
          <p:nvPr/>
        </p:nvSpPr>
        <p:spPr>
          <a:xfrm>
            <a:off x="6400800" y="3547872"/>
            <a:ext cx="5303520" cy="320040"/>
          </a:xfrm>
          <a:prstGeom prst="rect">
            <a:avLst/>
          </a:prstGeom>
          <a:noFill/>
        </p:spPr>
        <p:txBody>
          <a:bodyPr wrap="square">
            <a:spAutoFit/>
          </a:bodyPr>
          <a:lstStyle/>
          <a:p>
            <a:pPr algn="l"/>
            <a:r>
              <a:rPr sz="1200" b="1" i="0">
                <a:solidFill>
                  <a:srgbClr val="D97706"/>
                </a:solidFill>
              </a:rPr>
              <a:t>Reactive Legal Response</a:t>
            </a:r>
          </a:p>
        </p:txBody>
      </p:sp>
      <p:sp>
        <p:nvSpPr>
          <p:cNvPr id="21" name="TextBox 20"/>
          <p:cNvSpPr txBox="1"/>
          <p:nvPr/>
        </p:nvSpPr>
        <p:spPr>
          <a:xfrm>
            <a:off x="6400800" y="3895344"/>
            <a:ext cx="5303520" cy="646331"/>
          </a:xfrm>
          <a:prstGeom prst="rect">
            <a:avLst/>
          </a:prstGeom>
          <a:noFill/>
        </p:spPr>
        <p:txBody>
          <a:bodyPr wrap="square">
            <a:spAutoFit/>
          </a:bodyPr>
          <a:lstStyle/>
          <a:p>
            <a:pPr algn="just"/>
            <a:r>
              <a:rPr sz="1200" b="0" i="0">
                <a:solidFill>
                  <a:srgbClr val="0A1A2E"/>
                </a:solidFill>
                <a:latin typeface="+mj-lt"/>
              </a:rPr>
              <a:t>Waiting for a regulatory inquiry before engaging external counsel. At a $508M tail exposure, the cost of proactive compliance investment is orders of magnitude smaller than reactive legal defense once proceedings begin.</a:t>
            </a:r>
          </a:p>
        </p:txBody>
      </p:sp>
      <p:sp>
        <p:nvSpPr>
          <p:cNvPr id="22" name="TextBox 21"/>
          <p:cNvSpPr txBox="1"/>
          <p:nvPr/>
        </p:nvSpPr>
        <p:spPr>
          <a:xfrm>
            <a:off x="6400800" y="5010912"/>
            <a:ext cx="5303520" cy="320040"/>
          </a:xfrm>
          <a:prstGeom prst="rect">
            <a:avLst/>
          </a:prstGeom>
          <a:noFill/>
        </p:spPr>
        <p:txBody>
          <a:bodyPr wrap="square">
            <a:spAutoFit/>
          </a:bodyPr>
          <a:lstStyle/>
          <a:p>
            <a:pPr algn="l"/>
            <a:r>
              <a:rPr sz="1200" b="1" i="0">
                <a:solidFill>
                  <a:srgbClr val="D97706"/>
                </a:solidFill>
              </a:rPr>
              <a:t>Jurisdictional Exemption Assumption</a:t>
            </a:r>
          </a:p>
        </p:txBody>
      </p:sp>
      <p:sp>
        <p:nvSpPr>
          <p:cNvPr id="23" name="TextBox 22"/>
          <p:cNvSpPr txBox="1"/>
          <p:nvPr/>
        </p:nvSpPr>
        <p:spPr>
          <a:xfrm>
            <a:off x="6400800" y="5358384"/>
            <a:ext cx="5303520" cy="646331"/>
          </a:xfrm>
          <a:prstGeom prst="rect">
            <a:avLst/>
          </a:prstGeom>
          <a:noFill/>
        </p:spPr>
        <p:txBody>
          <a:bodyPr wrap="square">
            <a:spAutoFit/>
          </a:bodyPr>
          <a:lstStyle/>
          <a:p>
            <a:pPr algn="just"/>
            <a:r>
              <a:rPr sz="1200" b="0" i="0">
                <a:solidFill>
                  <a:srgbClr val="0A1A2E"/>
                </a:solidFill>
                <a:latin typeface="+mj-lt"/>
              </a:rPr>
              <a:t>Assuming that Shopify's Canadian incorporation limits GDPR exposure. Shopify processes EU merchant and customer data — triggering full GDPR applicability regardless of where the company is incorporated.</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280160"/>
          </a:xfrm>
          <a:prstGeom prst="rect">
            <a:avLst/>
          </a:prstGeom>
          <a:solidFill>
            <a:schemeClr val="accent5">
              <a:lumMod val="5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182880"/>
            <a:ext cx="10972800" cy="553998"/>
          </a:xfrm>
          <a:prstGeom prst="rect">
            <a:avLst/>
          </a:prstGeom>
          <a:noFill/>
        </p:spPr>
        <p:txBody>
          <a:bodyPr wrap="square">
            <a:spAutoFit/>
          </a:bodyPr>
          <a:lstStyle/>
          <a:p>
            <a:r>
              <a:rPr lang="es-CL" sz="3000" b="1" dirty="0" err="1">
                <a:solidFill>
                  <a:srgbClr val="FFFFFF"/>
                </a:solidFill>
              </a:rPr>
              <a:t>Exploiting</a:t>
            </a:r>
            <a:r>
              <a:rPr lang="es-CL" sz="3000" b="1" dirty="0">
                <a:solidFill>
                  <a:srgbClr val="FFFFFF"/>
                </a:solidFill>
              </a:rPr>
              <a:t> </a:t>
            </a:r>
            <a:r>
              <a:rPr lang="es-CL" sz="3000" b="1" dirty="0" err="1">
                <a:solidFill>
                  <a:srgbClr val="FFFFFF"/>
                </a:solidFill>
              </a:rPr>
              <a:t>the</a:t>
            </a:r>
            <a:r>
              <a:rPr lang="es-CL" sz="3000" b="1" dirty="0">
                <a:solidFill>
                  <a:srgbClr val="FFFFFF"/>
                </a:solidFill>
              </a:rPr>
              <a:t> AI Search </a:t>
            </a:r>
            <a:r>
              <a:rPr lang="es-CL" sz="3000" b="1" dirty="0" err="1">
                <a:solidFill>
                  <a:srgbClr val="FFFFFF"/>
                </a:solidFill>
              </a:rPr>
              <a:t>Opportunity</a:t>
            </a:r>
            <a:r>
              <a:rPr lang="es-CL" sz="3000" b="1" dirty="0">
                <a:solidFill>
                  <a:srgbClr val="FFFFFF"/>
                </a:solidFill>
              </a:rPr>
              <a:t>: $491M Window</a:t>
            </a:r>
            <a:endParaRPr sz="3000" b="1" dirty="0">
              <a:solidFill>
                <a:srgbClr val="FFFFFF"/>
              </a:solidFill>
            </a:endParaRPr>
          </a:p>
        </p:txBody>
      </p:sp>
      <p:sp>
        <p:nvSpPr>
          <p:cNvPr id="5" name="TextBox 4"/>
          <p:cNvSpPr txBox="1"/>
          <p:nvPr/>
        </p:nvSpPr>
        <p:spPr>
          <a:xfrm>
            <a:off x="365760" y="914400"/>
            <a:ext cx="10972800" cy="292388"/>
          </a:xfrm>
          <a:prstGeom prst="rect">
            <a:avLst/>
          </a:prstGeom>
          <a:noFill/>
        </p:spPr>
        <p:txBody>
          <a:bodyPr wrap="square">
            <a:spAutoFit/>
          </a:bodyPr>
          <a:lstStyle/>
          <a:p>
            <a:pPr algn="l"/>
            <a:r>
              <a:rPr sz="1300" b="0" i="0" dirty="0">
                <a:solidFill>
                  <a:srgbClr val="E8F5EE"/>
                </a:solidFill>
              </a:rPr>
              <a:t>Part 3 · Ekene </a:t>
            </a:r>
            <a:r>
              <a:rPr sz="1300" b="0" i="0" dirty="0" err="1">
                <a:solidFill>
                  <a:srgbClr val="E8F5EE"/>
                </a:solidFill>
              </a:rPr>
              <a:t>Onyemanjo</a:t>
            </a:r>
            <a:endParaRPr sz="1300" b="0" i="0" dirty="0">
              <a:solidFill>
                <a:srgbClr val="E8F5EE"/>
              </a:solidFill>
            </a:endParaRPr>
          </a:p>
        </p:txBody>
      </p:sp>
      <p:sp>
        <p:nvSpPr>
          <p:cNvPr id="6" name="Rectangle 5"/>
          <p:cNvSpPr/>
          <p:nvPr/>
        </p:nvSpPr>
        <p:spPr>
          <a:xfrm>
            <a:off x="274320" y="1508760"/>
            <a:ext cx="5577840" cy="4983480"/>
          </a:xfrm>
          <a:prstGeom prst="rect">
            <a:avLst/>
          </a:prstGeom>
          <a:solidFill>
            <a:srgbClr val="FFFFFF"/>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274320" y="1508760"/>
            <a:ext cx="5577840" cy="457200"/>
          </a:xfrm>
          <a:prstGeom prst="rect">
            <a:avLst/>
          </a:prstGeom>
          <a:solidFill>
            <a:srgbClr val="008C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11479" y="1554480"/>
            <a:ext cx="5303520" cy="347472"/>
          </a:xfrm>
          <a:prstGeom prst="rect">
            <a:avLst/>
          </a:prstGeom>
          <a:noFill/>
        </p:spPr>
        <p:txBody>
          <a:bodyPr wrap="square">
            <a:spAutoFit/>
          </a:bodyPr>
          <a:lstStyle/>
          <a:p>
            <a:pPr algn="l"/>
            <a:r>
              <a:rPr sz="1300" b="1" i="0">
                <a:solidFill>
                  <a:srgbClr val="FFFFFF"/>
                </a:solidFill>
              </a:rPr>
              <a:t>OPTIMAL STRATEGY</a:t>
            </a:r>
          </a:p>
        </p:txBody>
      </p:sp>
      <p:sp>
        <p:nvSpPr>
          <p:cNvPr id="9" name="TextBox 8"/>
          <p:cNvSpPr txBox="1"/>
          <p:nvPr/>
        </p:nvSpPr>
        <p:spPr>
          <a:xfrm>
            <a:off x="411479" y="2084831"/>
            <a:ext cx="5303520" cy="320040"/>
          </a:xfrm>
          <a:prstGeom prst="rect">
            <a:avLst/>
          </a:prstGeom>
          <a:noFill/>
        </p:spPr>
        <p:txBody>
          <a:bodyPr wrap="square">
            <a:spAutoFit/>
          </a:bodyPr>
          <a:lstStyle/>
          <a:p>
            <a:pPr algn="l"/>
            <a:r>
              <a:rPr sz="1200" b="1" i="0">
                <a:solidFill>
                  <a:srgbClr val="008C5A"/>
                </a:solidFill>
              </a:rPr>
              <a:t>Targeted Go-to-Market in 6–18 Months</a:t>
            </a:r>
          </a:p>
        </p:txBody>
      </p:sp>
      <p:sp>
        <p:nvSpPr>
          <p:cNvPr id="10" name="TextBox 9"/>
          <p:cNvSpPr txBox="1"/>
          <p:nvPr/>
        </p:nvSpPr>
        <p:spPr>
          <a:xfrm>
            <a:off x="411479" y="2432303"/>
            <a:ext cx="5303520" cy="830997"/>
          </a:xfrm>
          <a:prstGeom prst="rect">
            <a:avLst/>
          </a:prstGeom>
          <a:noFill/>
        </p:spPr>
        <p:txBody>
          <a:bodyPr wrap="square">
            <a:spAutoFit/>
          </a:bodyPr>
          <a:lstStyle/>
          <a:p>
            <a:pPr algn="just"/>
            <a:r>
              <a:rPr sz="1200" b="0" i="0" dirty="0">
                <a:solidFill>
                  <a:srgbClr val="0A1A2E"/>
                </a:solidFill>
                <a:latin typeface="+mj-lt"/>
              </a:rPr>
              <a:t>Launch a dedicated acquisition campaign directed at merchants currently on Amazon Seller Central showing signs of dissatisfaction: high advertising cost, limited brand control, algorithmic search opacity. Position Shopify Plus + AI search as the differentiated alternative.</a:t>
            </a:r>
          </a:p>
        </p:txBody>
      </p:sp>
      <p:sp>
        <p:nvSpPr>
          <p:cNvPr id="11" name="TextBox 10"/>
          <p:cNvSpPr txBox="1"/>
          <p:nvPr/>
        </p:nvSpPr>
        <p:spPr>
          <a:xfrm>
            <a:off x="411479" y="3547872"/>
            <a:ext cx="5303520" cy="320040"/>
          </a:xfrm>
          <a:prstGeom prst="rect">
            <a:avLst/>
          </a:prstGeom>
          <a:noFill/>
        </p:spPr>
        <p:txBody>
          <a:bodyPr wrap="square">
            <a:spAutoFit/>
          </a:bodyPr>
          <a:lstStyle/>
          <a:p>
            <a:pPr algn="l"/>
            <a:r>
              <a:rPr sz="1200" b="1" i="0">
                <a:solidFill>
                  <a:srgbClr val="008C5A"/>
                </a:solidFill>
              </a:rPr>
              <a:t>Shopify Plus AI Search as Premium Tier</a:t>
            </a:r>
          </a:p>
        </p:txBody>
      </p:sp>
      <p:sp>
        <p:nvSpPr>
          <p:cNvPr id="12" name="TextBox 11"/>
          <p:cNvSpPr txBox="1"/>
          <p:nvPr/>
        </p:nvSpPr>
        <p:spPr>
          <a:xfrm>
            <a:off x="411479" y="3895344"/>
            <a:ext cx="5303520" cy="646331"/>
          </a:xfrm>
          <a:prstGeom prst="rect">
            <a:avLst/>
          </a:prstGeom>
          <a:noFill/>
        </p:spPr>
        <p:txBody>
          <a:bodyPr wrap="square">
            <a:spAutoFit/>
          </a:bodyPr>
          <a:lstStyle/>
          <a:p>
            <a:pPr algn="just"/>
            <a:r>
              <a:rPr sz="1200" b="0" i="0">
                <a:solidFill>
                  <a:srgbClr val="0A1A2E"/>
                </a:solidFill>
                <a:latin typeface="+mj-lt"/>
              </a:rPr>
              <a:t>Bundle Vantage Discovery capabilities exclusively with Shopify Plus subscriptions to create clear value differentiation at the enterprise merchant level — before Amazon and Google close the feature gap.</a:t>
            </a:r>
          </a:p>
        </p:txBody>
      </p:sp>
      <p:sp>
        <p:nvSpPr>
          <p:cNvPr id="13" name="TextBox 12"/>
          <p:cNvSpPr txBox="1"/>
          <p:nvPr/>
        </p:nvSpPr>
        <p:spPr>
          <a:xfrm>
            <a:off x="411479" y="5010912"/>
            <a:ext cx="5303520" cy="320040"/>
          </a:xfrm>
          <a:prstGeom prst="rect">
            <a:avLst/>
          </a:prstGeom>
          <a:noFill/>
        </p:spPr>
        <p:txBody>
          <a:bodyPr wrap="square">
            <a:spAutoFit/>
          </a:bodyPr>
          <a:lstStyle/>
          <a:p>
            <a:pPr algn="l"/>
            <a:r>
              <a:rPr sz="1200" b="1" i="0">
                <a:solidFill>
                  <a:srgbClr val="008C5A"/>
                </a:solidFill>
              </a:rPr>
              <a:t>Non-English Market Expansion</a:t>
            </a:r>
          </a:p>
        </p:txBody>
      </p:sp>
      <p:sp>
        <p:nvSpPr>
          <p:cNvPr id="14" name="TextBox 13"/>
          <p:cNvSpPr txBox="1"/>
          <p:nvPr/>
        </p:nvSpPr>
        <p:spPr>
          <a:xfrm>
            <a:off x="411479" y="5358384"/>
            <a:ext cx="5303520" cy="646331"/>
          </a:xfrm>
          <a:prstGeom prst="rect">
            <a:avLst/>
          </a:prstGeom>
          <a:noFill/>
        </p:spPr>
        <p:txBody>
          <a:bodyPr wrap="square">
            <a:spAutoFit/>
          </a:bodyPr>
          <a:lstStyle/>
          <a:p>
            <a:pPr algn="just"/>
            <a:r>
              <a:rPr sz="1200" b="0" i="0">
                <a:solidFill>
                  <a:srgbClr val="0A1A2E"/>
                </a:solidFill>
                <a:latin typeface="+mj-lt"/>
              </a:rPr>
              <a:t>Prioritize markets where Amazon's AI search is weakest: LATAM, Southeast Asia, Southern Europe. Shopify already has merchant presence in these regions — AI search adds a competitive moat where it matters most.</a:t>
            </a:r>
          </a:p>
        </p:txBody>
      </p:sp>
      <p:sp>
        <p:nvSpPr>
          <p:cNvPr id="15" name="Rectangle 14"/>
          <p:cNvSpPr/>
          <p:nvPr/>
        </p:nvSpPr>
        <p:spPr>
          <a:xfrm>
            <a:off x="6263640" y="1508760"/>
            <a:ext cx="5577840" cy="4983480"/>
          </a:xfrm>
          <a:prstGeom prst="rect">
            <a:avLst/>
          </a:prstGeom>
          <a:solidFill>
            <a:srgbClr val="FFFFFF"/>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just"/>
            <a:endParaRPr sz="1200">
              <a:latin typeface="+mj-lt"/>
            </a:endParaRPr>
          </a:p>
        </p:txBody>
      </p:sp>
      <p:sp>
        <p:nvSpPr>
          <p:cNvPr id="16" name="Rectangle 15"/>
          <p:cNvSpPr/>
          <p:nvPr/>
        </p:nvSpPr>
        <p:spPr>
          <a:xfrm>
            <a:off x="6263640" y="1508760"/>
            <a:ext cx="5577840" cy="45720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400800" y="1554480"/>
            <a:ext cx="5303520" cy="347472"/>
          </a:xfrm>
          <a:prstGeom prst="rect">
            <a:avLst/>
          </a:prstGeom>
          <a:noFill/>
        </p:spPr>
        <p:txBody>
          <a:bodyPr wrap="square">
            <a:spAutoFit/>
          </a:bodyPr>
          <a:lstStyle/>
          <a:p>
            <a:pPr algn="l"/>
            <a:r>
              <a:rPr sz="1300" b="1" i="0">
                <a:solidFill>
                  <a:srgbClr val="FFFFFF"/>
                </a:solidFill>
              </a:rPr>
              <a:t>SUB-OPTIMAL STRATEGY</a:t>
            </a:r>
          </a:p>
        </p:txBody>
      </p:sp>
      <p:sp>
        <p:nvSpPr>
          <p:cNvPr id="18" name="TextBox 17"/>
          <p:cNvSpPr txBox="1"/>
          <p:nvPr/>
        </p:nvSpPr>
        <p:spPr>
          <a:xfrm>
            <a:off x="6400800" y="2084831"/>
            <a:ext cx="5303520" cy="320040"/>
          </a:xfrm>
          <a:prstGeom prst="rect">
            <a:avLst/>
          </a:prstGeom>
          <a:noFill/>
        </p:spPr>
        <p:txBody>
          <a:bodyPr wrap="square">
            <a:spAutoFit/>
          </a:bodyPr>
          <a:lstStyle/>
          <a:p>
            <a:pPr algn="l"/>
            <a:r>
              <a:rPr sz="1200" b="1" i="0">
                <a:solidFill>
                  <a:srgbClr val="D97706"/>
                </a:solidFill>
              </a:rPr>
              <a:t>Wait for 100% Integration Completion</a:t>
            </a:r>
          </a:p>
        </p:txBody>
      </p:sp>
      <p:sp>
        <p:nvSpPr>
          <p:cNvPr id="19" name="TextBox 18"/>
          <p:cNvSpPr txBox="1"/>
          <p:nvPr/>
        </p:nvSpPr>
        <p:spPr>
          <a:xfrm>
            <a:off x="6400800" y="2432303"/>
            <a:ext cx="5303520" cy="646331"/>
          </a:xfrm>
          <a:prstGeom prst="rect">
            <a:avLst/>
          </a:prstGeom>
          <a:noFill/>
        </p:spPr>
        <p:txBody>
          <a:bodyPr wrap="square">
            <a:spAutoFit/>
          </a:bodyPr>
          <a:lstStyle/>
          <a:p>
            <a:pPr algn="just"/>
            <a:r>
              <a:rPr sz="1200" b="0" i="0" dirty="0">
                <a:solidFill>
                  <a:srgbClr val="0A1A2E"/>
                </a:solidFill>
                <a:latin typeface="+mj-lt"/>
              </a:rPr>
              <a:t>Delaying market communication until Vantage Discovery is fully integrated misses the window entirely. The 6–18 month advantage is defined by the time before competitors reach parity</a:t>
            </a:r>
            <a:r>
              <a:rPr lang="es-CL" sz="1200" b="0" i="0" dirty="0">
                <a:solidFill>
                  <a:srgbClr val="0A1A2E"/>
                </a:solidFill>
                <a:latin typeface="+mj-lt"/>
              </a:rPr>
              <a:t>,</a:t>
            </a:r>
            <a:r>
              <a:rPr sz="1200" b="0" i="0" dirty="0">
                <a:solidFill>
                  <a:srgbClr val="0A1A2E"/>
                </a:solidFill>
                <a:latin typeface="+mj-lt"/>
              </a:rPr>
              <a:t> not by when Shopify's internal timeline completes.</a:t>
            </a:r>
          </a:p>
        </p:txBody>
      </p:sp>
      <p:sp>
        <p:nvSpPr>
          <p:cNvPr id="20" name="TextBox 19"/>
          <p:cNvSpPr txBox="1"/>
          <p:nvPr/>
        </p:nvSpPr>
        <p:spPr>
          <a:xfrm>
            <a:off x="6400800" y="3547872"/>
            <a:ext cx="5303520" cy="320040"/>
          </a:xfrm>
          <a:prstGeom prst="rect">
            <a:avLst/>
          </a:prstGeom>
          <a:noFill/>
        </p:spPr>
        <p:txBody>
          <a:bodyPr wrap="square">
            <a:spAutoFit/>
          </a:bodyPr>
          <a:lstStyle/>
          <a:p>
            <a:pPr algn="l"/>
            <a:r>
              <a:rPr sz="1200" b="1" i="0">
                <a:solidFill>
                  <a:srgbClr val="D97706"/>
                </a:solidFill>
              </a:rPr>
              <a:t>Broad Undifferentiated Launch</a:t>
            </a:r>
          </a:p>
        </p:txBody>
      </p:sp>
      <p:sp>
        <p:nvSpPr>
          <p:cNvPr id="21" name="TextBox 20"/>
          <p:cNvSpPr txBox="1"/>
          <p:nvPr/>
        </p:nvSpPr>
        <p:spPr>
          <a:xfrm>
            <a:off x="6400800" y="3895344"/>
            <a:ext cx="5303520" cy="646331"/>
          </a:xfrm>
          <a:prstGeom prst="rect">
            <a:avLst/>
          </a:prstGeom>
          <a:noFill/>
        </p:spPr>
        <p:txBody>
          <a:bodyPr wrap="square">
            <a:spAutoFit/>
          </a:bodyPr>
          <a:lstStyle/>
          <a:p>
            <a:pPr algn="just"/>
            <a:r>
              <a:rPr sz="1200" b="0" i="0" dirty="0">
                <a:solidFill>
                  <a:srgbClr val="0A1A2E"/>
                </a:solidFill>
                <a:latin typeface="+mj-lt"/>
              </a:rPr>
              <a:t>Launching AI search as a feature for all merchant tiers without a premium positioning strategy reduces the perceived value and misses the opportunity to convert high-value merchants from competing platforms.</a:t>
            </a:r>
          </a:p>
        </p:txBody>
      </p:sp>
      <p:sp>
        <p:nvSpPr>
          <p:cNvPr id="22" name="TextBox 21"/>
          <p:cNvSpPr txBox="1"/>
          <p:nvPr/>
        </p:nvSpPr>
        <p:spPr>
          <a:xfrm>
            <a:off x="6400800" y="5010912"/>
            <a:ext cx="5303520" cy="320040"/>
          </a:xfrm>
          <a:prstGeom prst="rect">
            <a:avLst/>
          </a:prstGeom>
          <a:noFill/>
        </p:spPr>
        <p:txBody>
          <a:bodyPr wrap="square">
            <a:spAutoFit/>
          </a:bodyPr>
          <a:lstStyle/>
          <a:p>
            <a:pPr algn="l"/>
            <a:r>
              <a:rPr sz="1200" b="1" i="0">
                <a:solidFill>
                  <a:srgbClr val="D97706"/>
                </a:solidFill>
              </a:rPr>
              <a:t>Passive Market Communication</a:t>
            </a:r>
          </a:p>
        </p:txBody>
      </p:sp>
      <p:sp>
        <p:nvSpPr>
          <p:cNvPr id="23" name="TextBox 22"/>
          <p:cNvSpPr txBox="1"/>
          <p:nvPr/>
        </p:nvSpPr>
        <p:spPr>
          <a:xfrm>
            <a:off x="6400800" y="5358384"/>
            <a:ext cx="5303520" cy="646331"/>
          </a:xfrm>
          <a:prstGeom prst="rect">
            <a:avLst/>
          </a:prstGeom>
          <a:noFill/>
        </p:spPr>
        <p:txBody>
          <a:bodyPr wrap="square">
            <a:spAutoFit/>
          </a:bodyPr>
          <a:lstStyle/>
          <a:p>
            <a:pPr algn="just"/>
            <a:r>
              <a:rPr sz="1200" b="0" i="0" dirty="0">
                <a:solidFill>
                  <a:srgbClr val="0A1A2E"/>
                </a:solidFill>
                <a:latin typeface="+mj-lt"/>
              </a:rPr>
              <a:t>Relying on organic discovery rather than active outreach to at-risk Amazon merchants. The merchants most likely to switch are not searching for Shopify</a:t>
            </a:r>
            <a:r>
              <a:rPr lang="es-CL" sz="1200" b="0" i="0" dirty="0">
                <a:solidFill>
                  <a:srgbClr val="0A1A2E"/>
                </a:solidFill>
                <a:latin typeface="+mj-lt"/>
              </a:rPr>
              <a:t>,</a:t>
            </a:r>
            <a:r>
              <a:rPr sz="1200" b="0" i="0" dirty="0">
                <a:solidFill>
                  <a:srgbClr val="0A1A2E"/>
                </a:solidFill>
                <a:latin typeface="+mj-lt"/>
              </a:rPr>
              <a:t> Shopify needs to find them during the window of maximum opportunity.</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280160"/>
          </a:xfrm>
          <a:prstGeom prst="rect">
            <a:avLst/>
          </a:prstGeom>
          <a:solidFill>
            <a:schemeClr val="accent5">
              <a:lumMod val="5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182880"/>
            <a:ext cx="10972800" cy="777240"/>
          </a:xfrm>
          <a:prstGeom prst="rect">
            <a:avLst/>
          </a:prstGeom>
          <a:noFill/>
        </p:spPr>
        <p:txBody>
          <a:bodyPr wrap="square">
            <a:spAutoFit/>
          </a:bodyPr>
          <a:lstStyle/>
          <a:p>
            <a:pPr algn="l"/>
            <a:r>
              <a:rPr sz="3000" b="1" i="0" dirty="0">
                <a:solidFill>
                  <a:srgbClr val="FFFFFF"/>
                </a:solidFill>
              </a:rPr>
              <a:t>Risk Monitoring &amp; Control Framework</a:t>
            </a:r>
          </a:p>
        </p:txBody>
      </p:sp>
      <p:sp>
        <p:nvSpPr>
          <p:cNvPr id="5" name="TextBox 4"/>
          <p:cNvSpPr txBox="1"/>
          <p:nvPr/>
        </p:nvSpPr>
        <p:spPr>
          <a:xfrm>
            <a:off x="365760" y="914400"/>
            <a:ext cx="10972800" cy="292388"/>
          </a:xfrm>
          <a:prstGeom prst="rect">
            <a:avLst/>
          </a:prstGeom>
          <a:noFill/>
        </p:spPr>
        <p:txBody>
          <a:bodyPr wrap="square">
            <a:spAutoFit/>
          </a:bodyPr>
          <a:lstStyle/>
          <a:p>
            <a:pPr algn="l"/>
            <a:r>
              <a:rPr sz="1300" b="0" i="0" dirty="0">
                <a:solidFill>
                  <a:srgbClr val="E8F5EE"/>
                </a:solidFill>
              </a:rPr>
              <a:t>Part 3 · Ekene </a:t>
            </a:r>
            <a:r>
              <a:rPr sz="1300" b="0" i="0" dirty="0" err="1">
                <a:solidFill>
                  <a:srgbClr val="E8F5EE"/>
                </a:solidFill>
              </a:rPr>
              <a:t>Onyemanjo</a:t>
            </a:r>
            <a:endParaRPr sz="1300" b="0" i="0" dirty="0">
              <a:solidFill>
                <a:srgbClr val="E8F5EE"/>
              </a:solidFill>
            </a:endParaRPr>
          </a:p>
        </p:txBody>
      </p:sp>
      <p:sp>
        <p:nvSpPr>
          <p:cNvPr id="6" name="Rectangle 5"/>
          <p:cNvSpPr/>
          <p:nvPr/>
        </p:nvSpPr>
        <p:spPr>
          <a:xfrm>
            <a:off x="320040" y="1508760"/>
            <a:ext cx="2011680" cy="1051560"/>
          </a:xfrm>
          <a:prstGeom prst="rect">
            <a:avLst/>
          </a:prstGeom>
          <a:solidFill>
            <a:schemeClr val="accent3">
              <a:lumMod val="20000"/>
              <a:lumOff val="8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29276" y="1720739"/>
            <a:ext cx="2011680" cy="523220"/>
          </a:xfrm>
          <a:prstGeom prst="rect">
            <a:avLst/>
          </a:prstGeom>
          <a:noFill/>
        </p:spPr>
        <p:txBody>
          <a:bodyPr wrap="square">
            <a:spAutoFit/>
          </a:bodyPr>
          <a:lstStyle/>
          <a:p>
            <a:pPr algn="ctr"/>
            <a:r>
              <a:rPr sz="2800" b="1" i="0" dirty="0"/>
              <a:t>Identify</a:t>
            </a:r>
          </a:p>
        </p:txBody>
      </p:sp>
      <p:sp>
        <p:nvSpPr>
          <p:cNvPr id="9" name="TextBox 8"/>
          <p:cNvSpPr txBox="1"/>
          <p:nvPr/>
        </p:nvSpPr>
        <p:spPr>
          <a:xfrm>
            <a:off x="2331720" y="1737360"/>
            <a:ext cx="182880" cy="457200"/>
          </a:xfrm>
          <a:prstGeom prst="rect">
            <a:avLst/>
          </a:prstGeom>
          <a:noFill/>
        </p:spPr>
        <p:txBody>
          <a:bodyPr wrap="square">
            <a:spAutoFit/>
          </a:bodyPr>
          <a:lstStyle/>
          <a:p>
            <a:pPr algn="ctr"/>
            <a:r>
              <a:rPr sz="2000" b="1" i="0">
                <a:solidFill>
                  <a:srgbClr val="008C5A"/>
                </a:solidFill>
              </a:rPr>
              <a:t>→</a:t>
            </a:r>
          </a:p>
        </p:txBody>
      </p:sp>
      <p:sp>
        <p:nvSpPr>
          <p:cNvPr id="10" name="Rectangle 9"/>
          <p:cNvSpPr/>
          <p:nvPr/>
        </p:nvSpPr>
        <p:spPr>
          <a:xfrm>
            <a:off x="2496312" y="1508760"/>
            <a:ext cx="2011680" cy="1051560"/>
          </a:xfrm>
          <a:prstGeom prst="rect">
            <a:avLst/>
          </a:prstGeom>
          <a:solidFill>
            <a:schemeClr val="accent3">
              <a:lumMod val="40000"/>
              <a:lumOff val="6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505548" y="1720739"/>
            <a:ext cx="2011680" cy="523220"/>
          </a:xfrm>
          <a:prstGeom prst="rect">
            <a:avLst/>
          </a:prstGeom>
          <a:noFill/>
        </p:spPr>
        <p:txBody>
          <a:bodyPr wrap="square">
            <a:spAutoFit/>
          </a:bodyPr>
          <a:lstStyle/>
          <a:p>
            <a:pPr algn="ctr"/>
            <a:r>
              <a:rPr sz="2800" b="1" i="0" dirty="0"/>
              <a:t>Assess</a:t>
            </a:r>
          </a:p>
        </p:txBody>
      </p:sp>
      <p:sp>
        <p:nvSpPr>
          <p:cNvPr id="13" name="TextBox 12"/>
          <p:cNvSpPr txBox="1"/>
          <p:nvPr/>
        </p:nvSpPr>
        <p:spPr>
          <a:xfrm>
            <a:off x="4507992" y="1737360"/>
            <a:ext cx="182880" cy="457200"/>
          </a:xfrm>
          <a:prstGeom prst="rect">
            <a:avLst/>
          </a:prstGeom>
          <a:noFill/>
        </p:spPr>
        <p:txBody>
          <a:bodyPr wrap="square">
            <a:spAutoFit/>
          </a:bodyPr>
          <a:lstStyle/>
          <a:p>
            <a:pPr algn="ctr"/>
            <a:r>
              <a:rPr sz="2000" b="1" i="0">
                <a:solidFill>
                  <a:srgbClr val="008C5A"/>
                </a:solidFill>
              </a:rPr>
              <a:t>→</a:t>
            </a:r>
          </a:p>
        </p:txBody>
      </p:sp>
      <p:sp>
        <p:nvSpPr>
          <p:cNvPr id="14" name="Rectangle 13"/>
          <p:cNvSpPr/>
          <p:nvPr/>
        </p:nvSpPr>
        <p:spPr>
          <a:xfrm>
            <a:off x="4672584" y="1508760"/>
            <a:ext cx="2011680" cy="1051560"/>
          </a:xfrm>
          <a:prstGeom prst="rect">
            <a:avLst/>
          </a:prstGeom>
          <a:solidFill>
            <a:schemeClr val="accent3">
              <a:lumMod val="60000"/>
              <a:lumOff val="4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681820" y="1720739"/>
            <a:ext cx="2011680" cy="523220"/>
          </a:xfrm>
          <a:prstGeom prst="rect">
            <a:avLst/>
          </a:prstGeom>
          <a:noFill/>
        </p:spPr>
        <p:txBody>
          <a:bodyPr wrap="square">
            <a:spAutoFit/>
          </a:bodyPr>
          <a:lstStyle/>
          <a:p>
            <a:pPr algn="ctr"/>
            <a:r>
              <a:rPr sz="2800" b="1" i="0" dirty="0"/>
              <a:t>Quantify</a:t>
            </a:r>
          </a:p>
        </p:txBody>
      </p:sp>
      <p:sp>
        <p:nvSpPr>
          <p:cNvPr id="17" name="TextBox 16"/>
          <p:cNvSpPr txBox="1"/>
          <p:nvPr/>
        </p:nvSpPr>
        <p:spPr>
          <a:xfrm>
            <a:off x="6684264" y="1737360"/>
            <a:ext cx="182880" cy="457200"/>
          </a:xfrm>
          <a:prstGeom prst="rect">
            <a:avLst/>
          </a:prstGeom>
          <a:noFill/>
        </p:spPr>
        <p:txBody>
          <a:bodyPr wrap="square">
            <a:spAutoFit/>
          </a:bodyPr>
          <a:lstStyle/>
          <a:p>
            <a:pPr algn="ctr"/>
            <a:r>
              <a:rPr sz="2000" b="1" i="0">
                <a:solidFill>
                  <a:srgbClr val="008C5A"/>
                </a:solidFill>
              </a:rPr>
              <a:t>→</a:t>
            </a:r>
          </a:p>
        </p:txBody>
      </p:sp>
      <p:sp>
        <p:nvSpPr>
          <p:cNvPr id="18" name="Rectangle 17"/>
          <p:cNvSpPr/>
          <p:nvPr/>
        </p:nvSpPr>
        <p:spPr>
          <a:xfrm>
            <a:off x="6848856" y="1508760"/>
            <a:ext cx="2011680" cy="1051560"/>
          </a:xfrm>
          <a:prstGeom prst="rect">
            <a:avLst/>
          </a:prstGeom>
          <a:solidFill>
            <a:schemeClr val="accent3">
              <a:lumMod val="7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858092" y="1720739"/>
            <a:ext cx="2011680" cy="523220"/>
          </a:xfrm>
          <a:prstGeom prst="rect">
            <a:avLst/>
          </a:prstGeom>
          <a:noFill/>
        </p:spPr>
        <p:txBody>
          <a:bodyPr wrap="square">
            <a:spAutoFit/>
          </a:bodyPr>
          <a:lstStyle/>
          <a:p>
            <a:pPr algn="ctr"/>
            <a:r>
              <a:rPr sz="2800" b="1" i="0" dirty="0"/>
              <a:t>Prioritize</a:t>
            </a:r>
          </a:p>
        </p:txBody>
      </p:sp>
      <p:sp>
        <p:nvSpPr>
          <p:cNvPr id="21" name="TextBox 20"/>
          <p:cNvSpPr txBox="1"/>
          <p:nvPr/>
        </p:nvSpPr>
        <p:spPr>
          <a:xfrm>
            <a:off x="8860536" y="1737360"/>
            <a:ext cx="182880" cy="457200"/>
          </a:xfrm>
          <a:prstGeom prst="rect">
            <a:avLst/>
          </a:prstGeom>
          <a:noFill/>
        </p:spPr>
        <p:txBody>
          <a:bodyPr wrap="square">
            <a:spAutoFit/>
          </a:bodyPr>
          <a:lstStyle/>
          <a:p>
            <a:pPr algn="ctr"/>
            <a:r>
              <a:rPr sz="2000" b="1" i="0">
                <a:solidFill>
                  <a:srgbClr val="008C5A"/>
                </a:solidFill>
              </a:rPr>
              <a:t>→</a:t>
            </a:r>
          </a:p>
        </p:txBody>
      </p:sp>
      <p:sp>
        <p:nvSpPr>
          <p:cNvPr id="22" name="Rectangle 21"/>
          <p:cNvSpPr/>
          <p:nvPr/>
        </p:nvSpPr>
        <p:spPr>
          <a:xfrm>
            <a:off x="9025128" y="1508760"/>
            <a:ext cx="2011680" cy="1051560"/>
          </a:xfrm>
          <a:prstGeom prst="rect">
            <a:avLst/>
          </a:prstGeom>
          <a:solidFill>
            <a:schemeClr val="accent3">
              <a:lumMod val="5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034364" y="1720739"/>
            <a:ext cx="2011680" cy="523220"/>
          </a:xfrm>
          <a:prstGeom prst="rect">
            <a:avLst/>
          </a:prstGeom>
          <a:noFill/>
        </p:spPr>
        <p:txBody>
          <a:bodyPr wrap="square">
            <a:spAutoFit/>
          </a:bodyPr>
          <a:lstStyle/>
          <a:p>
            <a:pPr algn="ctr"/>
            <a:r>
              <a:rPr sz="2800" b="1" i="0" dirty="0"/>
              <a:t>Monitor</a:t>
            </a:r>
          </a:p>
        </p:txBody>
      </p:sp>
      <p:sp>
        <p:nvSpPr>
          <p:cNvPr id="25" name="Rectangle 24"/>
          <p:cNvSpPr/>
          <p:nvPr/>
        </p:nvSpPr>
        <p:spPr>
          <a:xfrm>
            <a:off x="274320" y="2743200"/>
            <a:ext cx="11612880" cy="1508760"/>
          </a:xfrm>
          <a:prstGeom prst="rect">
            <a:avLst/>
          </a:prstGeom>
          <a:solidFill>
            <a:srgbClr val="FFFFFF"/>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457200" y="2834640"/>
            <a:ext cx="10972800" cy="320040"/>
          </a:xfrm>
          <a:prstGeom prst="rect">
            <a:avLst/>
          </a:prstGeom>
          <a:noFill/>
        </p:spPr>
        <p:txBody>
          <a:bodyPr wrap="square">
            <a:spAutoFit/>
          </a:bodyPr>
          <a:lstStyle/>
          <a:p>
            <a:pPr algn="l"/>
            <a:r>
              <a:rPr sz="1300" b="1" i="0">
                <a:solidFill>
                  <a:srgbClr val="008C5A"/>
                </a:solidFill>
              </a:rPr>
              <a:t>Risk Owners &amp; Review Frequency</a:t>
            </a:r>
          </a:p>
        </p:txBody>
      </p:sp>
      <p:sp>
        <p:nvSpPr>
          <p:cNvPr id="27" name="Rectangle 26"/>
          <p:cNvSpPr/>
          <p:nvPr/>
        </p:nvSpPr>
        <p:spPr>
          <a:xfrm>
            <a:off x="411480" y="3182112"/>
            <a:ext cx="640080" cy="256032"/>
          </a:xfrm>
          <a:prstGeom prst="rect">
            <a:avLst/>
          </a:prstGeom>
          <a:solidFill>
            <a:srgbClr val="0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438912" y="3200400"/>
            <a:ext cx="594359" cy="219456"/>
          </a:xfrm>
          <a:prstGeom prst="rect">
            <a:avLst/>
          </a:prstGeom>
          <a:noFill/>
        </p:spPr>
        <p:txBody>
          <a:bodyPr wrap="square">
            <a:spAutoFit/>
          </a:bodyPr>
          <a:lstStyle/>
          <a:p>
            <a:pPr algn="ctr"/>
            <a:r>
              <a:rPr sz="1000" b="1" i="0">
                <a:solidFill>
                  <a:srgbClr val="FFFFFF"/>
                </a:solidFill>
              </a:rPr>
              <a:t>Risk</a:t>
            </a:r>
          </a:p>
        </p:txBody>
      </p:sp>
      <p:sp>
        <p:nvSpPr>
          <p:cNvPr id="29" name="Rectangle 28"/>
          <p:cNvSpPr/>
          <p:nvPr/>
        </p:nvSpPr>
        <p:spPr>
          <a:xfrm>
            <a:off x="1088136" y="3182112"/>
            <a:ext cx="2560320" cy="256032"/>
          </a:xfrm>
          <a:prstGeom prst="rect">
            <a:avLst/>
          </a:prstGeom>
          <a:solidFill>
            <a:srgbClr val="0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1115568" y="3200400"/>
            <a:ext cx="2514600" cy="219456"/>
          </a:xfrm>
          <a:prstGeom prst="rect">
            <a:avLst/>
          </a:prstGeom>
          <a:noFill/>
        </p:spPr>
        <p:txBody>
          <a:bodyPr wrap="square">
            <a:spAutoFit/>
          </a:bodyPr>
          <a:lstStyle/>
          <a:p>
            <a:pPr algn="ctr"/>
            <a:r>
              <a:rPr sz="1000" b="1" i="0">
                <a:solidFill>
                  <a:srgbClr val="FFFFFF"/>
                </a:solidFill>
              </a:rPr>
              <a:t>Description</a:t>
            </a:r>
          </a:p>
        </p:txBody>
      </p:sp>
      <p:sp>
        <p:nvSpPr>
          <p:cNvPr id="31" name="Rectangle 30"/>
          <p:cNvSpPr/>
          <p:nvPr/>
        </p:nvSpPr>
        <p:spPr>
          <a:xfrm>
            <a:off x="3685031" y="3182112"/>
            <a:ext cx="2011680" cy="256032"/>
          </a:xfrm>
          <a:prstGeom prst="rect">
            <a:avLst/>
          </a:prstGeom>
          <a:solidFill>
            <a:srgbClr val="0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3712463" y="3200400"/>
            <a:ext cx="1965960" cy="219456"/>
          </a:xfrm>
          <a:prstGeom prst="rect">
            <a:avLst/>
          </a:prstGeom>
          <a:noFill/>
        </p:spPr>
        <p:txBody>
          <a:bodyPr wrap="square">
            <a:spAutoFit/>
          </a:bodyPr>
          <a:lstStyle/>
          <a:p>
            <a:pPr algn="ctr"/>
            <a:r>
              <a:rPr sz="1000" b="1" i="0">
                <a:solidFill>
                  <a:srgbClr val="FFFFFF"/>
                </a:solidFill>
              </a:rPr>
              <a:t>Owner</a:t>
            </a:r>
          </a:p>
        </p:txBody>
      </p:sp>
      <p:sp>
        <p:nvSpPr>
          <p:cNvPr id="33" name="Rectangle 32"/>
          <p:cNvSpPr/>
          <p:nvPr/>
        </p:nvSpPr>
        <p:spPr>
          <a:xfrm>
            <a:off x="5733288" y="3182112"/>
            <a:ext cx="2377440" cy="256032"/>
          </a:xfrm>
          <a:prstGeom prst="rect">
            <a:avLst/>
          </a:prstGeom>
          <a:solidFill>
            <a:srgbClr val="0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5760720" y="3200400"/>
            <a:ext cx="2331720" cy="219456"/>
          </a:xfrm>
          <a:prstGeom prst="rect">
            <a:avLst/>
          </a:prstGeom>
          <a:noFill/>
        </p:spPr>
        <p:txBody>
          <a:bodyPr wrap="square">
            <a:spAutoFit/>
          </a:bodyPr>
          <a:lstStyle/>
          <a:p>
            <a:pPr algn="ctr"/>
            <a:r>
              <a:rPr sz="1000" b="1" i="0">
                <a:solidFill>
                  <a:srgbClr val="FFFFFF"/>
                </a:solidFill>
              </a:rPr>
              <a:t>KRI</a:t>
            </a:r>
          </a:p>
        </p:txBody>
      </p:sp>
      <p:sp>
        <p:nvSpPr>
          <p:cNvPr id="35" name="Rectangle 34"/>
          <p:cNvSpPr/>
          <p:nvPr/>
        </p:nvSpPr>
        <p:spPr>
          <a:xfrm>
            <a:off x="8147303" y="3182112"/>
            <a:ext cx="1234440" cy="256032"/>
          </a:xfrm>
          <a:prstGeom prst="rect">
            <a:avLst/>
          </a:prstGeom>
          <a:solidFill>
            <a:srgbClr val="0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8174735" y="3200400"/>
            <a:ext cx="1188720" cy="219456"/>
          </a:xfrm>
          <a:prstGeom prst="rect">
            <a:avLst/>
          </a:prstGeom>
          <a:noFill/>
        </p:spPr>
        <p:txBody>
          <a:bodyPr wrap="square">
            <a:spAutoFit/>
          </a:bodyPr>
          <a:lstStyle/>
          <a:p>
            <a:pPr algn="ctr"/>
            <a:r>
              <a:rPr sz="1000" b="1" i="0">
                <a:solidFill>
                  <a:srgbClr val="FFFFFF"/>
                </a:solidFill>
              </a:rPr>
              <a:t>Review Freq.</a:t>
            </a:r>
          </a:p>
        </p:txBody>
      </p:sp>
      <p:sp>
        <p:nvSpPr>
          <p:cNvPr id="37" name="Rectangle 36"/>
          <p:cNvSpPr/>
          <p:nvPr/>
        </p:nvSpPr>
        <p:spPr>
          <a:xfrm>
            <a:off x="9418319" y="3182112"/>
            <a:ext cx="2377440" cy="256032"/>
          </a:xfrm>
          <a:prstGeom prst="rect">
            <a:avLst/>
          </a:prstGeom>
          <a:solidFill>
            <a:srgbClr val="0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9445751" y="3200400"/>
            <a:ext cx="2331720" cy="219456"/>
          </a:xfrm>
          <a:prstGeom prst="rect">
            <a:avLst/>
          </a:prstGeom>
          <a:noFill/>
        </p:spPr>
        <p:txBody>
          <a:bodyPr wrap="square">
            <a:spAutoFit/>
          </a:bodyPr>
          <a:lstStyle/>
          <a:p>
            <a:pPr algn="ctr"/>
            <a:r>
              <a:rPr sz="1000" b="1" i="0">
                <a:solidFill>
                  <a:srgbClr val="FFFFFF"/>
                </a:solidFill>
              </a:rPr>
              <a:t>Next Action</a:t>
            </a:r>
          </a:p>
        </p:txBody>
      </p:sp>
      <p:sp>
        <p:nvSpPr>
          <p:cNvPr id="39" name="Rectangle 38"/>
          <p:cNvSpPr/>
          <p:nvPr/>
        </p:nvSpPr>
        <p:spPr>
          <a:xfrm>
            <a:off x="411480" y="3456432"/>
            <a:ext cx="640080" cy="274320"/>
          </a:xfrm>
          <a:prstGeom prst="rect">
            <a:avLst/>
          </a:prstGeom>
          <a:solidFill>
            <a:srgbClr val="E8F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438912" y="3465576"/>
            <a:ext cx="594359" cy="256032"/>
          </a:xfrm>
          <a:prstGeom prst="rect">
            <a:avLst/>
          </a:prstGeom>
          <a:noFill/>
        </p:spPr>
        <p:txBody>
          <a:bodyPr wrap="square">
            <a:spAutoFit/>
          </a:bodyPr>
          <a:lstStyle/>
          <a:p>
            <a:pPr algn="ctr"/>
            <a:r>
              <a:rPr sz="1000" b="0" i="0">
                <a:solidFill>
                  <a:srgbClr val="0A1A2E"/>
                </a:solidFill>
              </a:rPr>
              <a:t>R1</a:t>
            </a:r>
          </a:p>
        </p:txBody>
      </p:sp>
      <p:sp>
        <p:nvSpPr>
          <p:cNvPr id="41" name="Rectangle 40"/>
          <p:cNvSpPr/>
          <p:nvPr/>
        </p:nvSpPr>
        <p:spPr>
          <a:xfrm>
            <a:off x="1088136" y="3456432"/>
            <a:ext cx="2560320" cy="274320"/>
          </a:xfrm>
          <a:prstGeom prst="rect">
            <a:avLst/>
          </a:prstGeom>
          <a:solidFill>
            <a:srgbClr val="E8F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1115568" y="3465576"/>
            <a:ext cx="2514600" cy="256032"/>
          </a:xfrm>
          <a:prstGeom prst="rect">
            <a:avLst/>
          </a:prstGeom>
          <a:noFill/>
        </p:spPr>
        <p:txBody>
          <a:bodyPr wrap="square">
            <a:spAutoFit/>
          </a:bodyPr>
          <a:lstStyle/>
          <a:p>
            <a:pPr algn="l"/>
            <a:r>
              <a:rPr sz="1000" b="0" i="0">
                <a:solidFill>
                  <a:srgbClr val="0A1A2E"/>
                </a:solidFill>
              </a:rPr>
              <a:t>Merchant Churn</a:t>
            </a:r>
          </a:p>
        </p:txBody>
      </p:sp>
      <p:sp>
        <p:nvSpPr>
          <p:cNvPr id="43" name="Rectangle 42"/>
          <p:cNvSpPr/>
          <p:nvPr/>
        </p:nvSpPr>
        <p:spPr>
          <a:xfrm>
            <a:off x="3685031" y="3456432"/>
            <a:ext cx="2011680" cy="274320"/>
          </a:xfrm>
          <a:prstGeom prst="rect">
            <a:avLst/>
          </a:prstGeom>
          <a:solidFill>
            <a:srgbClr val="E8F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3712463" y="3465576"/>
            <a:ext cx="1965960" cy="256032"/>
          </a:xfrm>
          <a:prstGeom prst="rect">
            <a:avLst/>
          </a:prstGeom>
          <a:noFill/>
        </p:spPr>
        <p:txBody>
          <a:bodyPr wrap="square">
            <a:spAutoFit/>
          </a:bodyPr>
          <a:lstStyle/>
          <a:p>
            <a:pPr algn="ctr"/>
            <a:r>
              <a:rPr sz="1000" b="0" i="0">
                <a:solidFill>
                  <a:srgbClr val="0A1A2E"/>
                </a:solidFill>
              </a:rPr>
              <a:t>CTO / Integration Team</a:t>
            </a:r>
          </a:p>
        </p:txBody>
      </p:sp>
      <p:sp>
        <p:nvSpPr>
          <p:cNvPr id="45" name="Rectangle 44"/>
          <p:cNvSpPr/>
          <p:nvPr/>
        </p:nvSpPr>
        <p:spPr>
          <a:xfrm>
            <a:off x="5733288" y="3456432"/>
            <a:ext cx="2377440" cy="274320"/>
          </a:xfrm>
          <a:prstGeom prst="rect">
            <a:avLst/>
          </a:prstGeom>
          <a:solidFill>
            <a:srgbClr val="E8F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5760720" y="3465576"/>
            <a:ext cx="2331720" cy="256032"/>
          </a:xfrm>
          <a:prstGeom prst="rect">
            <a:avLst/>
          </a:prstGeom>
          <a:noFill/>
        </p:spPr>
        <p:txBody>
          <a:bodyPr wrap="square">
            <a:spAutoFit/>
          </a:bodyPr>
          <a:lstStyle/>
          <a:p>
            <a:pPr algn="l"/>
            <a:r>
              <a:rPr sz="1000" b="0" i="0" dirty="0">
                <a:solidFill>
                  <a:srgbClr val="0A1A2E"/>
                </a:solidFill>
              </a:rPr>
              <a:t>Monthly merchant MRR delta</a:t>
            </a:r>
            <a:r>
              <a:rPr lang="es-CL" sz="1000" b="0" i="0" dirty="0">
                <a:solidFill>
                  <a:srgbClr val="0A1A2E"/>
                </a:solidFill>
              </a:rPr>
              <a:t>.</a:t>
            </a:r>
            <a:endParaRPr sz="1000" b="0" i="0" dirty="0">
              <a:solidFill>
                <a:srgbClr val="0A1A2E"/>
              </a:solidFill>
            </a:endParaRPr>
          </a:p>
        </p:txBody>
      </p:sp>
      <p:sp>
        <p:nvSpPr>
          <p:cNvPr id="47" name="Rectangle 46"/>
          <p:cNvSpPr/>
          <p:nvPr/>
        </p:nvSpPr>
        <p:spPr>
          <a:xfrm>
            <a:off x="8147303" y="3456432"/>
            <a:ext cx="1234440" cy="274320"/>
          </a:xfrm>
          <a:prstGeom prst="rect">
            <a:avLst/>
          </a:prstGeom>
          <a:solidFill>
            <a:srgbClr val="E8F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8174735" y="3465576"/>
            <a:ext cx="1188720" cy="256032"/>
          </a:xfrm>
          <a:prstGeom prst="rect">
            <a:avLst/>
          </a:prstGeom>
          <a:noFill/>
        </p:spPr>
        <p:txBody>
          <a:bodyPr wrap="square">
            <a:spAutoFit/>
          </a:bodyPr>
          <a:lstStyle/>
          <a:p>
            <a:pPr algn="ctr"/>
            <a:r>
              <a:rPr sz="1000" b="0" i="0">
                <a:solidFill>
                  <a:srgbClr val="0A1A2E"/>
                </a:solidFill>
              </a:rPr>
              <a:t>Monthly</a:t>
            </a:r>
          </a:p>
        </p:txBody>
      </p:sp>
      <p:sp>
        <p:nvSpPr>
          <p:cNvPr id="49" name="Rectangle 48"/>
          <p:cNvSpPr/>
          <p:nvPr/>
        </p:nvSpPr>
        <p:spPr>
          <a:xfrm>
            <a:off x="9418319" y="3456432"/>
            <a:ext cx="2377440" cy="274320"/>
          </a:xfrm>
          <a:prstGeom prst="rect">
            <a:avLst/>
          </a:prstGeom>
          <a:solidFill>
            <a:srgbClr val="E8F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9445751" y="3465576"/>
            <a:ext cx="2331720" cy="256032"/>
          </a:xfrm>
          <a:prstGeom prst="rect">
            <a:avLst/>
          </a:prstGeom>
          <a:noFill/>
        </p:spPr>
        <p:txBody>
          <a:bodyPr wrap="square">
            <a:spAutoFit/>
          </a:bodyPr>
          <a:lstStyle/>
          <a:p>
            <a:pPr algn="l"/>
            <a:r>
              <a:rPr sz="1000" b="0" i="0" dirty="0">
                <a:solidFill>
                  <a:srgbClr val="0A1A2E"/>
                </a:solidFill>
              </a:rPr>
              <a:t>Activate pilot cohort monitoring</a:t>
            </a:r>
            <a:r>
              <a:rPr lang="es-CL" sz="1000" b="0" i="0" dirty="0">
                <a:solidFill>
                  <a:srgbClr val="0A1A2E"/>
                </a:solidFill>
              </a:rPr>
              <a:t>.</a:t>
            </a:r>
            <a:endParaRPr sz="1000" b="0" i="0" dirty="0">
              <a:solidFill>
                <a:srgbClr val="0A1A2E"/>
              </a:solidFill>
            </a:endParaRPr>
          </a:p>
        </p:txBody>
      </p:sp>
      <p:sp>
        <p:nvSpPr>
          <p:cNvPr id="51" name="Rectangle 50"/>
          <p:cNvSpPr/>
          <p:nvPr/>
        </p:nvSpPr>
        <p:spPr>
          <a:xfrm>
            <a:off x="411480" y="3758183"/>
            <a:ext cx="640080" cy="27432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438912" y="3767328"/>
            <a:ext cx="594359" cy="256032"/>
          </a:xfrm>
          <a:prstGeom prst="rect">
            <a:avLst/>
          </a:prstGeom>
          <a:noFill/>
        </p:spPr>
        <p:txBody>
          <a:bodyPr wrap="square">
            <a:spAutoFit/>
          </a:bodyPr>
          <a:lstStyle/>
          <a:p>
            <a:pPr algn="ctr"/>
            <a:r>
              <a:rPr sz="1000" b="0" i="0">
                <a:solidFill>
                  <a:srgbClr val="0A1A2E"/>
                </a:solidFill>
              </a:rPr>
              <a:t>R2</a:t>
            </a:r>
          </a:p>
        </p:txBody>
      </p:sp>
      <p:sp>
        <p:nvSpPr>
          <p:cNvPr id="53" name="Rectangle 52"/>
          <p:cNvSpPr/>
          <p:nvPr/>
        </p:nvSpPr>
        <p:spPr>
          <a:xfrm>
            <a:off x="1088136" y="3758183"/>
            <a:ext cx="2560320" cy="27432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1115568" y="3767328"/>
            <a:ext cx="2514600" cy="256032"/>
          </a:xfrm>
          <a:prstGeom prst="rect">
            <a:avLst/>
          </a:prstGeom>
          <a:noFill/>
        </p:spPr>
        <p:txBody>
          <a:bodyPr wrap="square">
            <a:spAutoFit/>
          </a:bodyPr>
          <a:lstStyle/>
          <a:p>
            <a:pPr algn="l"/>
            <a:r>
              <a:rPr sz="1000" b="0" i="0">
                <a:solidFill>
                  <a:srgbClr val="0A1A2E"/>
                </a:solidFill>
              </a:rPr>
              <a:t>GDPR / Regulatory</a:t>
            </a:r>
          </a:p>
        </p:txBody>
      </p:sp>
      <p:sp>
        <p:nvSpPr>
          <p:cNvPr id="55" name="Rectangle 54"/>
          <p:cNvSpPr/>
          <p:nvPr/>
        </p:nvSpPr>
        <p:spPr>
          <a:xfrm>
            <a:off x="3685031" y="3758183"/>
            <a:ext cx="2011680" cy="27432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3712463" y="3767328"/>
            <a:ext cx="1965960" cy="256032"/>
          </a:xfrm>
          <a:prstGeom prst="rect">
            <a:avLst/>
          </a:prstGeom>
          <a:noFill/>
        </p:spPr>
        <p:txBody>
          <a:bodyPr wrap="square">
            <a:spAutoFit/>
          </a:bodyPr>
          <a:lstStyle/>
          <a:p>
            <a:pPr algn="ctr"/>
            <a:r>
              <a:rPr sz="1000" b="0" i="0">
                <a:solidFill>
                  <a:srgbClr val="0A1A2E"/>
                </a:solidFill>
              </a:rPr>
              <a:t>CLO + DPO</a:t>
            </a:r>
          </a:p>
        </p:txBody>
      </p:sp>
      <p:sp>
        <p:nvSpPr>
          <p:cNvPr id="57" name="Rectangle 56"/>
          <p:cNvSpPr/>
          <p:nvPr/>
        </p:nvSpPr>
        <p:spPr>
          <a:xfrm>
            <a:off x="5733288" y="3758183"/>
            <a:ext cx="2377440" cy="27432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5760720" y="3767328"/>
            <a:ext cx="2331720" cy="256032"/>
          </a:xfrm>
          <a:prstGeom prst="rect">
            <a:avLst/>
          </a:prstGeom>
          <a:noFill/>
        </p:spPr>
        <p:txBody>
          <a:bodyPr wrap="square">
            <a:spAutoFit/>
          </a:bodyPr>
          <a:lstStyle/>
          <a:p>
            <a:pPr algn="l"/>
            <a:r>
              <a:rPr sz="1000" b="0" i="0" dirty="0">
                <a:solidFill>
                  <a:srgbClr val="0A1A2E"/>
                </a:solidFill>
              </a:rPr>
              <a:t>Regulatory inquiry filings</a:t>
            </a:r>
            <a:r>
              <a:rPr lang="es-CL" sz="1000" b="0" i="0" dirty="0">
                <a:solidFill>
                  <a:srgbClr val="0A1A2E"/>
                </a:solidFill>
              </a:rPr>
              <a:t>.</a:t>
            </a:r>
            <a:endParaRPr sz="1000" b="0" i="0" dirty="0">
              <a:solidFill>
                <a:srgbClr val="0A1A2E"/>
              </a:solidFill>
            </a:endParaRPr>
          </a:p>
        </p:txBody>
      </p:sp>
      <p:sp>
        <p:nvSpPr>
          <p:cNvPr id="59" name="Rectangle 58"/>
          <p:cNvSpPr/>
          <p:nvPr/>
        </p:nvSpPr>
        <p:spPr>
          <a:xfrm>
            <a:off x="8147303" y="3758183"/>
            <a:ext cx="1234440" cy="27432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8174735" y="3767328"/>
            <a:ext cx="1188720" cy="256032"/>
          </a:xfrm>
          <a:prstGeom prst="rect">
            <a:avLst/>
          </a:prstGeom>
          <a:noFill/>
        </p:spPr>
        <p:txBody>
          <a:bodyPr wrap="square">
            <a:spAutoFit/>
          </a:bodyPr>
          <a:lstStyle/>
          <a:p>
            <a:pPr algn="ctr"/>
            <a:r>
              <a:rPr sz="1000" b="0" i="0">
                <a:solidFill>
                  <a:srgbClr val="0A1A2E"/>
                </a:solidFill>
              </a:rPr>
              <a:t>Quarterly</a:t>
            </a:r>
          </a:p>
        </p:txBody>
      </p:sp>
      <p:sp>
        <p:nvSpPr>
          <p:cNvPr id="61" name="Rectangle 60"/>
          <p:cNvSpPr/>
          <p:nvPr/>
        </p:nvSpPr>
        <p:spPr>
          <a:xfrm>
            <a:off x="9418319" y="3758183"/>
            <a:ext cx="2377440" cy="27432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9445751" y="3767328"/>
            <a:ext cx="2331720" cy="256032"/>
          </a:xfrm>
          <a:prstGeom prst="rect">
            <a:avLst/>
          </a:prstGeom>
          <a:noFill/>
        </p:spPr>
        <p:txBody>
          <a:bodyPr wrap="square">
            <a:spAutoFit/>
          </a:bodyPr>
          <a:lstStyle/>
          <a:p>
            <a:pPr algn="l"/>
            <a:r>
              <a:rPr sz="1000" b="0" i="0" dirty="0">
                <a:solidFill>
                  <a:srgbClr val="0A1A2E"/>
                </a:solidFill>
              </a:rPr>
              <a:t>Establish AI Governance Committee</a:t>
            </a:r>
            <a:r>
              <a:rPr lang="es-CL" sz="1000" b="0" i="0" dirty="0">
                <a:solidFill>
                  <a:srgbClr val="0A1A2E"/>
                </a:solidFill>
              </a:rPr>
              <a:t>.</a:t>
            </a:r>
            <a:endParaRPr sz="1000" b="0" i="0" dirty="0">
              <a:solidFill>
                <a:srgbClr val="0A1A2E"/>
              </a:solidFill>
            </a:endParaRPr>
          </a:p>
        </p:txBody>
      </p:sp>
      <p:sp>
        <p:nvSpPr>
          <p:cNvPr id="63" name="Rectangle 62"/>
          <p:cNvSpPr/>
          <p:nvPr/>
        </p:nvSpPr>
        <p:spPr>
          <a:xfrm>
            <a:off x="411480" y="4059935"/>
            <a:ext cx="640080" cy="274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p:cNvSpPr txBox="1"/>
          <p:nvPr/>
        </p:nvSpPr>
        <p:spPr>
          <a:xfrm>
            <a:off x="438912" y="4069080"/>
            <a:ext cx="594359" cy="256032"/>
          </a:xfrm>
          <a:prstGeom prst="rect">
            <a:avLst/>
          </a:prstGeom>
          <a:noFill/>
        </p:spPr>
        <p:txBody>
          <a:bodyPr wrap="square">
            <a:spAutoFit/>
          </a:bodyPr>
          <a:lstStyle/>
          <a:p>
            <a:pPr algn="ctr"/>
            <a:r>
              <a:rPr sz="1000" b="0" i="0" dirty="0">
                <a:solidFill>
                  <a:srgbClr val="0A1A2E"/>
                </a:solidFill>
              </a:rPr>
              <a:t>R3+</a:t>
            </a:r>
          </a:p>
        </p:txBody>
      </p:sp>
      <p:sp>
        <p:nvSpPr>
          <p:cNvPr id="65" name="Rectangle 64"/>
          <p:cNvSpPr/>
          <p:nvPr/>
        </p:nvSpPr>
        <p:spPr>
          <a:xfrm>
            <a:off x="1088136" y="4059935"/>
            <a:ext cx="2560320" cy="274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1115568" y="4069080"/>
            <a:ext cx="2514600" cy="256032"/>
          </a:xfrm>
          <a:prstGeom prst="rect">
            <a:avLst/>
          </a:prstGeom>
          <a:noFill/>
        </p:spPr>
        <p:txBody>
          <a:bodyPr wrap="square">
            <a:spAutoFit/>
          </a:bodyPr>
          <a:lstStyle/>
          <a:p>
            <a:pPr algn="l"/>
            <a:r>
              <a:rPr sz="1000" b="0" i="0">
                <a:solidFill>
                  <a:srgbClr val="0A1A2E"/>
                </a:solidFill>
              </a:rPr>
              <a:t>Market Window</a:t>
            </a:r>
          </a:p>
        </p:txBody>
      </p:sp>
      <p:sp>
        <p:nvSpPr>
          <p:cNvPr id="67" name="Rectangle 66"/>
          <p:cNvSpPr/>
          <p:nvPr/>
        </p:nvSpPr>
        <p:spPr>
          <a:xfrm>
            <a:off x="3685031" y="4059935"/>
            <a:ext cx="2011680" cy="274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TextBox 67"/>
          <p:cNvSpPr txBox="1"/>
          <p:nvPr/>
        </p:nvSpPr>
        <p:spPr>
          <a:xfrm>
            <a:off x="3712463" y="4069080"/>
            <a:ext cx="1965960" cy="256032"/>
          </a:xfrm>
          <a:prstGeom prst="rect">
            <a:avLst/>
          </a:prstGeom>
          <a:noFill/>
        </p:spPr>
        <p:txBody>
          <a:bodyPr wrap="square">
            <a:spAutoFit/>
          </a:bodyPr>
          <a:lstStyle/>
          <a:p>
            <a:pPr algn="ctr"/>
            <a:r>
              <a:rPr sz="1000" b="0" i="0">
                <a:solidFill>
                  <a:srgbClr val="0A1A2E"/>
                </a:solidFill>
              </a:rPr>
              <a:t>CMO / Strategy</a:t>
            </a:r>
          </a:p>
        </p:txBody>
      </p:sp>
      <p:sp>
        <p:nvSpPr>
          <p:cNvPr id="69" name="Rectangle 68"/>
          <p:cNvSpPr/>
          <p:nvPr/>
        </p:nvSpPr>
        <p:spPr>
          <a:xfrm>
            <a:off x="5733288" y="4059935"/>
            <a:ext cx="2377440" cy="274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TextBox 69"/>
          <p:cNvSpPr txBox="1"/>
          <p:nvPr/>
        </p:nvSpPr>
        <p:spPr>
          <a:xfrm>
            <a:off x="5760720" y="4069080"/>
            <a:ext cx="2331720" cy="256032"/>
          </a:xfrm>
          <a:prstGeom prst="rect">
            <a:avLst/>
          </a:prstGeom>
          <a:noFill/>
        </p:spPr>
        <p:txBody>
          <a:bodyPr wrap="square">
            <a:spAutoFit/>
          </a:bodyPr>
          <a:lstStyle/>
          <a:p>
            <a:pPr algn="l"/>
            <a:r>
              <a:rPr sz="1000" b="0" i="0" dirty="0">
                <a:solidFill>
                  <a:srgbClr val="0A1A2E"/>
                </a:solidFill>
              </a:rPr>
              <a:t>New merchant signup conversi</a:t>
            </a:r>
            <a:r>
              <a:rPr lang="es-CL" sz="1000" b="0" i="0" dirty="0">
                <a:solidFill>
                  <a:srgbClr val="0A1A2E"/>
                </a:solidFill>
              </a:rPr>
              <a:t>o</a:t>
            </a:r>
            <a:r>
              <a:rPr sz="1000" b="0" i="0" dirty="0">
                <a:solidFill>
                  <a:srgbClr val="0A1A2E"/>
                </a:solidFill>
              </a:rPr>
              <a:t>n</a:t>
            </a:r>
            <a:r>
              <a:rPr lang="es-CL" sz="1000" b="0" i="0" dirty="0">
                <a:solidFill>
                  <a:srgbClr val="0A1A2E"/>
                </a:solidFill>
              </a:rPr>
              <a:t>.</a:t>
            </a:r>
            <a:endParaRPr sz="1000" b="0" i="0" dirty="0">
              <a:solidFill>
                <a:srgbClr val="0A1A2E"/>
              </a:solidFill>
            </a:endParaRPr>
          </a:p>
        </p:txBody>
      </p:sp>
      <p:sp>
        <p:nvSpPr>
          <p:cNvPr id="71" name="Rectangle 70"/>
          <p:cNvSpPr/>
          <p:nvPr/>
        </p:nvSpPr>
        <p:spPr>
          <a:xfrm>
            <a:off x="8147303" y="4059935"/>
            <a:ext cx="1234440" cy="274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TextBox 71"/>
          <p:cNvSpPr txBox="1"/>
          <p:nvPr/>
        </p:nvSpPr>
        <p:spPr>
          <a:xfrm>
            <a:off x="8174735" y="4069080"/>
            <a:ext cx="1188720" cy="256032"/>
          </a:xfrm>
          <a:prstGeom prst="rect">
            <a:avLst/>
          </a:prstGeom>
          <a:noFill/>
        </p:spPr>
        <p:txBody>
          <a:bodyPr wrap="square">
            <a:spAutoFit/>
          </a:bodyPr>
          <a:lstStyle/>
          <a:p>
            <a:pPr algn="ctr"/>
            <a:r>
              <a:rPr sz="1000" b="0" i="0">
                <a:solidFill>
                  <a:srgbClr val="0A1A2E"/>
                </a:solidFill>
              </a:rPr>
              <a:t>Monthly</a:t>
            </a:r>
          </a:p>
        </p:txBody>
      </p:sp>
      <p:sp>
        <p:nvSpPr>
          <p:cNvPr id="73" name="Rectangle 72"/>
          <p:cNvSpPr/>
          <p:nvPr/>
        </p:nvSpPr>
        <p:spPr>
          <a:xfrm>
            <a:off x="9418319" y="4059935"/>
            <a:ext cx="2377440" cy="274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TextBox 73"/>
          <p:cNvSpPr txBox="1"/>
          <p:nvPr/>
        </p:nvSpPr>
        <p:spPr>
          <a:xfrm>
            <a:off x="9445751" y="4069080"/>
            <a:ext cx="2331720" cy="256032"/>
          </a:xfrm>
          <a:prstGeom prst="rect">
            <a:avLst/>
          </a:prstGeom>
          <a:noFill/>
        </p:spPr>
        <p:txBody>
          <a:bodyPr wrap="square">
            <a:spAutoFit/>
          </a:bodyPr>
          <a:lstStyle/>
          <a:p>
            <a:pPr algn="l"/>
            <a:r>
              <a:rPr sz="1000" b="0" i="0" dirty="0">
                <a:solidFill>
                  <a:srgbClr val="0A1A2E"/>
                </a:solidFill>
              </a:rPr>
              <a:t>Launch Shopify Plus AI campaign</a:t>
            </a:r>
            <a:r>
              <a:rPr lang="es-CL" sz="1000" b="0" i="0" dirty="0">
                <a:solidFill>
                  <a:srgbClr val="0A1A2E"/>
                </a:solidFill>
              </a:rPr>
              <a:t>.</a:t>
            </a:r>
            <a:endParaRPr sz="1000" b="0" i="0" dirty="0">
              <a:solidFill>
                <a:srgbClr val="0A1A2E"/>
              </a:solidFill>
            </a:endParaRPr>
          </a:p>
        </p:txBody>
      </p:sp>
      <p:sp>
        <p:nvSpPr>
          <p:cNvPr id="75" name="Rectangle 74"/>
          <p:cNvSpPr/>
          <p:nvPr/>
        </p:nvSpPr>
        <p:spPr>
          <a:xfrm>
            <a:off x="274320" y="4370832"/>
            <a:ext cx="11612880" cy="1965960"/>
          </a:xfrm>
          <a:prstGeom prst="rect">
            <a:avLst/>
          </a:prstGeom>
          <a:solidFill>
            <a:srgbClr val="FFFFFF"/>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TextBox 75"/>
          <p:cNvSpPr txBox="1"/>
          <p:nvPr/>
        </p:nvSpPr>
        <p:spPr>
          <a:xfrm>
            <a:off x="457200" y="4462272"/>
            <a:ext cx="10972800" cy="320040"/>
          </a:xfrm>
          <a:prstGeom prst="rect">
            <a:avLst/>
          </a:prstGeom>
          <a:noFill/>
        </p:spPr>
        <p:txBody>
          <a:bodyPr wrap="square">
            <a:spAutoFit/>
          </a:bodyPr>
          <a:lstStyle/>
          <a:p>
            <a:pPr algn="l"/>
            <a:r>
              <a:rPr sz="1300" b="1" i="0">
                <a:solidFill>
                  <a:srgbClr val="008C5A"/>
                </a:solidFill>
              </a:rPr>
              <a:t>Monitoring Principles (aligned with COSO ERM 2017)</a:t>
            </a:r>
          </a:p>
        </p:txBody>
      </p:sp>
      <p:sp>
        <p:nvSpPr>
          <p:cNvPr id="77" name="TextBox 76"/>
          <p:cNvSpPr txBox="1"/>
          <p:nvPr/>
        </p:nvSpPr>
        <p:spPr>
          <a:xfrm>
            <a:off x="457200" y="4864608"/>
            <a:ext cx="1645920" cy="276999"/>
          </a:xfrm>
          <a:prstGeom prst="rect">
            <a:avLst/>
          </a:prstGeom>
          <a:noFill/>
        </p:spPr>
        <p:txBody>
          <a:bodyPr wrap="square">
            <a:spAutoFit/>
          </a:bodyPr>
          <a:lstStyle/>
          <a:p>
            <a:pPr algn="l"/>
            <a:r>
              <a:rPr sz="1200" b="1" i="0">
                <a:solidFill>
                  <a:srgbClr val="1A4A3A"/>
                </a:solidFill>
                <a:latin typeface="+mj-lt"/>
              </a:rPr>
              <a:t>Ongoing Evaluation:  </a:t>
            </a:r>
          </a:p>
        </p:txBody>
      </p:sp>
      <p:sp>
        <p:nvSpPr>
          <p:cNvPr id="78" name="TextBox 77"/>
          <p:cNvSpPr txBox="1"/>
          <p:nvPr/>
        </p:nvSpPr>
        <p:spPr>
          <a:xfrm>
            <a:off x="2148840" y="4864608"/>
            <a:ext cx="9601200" cy="276999"/>
          </a:xfrm>
          <a:prstGeom prst="rect">
            <a:avLst/>
          </a:prstGeom>
          <a:noFill/>
        </p:spPr>
        <p:txBody>
          <a:bodyPr wrap="square">
            <a:spAutoFit/>
          </a:bodyPr>
          <a:lstStyle/>
          <a:p>
            <a:pPr algn="l"/>
            <a:r>
              <a:rPr sz="1200" b="0" i="0">
                <a:solidFill>
                  <a:srgbClr val="0A1A2E"/>
                </a:solidFill>
                <a:latin typeface="+mj-lt"/>
              </a:rPr>
              <a:t>KRI dashboard reviewed at each defined frequency; any L2 breach triggers escalation to risk owner within 48 hours.</a:t>
            </a:r>
          </a:p>
        </p:txBody>
      </p:sp>
      <p:sp>
        <p:nvSpPr>
          <p:cNvPr id="79" name="TextBox 78"/>
          <p:cNvSpPr txBox="1"/>
          <p:nvPr/>
        </p:nvSpPr>
        <p:spPr>
          <a:xfrm>
            <a:off x="457200" y="5321808"/>
            <a:ext cx="1645920" cy="276999"/>
          </a:xfrm>
          <a:prstGeom prst="rect">
            <a:avLst/>
          </a:prstGeom>
          <a:noFill/>
        </p:spPr>
        <p:txBody>
          <a:bodyPr wrap="square">
            <a:spAutoFit/>
          </a:bodyPr>
          <a:lstStyle/>
          <a:p>
            <a:pPr algn="l"/>
            <a:r>
              <a:rPr sz="1200" b="1" i="0" dirty="0">
                <a:solidFill>
                  <a:srgbClr val="1A4A3A"/>
                </a:solidFill>
                <a:latin typeface="+mj-lt"/>
              </a:rPr>
              <a:t>Separate Evaluation:  </a:t>
            </a:r>
          </a:p>
        </p:txBody>
      </p:sp>
      <p:sp>
        <p:nvSpPr>
          <p:cNvPr id="80" name="TextBox 79"/>
          <p:cNvSpPr txBox="1"/>
          <p:nvPr/>
        </p:nvSpPr>
        <p:spPr>
          <a:xfrm>
            <a:off x="2148840" y="5321808"/>
            <a:ext cx="9601200" cy="276999"/>
          </a:xfrm>
          <a:prstGeom prst="rect">
            <a:avLst/>
          </a:prstGeom>
          <a:noFill/>
        </p:spPr>
        <p:txBody>
          <a:bodyPr wrap="square">
            <a:spAutoFit/>
          </a:bodyPr>
          <a:lstStyle/>
          <a:p>
            <a:pPr algn="l"/>
            <a:r>
              <a:rPr sz="1200" b="0" i="0" dirty="0">
                <a:solidFill>
                  <a:srgbClr val="0A1A2E"/>
                </a:solidFill>
                <a:latin typeface="+mj-lt"/>
              </a:rPr>
              <a:t>Quarterly independent review of all </a:t>
            </a:r>
            <a:r>
              <a:rPr lang="es-CL" sz="1200" b="0" i="0" dirty="0">
                <a:solidFill>
                  <a:srgbClr val="0A1A2E"/>
                </a:solidFill>
                <a:latin typeface="+mj-lt"/>
              </a:rPr>
              <a:t>24</a:t>
            </a:r>
            <a:r>
              <a:rPr sz="1200" b="0" i="0" dirty="0">
                <a:solidFill>
                  <a:srgbClr val="0A1A2E"/>
                </a:solidFill>
                <a:latin typeface="+mj-lt"/>
              </a:rPr>
              <a:t> risks by risk management function</a:t>
            </a:r>
            <a:r>
              <a:rPr lang="es-CL" sz="1200" b="0" i="0" dirty="0">
                <a:solidFill>
                  <a:srgbClr val="0A1A2E"/>
                </a:solidFill>
                <a:latin typeface="+mj-lt"/>
              </a:rPr>
              <a:t>,</a:t>
            </a:r>
            <a:r>
              <a:rPr sz="1200" b="0" i="0" dirty="0">
                <a:solidFill>
                  <a:srgbClr val="0A1A2E"/>
                </a:solidFill>
                <a:latin typeface="+mj-lt"/>
              </a:rPr>
              <a:t> scores updated if market conditions change.</a:t>
            </a:r>
          </a:p>
        </p:txBody>
      </p:sp>
      <p:sp>
        <p:nvSpPr>
          <p:cNvPr id="81" name="TextBox 80"/>
          <p:cNvSpPr txBox="1"/>
          <p:nvPr/>
        </p:nvSpPr>
        <p:spPr>
          <a:xfrm>
            <a:off x="457200" y="5779008"/>
            <a:ext cx="1645920" cy="276999"/>
          </a:xfrm>
          <a:prstGeom prst="rect">
            <a:avLst/>
          </a:prstGeom>
          <a:noFill/>
        </p:spPr>
        <p:txBody>
          <a:bodyPr wrap="square">
            <a:spAutoFit/>
          </a:bodyPr>
          <a:lstStyle/>
          <a:p>
            <a:pPr algn="l"/>
            <a:r>
              <a:rPr sz="1200" b="1" i="0">
                <a:solidFill>
                  <a:srgbClr val="1A4A3A"/>
                </a:solidFill>
                <a:latin typeface="+mj-lt"/>
              </a:rPr>
              <a:t>Reporting to Board:  </a:t>
            </a:r>
          </a:p>
        </p:txBody>
      </p:sp>
      <p:sp>
        <p:nvSpPr>
          <p:cNvPr id="82" name="TextBox 81"/>
          <p:cNvSpPr txBox="1"/>
          <p:nvPr/>
        </p:nvSpPr>
        <p:spPr>
          <a:xfrm>
            <a:off x="2148840" y="5779008"/>
            <a:ext cx="9601200" cy="276999"/>
          </a:xfrm>
          <a:prstGeom prst="rect">
            <a:avLst/>
          </a:prstGeom>
          <a:noFill/>
        </p:spPr>
        <p:txBody>
          <a:bodyPr wrap="square">
            <a:spAutoFit/>
          </a:bodyPr>
          <a:lstStyle/>
          <a:p>
            <a:pPr algn="l"/>
            <a:r>
              <a:rPr sz="1200" b="0" i="0" dirty="0">
                <a:solidFill>
                  <a:srgbClr val="0A1A2E"/>
                </a:solidFill>
                <a:latin typeface="+mj-lt"/>
              </a:rPr>
              <a:t>Semi-annual ERM summary to Shopify's board</a:t>
            </a:r>
            <a:r>
              <a:rPr lang="es-CL" sz="1200" b="0" i="0" dirty="0">
                <a:solidFill>
                  <a:srgbClr val="0A1A2E"/>
                </a:solidFill>
                <a:latin typeface="+mj-lt"/>
              </a:rPr>
              <a:t>,</a:t>
            </a:r>
            <a:r>
              <a:rPr sz="1200" b="0" i="0" dirty="0">
                <a:solidFill>
                  <a:srgbClr val="0A1A2E"/>
                </a:solidFill>
                <a:latin typeface="+mj-lt"/>
              </a:rPr>
              <a:t> heat map, Monte Carlo P50 updates, and mitigation progress vs. plan.</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502920" cy="6858000"/>
          </a:xfrm>
          <a:prstGeom prst="rect">
            <a:avLst/>
          </a:prstGeom>
          <a:solidFill>
            <a:schemeClr val="accent5">
              <a:lumMod val="5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77240" y="274320"/>
            <a:ext cx="10058400" cy="502920"/>
          </a:xfrm>
          <a:prstGeom prst="rect">
            <a:avLst/>
          </a:prstGeom>
          <a:noFill/>
        </p:spPr>
        <p:txBody>
          <a:bodyPr wrap="square">
            <a:spAutoFit/>
          </a:bodyPr>
          <a:lstStyle/>
          <a:p>
            <a:pPr algn="l"/>
            <a:r>
              <a:rPr sz="3200" b="1" i="0">
                <a:solidFill>
                  <a:srgbClr val="FFFFFF"/>
                </a:solidFill>
              </a:rPr>
              <a:t>Conclusions</a:t>
            </a:r>
          </a:p>
        </p:txBody>
      </p:sp>
      <p:sp>
        <p:nvSpPr>
          <p:cNvPr id="5" name="TextBox 4"/>
          <p:cNvSpPr txBox="1"/>
          <p:nvPr/>
        </p:nvSpPr>
        <p:spPr>
          <a:xfrm>
            <a:off x="777240" y="777240"/>
            <a:ext cx="7315200" cy="292388"/>
          </a:xfrm>
          <a:prstGeom prst="rect">
            <a:avLst/>
          </a:prstGeom>
          <a:noFill/>
        </p:spPr>
        <p:txBody>
          <a:bodyPr wrap="square">
            <a:spAutoFit/>
          </a:bodyPr>
          <a:lstStyle/>
          <a:p>
            <a:pPr algn="l"/>
            <a:r>
              <a:rPr sz="1300" b="0" i="1" dirty="0">
                <a:solidFill>
                  <a:schemeClr val="bg1"/>
                </a:solidFill>
              </a:rPr>
              <a:t>Part </a:t>
            </a:r>
            <a:r>
              <a:rPr lang="es-CL" sz="1300" b="0" i="1" dirty="0">
                <a:solidFill>
                  <a:schemeClr val="bg1"/>
                </a:solidFill>
              </a:rPr>
              <a:t>4</a:t>
            </a:r>
            <a:r>
              <a:rPr sz="1300" b="0" i="1" dirty="0">
                <a:solidFill>
                  <a:schemeClr val="bg1"/>
                </a:solidFill>
              </a:rPr>
              <a:t> · </a:t>
            </a:r>
            <a:r>
              <a:rPr lang="es-CL" sz="1300" b="0" i="1" dirty="0">
                <a:solidFill>
                  <a:schemeClr val="bg1"/>
                </a:solidFill>
              </a:rPr>
              <a:t>Lissette Diaz</a:t>
            </a:r>
            <a:endParaRPr sz="1300" b="0" i="1" dirty="0">
              <a:solidFill>
                <a:schemeClr val="bg1"/>
              </a:solidFill>
            </a:endParaRPr>
          </a:p>
        </p:txBody>
      </p:sp>
      <p:sp>
        <p:nvSpPr>
          <p:cNvPr id="6" name="Rectangle 5"/>
          <p:cNvSpPr/>
          <p:nvPr/>
        </p:nvSpPr>
        <p:spPr>
          <a:xfrm>
            <a:off x="777240" y="1143000"/>
            <a:ext cx="10515600" cy="36576"/>
          </a:xfrm>
          <a:prstGeom prst="rect">
            <a:avLst/>
          </a:prstGeom>
          <a:solidFill>
            <a:srgbClr val="008C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777240" y="1298448"/>
            <a:ext cx="640080" cy="1097280"/>
          </a:xfrm>
          <a:prstGeom prst="rect">
            <a:avLst/>
          </a:prstGeom>
          <a:solidFill>
            <a:schemeClr val="accent5">
              <a:lumMod val="5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1572768"/>
            <a:ext cx="640080" cy="523220"/>
          </a:xfrm>
          <a:prstGeom prst="rect">
            <a:avLst/>
          </a:prstGeom>
          <a:noFill/>
        </p:spPr>
        <p:txBody>
          <a:bodyPr wrap="square">
            <a:spAutoFit/>
          </a:bodyPr>
          <a:lstStyle/>
          <a:p>
            <a:pPr algn="ctr"/>
            <a:r>
              <a:rPr sz="2800" b="1" i="0" dirty="0">
                <a:solidFill>
                  <a:srgbClr val="FFC200"/>
                </a:solidFill>
              </a:rPr>
              <a:t>1</a:t>
            </a:r>
          </a:p>
        </p:txBody>
      </p:sp>
      <p:sp>
        <p:nvSpPr>
          <p:cNvPr id="9" name="TextBox 8"/>
          <p:cNvSpPr txBox="1"/>
          <p:nvPr/>
        </p:nvSpPr>
        <p:spPr>
          <a:xfrm>
            <a:off x="1508760" y="1344168"/>
            <a:ext cx="9966960" cy="307777"/>
          </a:xfrm>
          <a:prstGeom prst="rect">
            <a:avLst/>
          </a:prstGeom>
          <a:noFill/>
        </p:spPr>
        <p:txBody>
          <a:bodyPr wrap="square">
            <a:spAutoFit/>
          </a:bodyPr>
          <a:lstStyle/>
          <a:p>
            <a:r>
              <a:rPr sz="1400" b="1" i="0" dirty="0">
                <a:solidFill>
                  <a:srgbClr val="FFC200"/>
                </a:solidFill>
              </a:rPr>
              <a:t>Risk 1 </a:t>
            </a:r>
            <a:r>
              <a:rPr sz="1400" b="1" dirty="0">
                <a:solidFill>
                  <a:srgbClr val="FFC200"/>
                </a:solidFill>
              </a:rPr>
              <a:t>is </a:t>
            </a:r>
            <a:r>
              <a:rPr lang="es-CL" sz="1400" b="1" dirty="0" err="1">
                <a:solidFill>
                  <a:srgbClr val="FFC200"/>
                </a:solidFill>
              </a:rPr>
              <a:t>the</a:t>
            </a:r>
            <a:r>
              <a:rPr lang="es-CL" sz="1400" b="1" dirty="0">
                <a:solidFill>
                  <a:srgbClr val="FFC200"/>
                </a:solidFill>
              </a:rPr>
              <a:t> </a:t>
            </a:r>
            <a:r>
              <a:rPr lang="es-CL" sz="1400" b="1" dirty="0" err="1">
                <a:solidFill>
                  <a:srgbClr val="FFC200"/>
                </a:solidFill>
              </a:rPr>
              <a:t>highest-frequency</a:t>
            </a:r>
            <a:r>
              <a:rPr lang="es-CL" sz="1400" b="1" dirty="0">
                <a:solidFill>
                  <a:srgbClr val="FFC200"/>
                </a:solidFill>
              </a:rPr>
              <a:t> </a:t>
            </a:r>
            <a:r>
              <a:rPr lang="es-CL" sz="1400" b="1" dirty="0" err="1">
                <a:solidFill>
                  <a:srgbClr val="FFC200"/>
                </a:solidFill>
              </a:rPr>
              <a:t>priority</a:t>
            </a:r>
            <a:r>
              <a:rPr sz="1400" b="1" dirty="0">
                <a:solidFill>
                  <a:srgbClr val="FFC200"/>
                </a:solidFill>
              </a:rPr>
              <a:t> </a:t>
            </a:r>
            <a:r>
              <a:rPr lang="es-CL" sz="1400" b="1" dirty="0">
                <a:solidFill>
                  <a:srgbClr val="FFC200"/>
                </a:solidFill>
              </a:rPr>
              <a:t>(</a:t>
            </a:r>
            <a:r>
              <a:rPr lang="en-US" sz="1400" b="1" dirty="0">
                <a:solidFill>
                  <a:srgbClr val="FFC200"/>
                </a:solidFill>
              </a:rPr>
              <a:t>Merchant Churn — AI Search Competition)</a:t>
            </a:r>
          </a:p>
        </p:txBody>
      </p:sp>
      <p:sp>
        <p:nvSpPr>
          <p:cNvPr id="10" name="TextBox 9"/>
          <p:cNvSpPr txBox="1"/>
          <p:nvPr/>
        </p:nvSpPr>
        <p:spPr>
          <a:xfrm>
            <a:off x="1508760" y="1755648"/>
            <a:ext cx="9966960" cy="461665"/>
          </a:xfrm>
          <a:prstGeom prst="rect">
            <a:avLst/>
          </a:prstGeom>
          <a:noFill/>
        </p:spPr>
        <p:txBody>
          <a:bodyPr wrap="square">
            <a:spAutoFit/>
          </a:bodyPr>
          <a:lstStyle/>
          <a:p>
            <a:pPr algn="just"/>
            <a:r>
              <a:rPr lang="es-CL" sz="1200" dirty="0">
                <a:solidFill>
                  <a:schemeClr val="bg1"/>
                </a:solidFill>
              </a:rPr>
              <a:t>Merchant </a:t>
            </a:r>
            <a:r>
              <a:rPr lang="es-CL" sz="1200" dirty="0" err="1">
                <a:solidFill>
                  <a:schemeClr val="bg1"/>
                </a:solidFill>
              </a:rPr>
              <a:t>churn</a:t>
            </a:r>
            <a:r>
              <a:rPr lang="es-CL" sz="1200" dirty="0">
                <a:solidFill>
                  <a:schemeClr val="bg1"/>
                </a:solidFill>
              </a:rPr>
              <a:t> </a:t>
            </a:r>
            <a:r>
              <a:rPr lang="es-CL" sz="1200" dirty="0" err="1">
                <a:solidFill>
                  <a:schemeClr val="bg1"/>
                </a:solidFill>
              </a:rPr>
              <a:t>monitoring</a:t>
            </a:r>
            <a:r>
              <a:rPr lang="es-CL" sz="1200" dirty="0">
                <a:solidFill>
                  <a:schemeClr val="bg1"/>
                </a:solidFill>
              </a:rPr>
              <a:t> </a:t>
            </a:r>
            <a:r>
              <a:rPr lang="es-CL" sz="1200" dirty="0" err="1">
                <a:solidFill>
                  <a:schemeClr val="bg1"/>
                </a:solidFill>
              </a:rPr>
              <a:t>must</a:t>
            </a:r>
            <a:r>
              <a:rPr lang="es-CL" sz="1200" dirty="0">
                <a:solidFill>
                  <a:schemeClr val="bg1"/>
                </a:solidFill>
              </a:rPr>
              <a:t> </a:t>
            </a:r>
            <a:r>
              <a:rPr lang="es-CL" sz="1200" dirty="0" err="1">
                <a:solidFill>
                  <a:schemeClr val="bg1"/>
                </a:solidFill>
              </a:rPr>
              <a:t>remain</a:t>
            </a:r>
            <a:r>
              <a:rPr lang="es-CL" sz="1200" dirty="0">
                <a:solidFill>
                  <a:schemeClr val="bg1"/>
                </a:solidFill>
              </a:rPr>
              <a:t> </a:t>
            </a:r>
            <a:r>
              <a:rPr lang="es-CL" sz="1200" dirty="0" err="1">
                <a:solidFill>
                  <a:schemeClr val="bg1"/>
                </a:solidFill>
              </a:rPr>
              <a:t>our</a:t>
            </a:r>
            <a:r>
              <a:rPr lang="es-CL" sz="1200" dirty="0">
                <a:solidFill>
                  <a:schemeClr val="bg1"/>
                </a:solidFill>
              </a:rPr>
              <a:t> </a:t>
            </a:r>
            <a:r>
              <a:rPr lang="es-CL" sz="1200" dirty="0" err="1">
                <a:solidFill>
                  <a:schemeClr val="bg1"/>
                </a:solidFill>
              </a:rPr>
              <a:t>primary</a:t>
            </a:r>
            <a:r>
              <a:rPr lang="es-CL" sz="1200" dirty="0">
                <a:solidFill>
                  <a:schemeClr val="bg1"/>
                </a:solidFill>
              </a:rPr>
              <a:t> </a:t>
            </a:r>
            <a:r>
              <a:rPr lang="es-CL" sz="1200" dirty="0" err="1">
                <a:solidFill>
                  <a:schemeClr val="bg1"/>
                </a:solidFill>
              </a:rPr>
              <a:t>focus</a:t>
            </a:r>
            <a:r>
              <a:rPr lang="es-CL" sz="1200" dirty="0">
                <a:solidFill>
                  <a:schemeClr val="bg1"/>
                </a:solidFill>
              </a:rPr>
              <a:t>, as </a:t>
            </a:r>
            <a:r>
              <a:rPr lang="es-CL" sz="1200" dirty="0" err="1">
                <a:solidFill>
                  <a:schemeClr val="bg1"/>
                </a:solidFill>
              </a:rPr>
              <a:t>it</a:t>
            </a:r>
            <a:r>
              <a:rPr lang="es-CL" sz="1200" dirty="0">
                <a:solidFill>
                  <a:schemeClr val="bg1"/>
                </a:solidFill>
              </a:rPr>
              <a:t> </a:t>
            </a:r>
            <a:r>
              <a:rPr lang="es-CL" sz="1200" dirty="0" err="1">
                <a:solidFill>
                  <a:schemeClr val="bg1"/>
                </a:solidFill>
              </a:rPr>
              <a:t>will</a:t>
            </a:r>
            <a:r>
              <a:rPr lang="es-CL" sz="1200" dirty="0">
                <a:solidFill>
                  <a:schemeClr val="bg1"/>
                </a:solidFill>
              </a:rPr>
              <a:t> be </a:t>
            </a:r>
            <a:r>
              <a:rPr lang="es-CL" sz="1200" dirty="0" err="1">
                <a:solidFill>
                  <a:schemeClr val="bg1"/>
                </a:solidFill>
              </a:rPr>
              <a:t>the</a:t>
            </a:r>
            <a:r>
              <a:rPr lang="es-CL" sz="1200" dirty="0">
                <a:solidFill>
                  <a:schemeClr val="bg1"/>
                </a:solidFill>
              </a:rPr>
              <a:t> </a:t>
            </a:r>
            <a:r>
              <a:rPr lang="es-CL" sz="1200" dirty="0" err="1">
                <a:solidFill>
                  <a:schemeClr val="bg1"/>
                </a:solidFill>
              </a:rPr>
              <a:t>metric</a:t>
            </a:r>
            <a:r>
              <a:rPr lang="es-CL" sz="1200" dirty="0">
                <a:solidFill>
                  <a:schemeClr val="bg1"/>
                </a:solidFill>
              </a:rPr>
              <a:t> </a:t>
            </a:r>
            <a:r>
              <a:rPr lang="es-CL" sz="1200" dirty="0" err="1">
                <a:solidFill>
                  <a:schemeClr val="bg1"/>
                </a:solidFill>
              </a:rPr>
              <a:t>most</a:t>
            </a:r>
            <a:r>
              <a:rPr lang="es-CL" sz="1200" dirty="0">
                <a:solidFill>
                  <a:schemeClr val="bg1"/>
                </a:solidFill>
              </a:rPr>
              <a:t> </a:t>
            </a:r>
            <a:r>
              <a:rPr lang="es-CL" sz="1200" dirty="0" err="1">
                <a:solidFill>
                  <a:schemeClr val="bg1"/>
                </a:solidFill>
              </a:rPr>
              <a:t>likely</a:t>
            </a:r>
            <a:r>
              <a:rPr lang="es-CL" sz="1200" dirty="0">
                <a:solidFill>
                  <a:schemeClr val="bg1"/>
                </a:solidFill>
              </a:rPr>
              <a:t> </a:t>
            </a:r>
            <a:r>
              <a:rPr lang="es-CL" sz="1200" dirty="0" err="1">
                <a:solidFill>
                  <a:schemeClr val="bg1"/>
                </a:solidFill>
              </a:rPr>
              <a:t>to</a:t>
            </a:r>
            <a:r>
              <a:rPr lang="es-CL" sz="1200" dirty="0">
                <a:solidFill>
                  <a:schemeClr val="bg1"/>
                </a:solidFill>
              </a:rPr>
              <a:t> </a:t>
            </a:r>
            <a:r>
              <a:rPr lang="es-CL" sz="1200" dirty="0" err="1">
                <a:solidFill>
                  <a:schemeClr val="bg1"/>
                </a:solidFill>
              </a:rPr>
              <a:t>reveal</a:t>
            </a:r>
            <a:r>
              <a:rPr lang="es-CL" sz="1200" dirty="0">
                <a:solidFill>
                  <a:schemeClr val="bg1"/>
                </a:solidFill>
              </a:rPr>
              <a:t> </a:t>
            </a:r>
            <a:r>
              <a:rPr lang="es-CL" sz="1200" dirty="0" err="1">
                <a:solidFill>
                  <a:schemeClr val="bg1"/>
                </a:solidFill>
              </a:rPr>
              <a:t>how</a:t>
            </a:r>
            <a:r>
              <a:rPr lang="es-CL" sz="1200" dirty="0">
                <a:solidFill>
                  <a:schemeClr val="bg1"/>
                </a:solidFill>
              </a:rPr>
              <a:t> </a:t>
            </a:r>
            <a:r>
              <a:rPr lang="es-CL" sz="1200" dirty="0" err="1">
                <a:solidFill>
                  <a:schemeClr val="bg1"/>
                </a:solidFill>
              </a:rPr>
              <a:t>the</a:t>
            </a:r>
            <a:r>
              <a:rPr lang="es-CL" sz="1200" dirty="0">
                <a:solidFill>
                  <a:schemeClr val="bg1"/>
                </a:solidFill>
              </a:rPr>
              <a:t> </a:t>
            </a:r>
            <a:r>
              <a:rPr lang="es-CL" sz="1200" dirty="0" err="1">
                <a:solidFill>
                  <a:schemeClr val="bg1"/>
                </a:solidFill>
              </a:rPr>
              <a:t>market</a:t>
            </a:r>
            <a:r>
              <a:rPr lang="es-CL" sz="1200" dirty="0">
                <a:solidFill>
                  <a:schemeClr val="bg1"/>
                </a:solidFill>
              </a:rPr>
              <a:t> </a:t>
            </a:r>
            <a:r>
              <a:rPr lang="es-CL" sz="1200" dirty="0" err="1">
                <a:solidFill>
                  <a:schemeClr val="bg1"/>
                </a:solidFill>
              </a:rPr>
              <a:t>is</a:t>
            </a:r>
            <a:r>
              <a:rPr lang="es-CL" sz="1200" dirty="0">
                <a:solidFill>
                  <a:schemeClr val="bg1"/>
                </a:solidFill>
              </a:rPr>
              <a:t> </a:t>
            </a:r>
            <a:r>
              <a:rPr lang="es-CL" sz="1200" dirty="0" err="1">
                <a:solidFill>
                  <a:schemeClr val="bg1"/>
                </a:solidFill>
              </a:rPr>
              <a:t>shifting</a:t>
            </a:r>
            <a:r>
              <a:rPr lang="es-CL" sz="1200" dirty="0">
                <a:solidFill>
                  <a:schemeClr val="bg1"/>
                </a:solidFill>
              </a:rPr>
              <a:t> in response </a:t>
            </a:r>
            <a:r>
              <a:rPr lang="es-CL" sz="1200" dirty="0" err="1">
                <a:solidFill>
                  <a:schemeClr val="bg1"/>
                </a:solidFill>
              </a:rPr>
              <a:t>to</a:t>
            </a:r>
            <a:r>
              <a:rPr lang="es-CL" sz="1200" dirty="0">
                <a:solidFill>
                  <a:schemeClr val="bg1"/>
                </a:solidFill>
              </a:rPr>
              <a:t> </a:t>
            </a:r>
            <a:r>
              <a:rPr lang="es-CL" sz="1200" dirty="0" err="1">
                <a:solidFill>
                  <a:schemeClr val="bg1"/>
                </a:solidFill>
              </a:rPr>
              <a:t>these</a:t>
            </a:r>
            <a:r>
              <a:rPr lang="es-CL" sz="1200" dirty="0">
                <a:solidFill>
                  <a:schemeClr val="bg1"/>
                </a:solidFill>
              </a:rPr>
              <a:t> </a:t>
            </a:r>
            <a:r>
              <a:rPr lang="es-CL" sz="1200" dirty="0" err="1">
                <a:solidFill>
                  <a:schemeClr val="bg1"/>
                </a:solidFill>
              </a:rPr>
              <a:t>changes</a:t>
            </a:r>
            <a:r>
              <a:rPr lang="es-CL" sz="1200" dirty="0">
                <a:solidFill>
                  <a:schemeClr val="bg1"/>
                </a:solidFill>
              </a:rPr>
              <a:t>. A </a:t>
            </a:r>
            <a:r>
              <a:rPr lang="es-CL" sz="1200" dirty="0" err="1">
                <a:solidFill>
                  <a:schemeClr val="bg1"/>
                </a:solidFill>
              </a:rPr>
              <a:t>robust</a:t>
            </a:r>
            <a:r>
              <a:rPr lang="es-CL" sz="1200" dirty="0">
                <a:solidFill>
                  <a:schemeClr val="bg1"/>
                </a:solidFill>
              </a:rPr>
              <a:t> </a:t>
            </a:r>
            <a:r>
              <a:rPr lang="es-CL" sz="1200" dirty="0" err="1">
                <a:solidFill>
                  <a:schemeClr val="bg1"/>
                </a:solidFill>
              </a:rPr>
              <a:t>monitoring</a:t>
            </a:r>
            <a:r>
              <a:rPr lang="es-CL" sz="1200" dirty="0">
                <a:solidFill>
                  <a:schemeClr val="bg1"/>
                </a:solidFill>
              </a:rPr>
              <a:t> </a:t>
            </a:r>
            <a:r>
              <a:rPr lang="es-CL" sz="1200" dirty="0" err="1">
                <a:solidFill>
                  <a:schemeClr val="bg1"/>
                </a:solidFill>
              </a:rPr>
              <a:t>system</a:t>
            </a:r>
            <a:r>
              <a:rPr lang="es-CL" sz="1200" dirty="0">
                <a:solidFill>
                  <a:schemeClr val="bg1"/>
                </a:solidFill>
              </a:rPr>
              <a:t> </a:t>
            </a:r>
            <a:r>
              <a:rPr lang="es-CL" sz="1200" dirty="0" err="1">
                <a:solidFill>
                  <a:schemeClr val="bg1"/>
                </a:solidFill>
              </a:rPr>
              <a:t>will</a:t>
            </a:r>
            <a:r>
              <a:rPr lang="es-CL" sz="1200" dirty="0">
                <a:solidFill>
                  <a:schemeClr val="bg1"/>
                </a:solidFill>
              </a:rPr>
              <a:t> be </a:t>
            </a:r>
            <a:r>
              <a:rPr lang="es-CL" sz="1200" dirty="0" err="1">
                <a:solidFill>
                  <a:schemeClr val="bg1"/>
                </a:solidFill>
              </a:rPr>
              <a:t>essential</a:t>
            </a:r>
            <a:r>
              <a:rPr lang="es-CL" sz="1200" dirty="0">
                <a:solidFill>
                  <a:schemeClr val="bg1"/>
                </a:solidFill>
              </a:rPr>
              <a:t> </a:t>
            </a:r>
            <a:r>
              <a:rPr lang="es-CL" sz="1200" dirty="0" err="1">
                <a:solidFill>
                  <a:schemeClr val="bg1"/>
                </a:solidFill>
              </a:rPr>
              <a:t>to</a:t>
            </a:r>
            <a:r>
              <a:rPr lang="es-CL" sz="1200" dirty="0">
                <a:solidFill>
                  <a:schemeClr val="bg1"/>
                </a:solidFill>
              </a:rPr>
              <a:t> </a:t>
            </a:r>
            <a:r>
              <a:rPr lang="es-CL" sz="1200" dirty="0" err="1">
                <a:solidFill>
                  <a:schemeClr val="bg1"/>
                </a:solidFill>
              </a:rPr>
              <a:t>react</a:t>
            </a:r>
            <a:r>
              <a:rPr lang="es-CL" sz="1200" dirty="0">
                <a:solidFill>
                  <a:schemeClr val="bg1"/>
                </a:solidFill>
              </a:rPr>
              <a:t> </a:t>
            </a:r>
            <a:r>
              <a:rPr lang="es-CL" sz="1200" dirty="0" err="1">
                <a:solidFill>
                  <a:schemeClr val="bg1"/>
                </a:solidFill>
              </a:rPr>
              <a:t>proactively</a:t>
            </a:r>
            <a:r>
              <a:rPr lang="es-CL" sz="1200" dirty="0">
                <a:solidFill>
                  <a:schemeClr val="bg1"/>
                </a:solidFill>
              </a:rPr>
              <a:t> </a:t>
            </a:r>
            <a:r>
              <a:rPr lang="es-CL" sz="1200" dirty="0" err="1">
                <a:solidFill>
                  <a:schemeClr val="bg1"/>
                </a:solidFill>
              </a:rPr>
              <a:t>when</a:t>
            </a:r>
            <a:r>
              <a:rPr lang="es-CL" sz="1200" dirty="0">
                <a:solidFill>
                  <a:schemeClr val="bg1"/>
                </a:solidFill>
              </a:rPr>
              <a:t> </a:t>
            </a:r>
            <a:r>
              <a:rPr lang="es-CL" sz="1200" dirty="0" err="1">
                <a:solidFill>
                  <a:schemeClr val="bg1"/>
                </a:solidFill>
              </a:rPr>
              <a:t>significant</a:t>
            </a:r>
            <a:r>
              <a:rPr lang="es-CL" sz="1200" dirty="0">
                <a:solidFill>
                  <a:schemeClr val="bg1"/>
                </a:solidFill>
              </a:rPr>
              <a:t> </a:t>
            </a:r>
            <a:r>
              <a:rPr lang="es-CL" sz="1200" dirty="0" err="1">
                <a:solidFill>
                  <a:schemeClr val="bg1"/>
                </a:solidFill>
              </a:rPr>
              <a:t>movements</a:t>
            </a:r>
            <a:r>
              <a:rPr lang="es-CL" sz="1200" dirty="0">
                <a:solidFill>
                  <a:schemeClr val="bg1"/>
                </a:solidFill>
              </a:rPr>
              <a:t> </a:t>
            </a:r>
            <a:r>
              <a:rPr lang="es-CL" sz="1200" dirty="0" err="1">
                <a:solidFill>
                  <a:schemeClr val="bg1"/>
                </a:solidFill>
              </a:rPr>
              <a:t>occur</a:t>
            </a:r>
            <a:r>
              <a:rPr lang="es-CL" sz="1200" dirty="0">
                <a:solidFill>
                  <a:schemeClr val="bg1"/>
                </a:solidFill>
              </a:rPr>
              <a:t>.</a:t>
            </a:r>
            <a:endParaRPr sz="1200" b="0" i="0" dirty="0">
              <a:solidFill>
                <a:schemeClr val="bg1"/>
              </a:solidFill>
            </a:endParaRPr>
          </a:p>
        </p:txBody>
      </p:sp>
      <p:sp>
        <p:nvSpPr>
          <p:cNvPr id="11" name="Rectangle 10"/>
          <p:cNvSpPr/>
          <p:nvPr/>
        </p:nvSpPr>
        <p:spPr>
          <a:xfrm>
            <a:off x="777240" y="2606039"/>
            <a:ext cx="640080" cy="1097280"/>
          </a:xfrm>
          <a:prstGeom prst="rect">
            <a:avLst/>
          </a:prstGeom>
          <a:solidFill>
            <a:schemeClr val="accent5">
              <a:lumMod val="5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77240" y="2880359"/>
            <a:ext cx="640080" cy="523220"/>
          </a:xfrm>
          <a:prstGeom prst="rect">
            <a:avLst/>
          </a:prstGeom>
          <a:noFill/>
        </p:spPr>
        <p:txBody>
          <a:bodyPr wrap="square">
            <a:spAutoFit/>
          </a:bodyPr>
          <a:lstStyle/>
          <a:p>
            <a:pPr algn="ctr"/>
            <a:r>
              <a:rPr sz="2800" b="1" i="0" dirty="0">
                <a:solidFill>
                  <a:srgbClr val="FFC200"/>
                </a:solidFill>
              </a:rPr>
              <a:t>2</a:t>
            </a:r>
          </a:p>
        </p:txBody>
      </p:sp>
      <p:sp>
        <p:nvSpPr>
          <p:cNvPr id="13" name="TextBox 12"/>
          <p:cNvSpPr txBox="1"/>
          <p:nvPr/>
        </p:nvSpPr>
        <p:spPr>
          <a:xfrm>
            <a:off x="1508760" y="2651759"/>
            <a:ext cx="9966960" cy="307777"/>
          </a:xfrm>
          <a:prstGeom prst="rect">
            <a:avLst/>
          </a:prstGeom>
          <a:noFill/>
        </p:spPr>
        <p:txBody>
          <a:bodyPr wrap="square">
            <a:spAutoFit/>
          </a:bodyPr>
          <a:lstStyle/>
          <a:p>
            <a:r>
              <a:rPr sz="1400" b="1" i="0" dirty="0">
                <a:solidFill>
                  <a:srgbClr val="FFC200"/>
                </a:solidFill>
              </a:rPr>
              <a:t>Risk 2 is the biggest single </a:t>
            </a:r>
            <a:r>
              <a:rPr sz="1400" b="1" dirty="0">
                <a:solidFill>
                  <a:srgbClr val="FFC200"/>
                </a:solidFill>
              </a:rPr>
              <a:t>financial</a:t>
            </a:r>
            <a:r>
              <a:rPr sz="1400" b="1" i="0" dirty="0">
                <a:solidFill>
                  <a:srgbClr val="FFC200"/>
                </a:solidFill>
              </a:rPr>
              <a:t> exposure</a:t>
            </a:r>
            <a:r>
              <a:rPr lang="es-CL" sz="1400" b="1" dirty="0">
                <a:solidFill>
                  <a:srgbClr val="FFC200"/>
                </a:solidFill>
              </a:rPr>
              <a:t> (</a:t>
            </a:r>
            <a:r>
              <a:rPr lang="es-CL" sz="1400" b="1" dirty="0" err="1">
                <a:solidFill>
                  <a:srgbClr val="FFC200"/>
                </a:solidFill>
              </a:rPr>
              <a:t>Regulatory</a:t>
            </a:r>
            <a:r>
              <a:rPr lang="es-CL" sz="1400" b="1" dirty="0">
                <a:solidFill>
                  <a:srgbClr val="FFC200"/>
                </a:solidFill>
              </a:rPr>
              <a:t> Non-</a:t>
            </a:r>
            <a:r>
              <a:rPr lang="es-CL" sz="1400" b="1" dirty="0" err="1">
                <a:solidFill>
                  <a:srgbClr val="FFC200"/>
                </a:solidFill>
              </a:rPr>
              <a:t>Compliance</a:t>
            </a:r>
            <a:r>
              <a:rPr lang="es-CL" sz="1400" b="1" dirty="0">
                <a:solidFill>
                  <a:srgbClr val="FFC200"/>
                </a:solidFill>
              </a:rPr>
              <a:t> — GDPR / EU AI </a:t>
            </a:r>
            <a:r>
              <a:rPr lang="es-CL" sz="1400" b="1" dirty="0" err="1">
                <a:solidFill>
                  <a:srgbClr val="FFC200"/>
                </a:solidFill>
              </a:rPr>
              <a:t>Act</a:t>
            </a:r>
            <a:r>
              <a:rPr lang="es-CL" sz="1400" b="1" dirty="0">
                <a:solidFill>
                  <a:srgbClr val="FFC200"/>
                </a:solidFill>
              </a:rPr>
              <a:t> / PIPEDA)</a:t>
            </a:r>
            <a:endParaRPr sz="1400" b="1" dirty="0">
              <a:solidFill>
                <a:srgbClr val="FFC200"/>
              </a:solidFill>
            </a:endParaRPr>
          </a:p>
        </p:txBody>
      </p:sp>
      <p:sp>
        <p:nvSpPr>
          <p:cNvPr id="14" name="TextBox 13"/>
          <p:cNvSpPr txBox="1"/>
          <p:nvPr/>
        </p:nvSpPr>
        <p:spPr>
          <a:xfrm>
            <a:off x="1508760" y="3063239"/>
            <a:ext cx="9966960" cy="646331"/>
          </a:xfrm>
          <a:prstGeom prst="rect">
            <a:avLst/>
          </a:prstGeom>
          <a:noFill/>
        </p:spPr>
        <p:txBody>
          <a:bodyPr wrap="square">
            <a:spAutoFit/>
          </a:bodyPr>
          <a:lstStyle/>
          <a:p>
            <a:pPr algn="just"/>
            <a:r>
              <a:rPr lang="es-CL" sz="1200" dirty="0">
                <a:solidFill>
                  <a:schemeClr val="bg1"/>
                </a:solidFill>
              </a:rPr>
              <a:t>Given </a:t>
            </a:r>
            <a:r>
              <a:rPr lang="es-CL" sz="1200" dirty="0" err="1">
                <a:solidFill>
                  <a:schemeClr val="bg1"/>
                </a:solidFill>
              </a:rPr>
              <a:t>the</a:t>
            </a:r>
            <a:r>
              <a:rPr lang="es-CL" sz="1200" dirty="0">
                <a:solidFill>
                  <a:schemeClr val="bg1"/>
                </a:solidFill>
              </a:rPr>
              <a:t> </a:t>
            </a:r>
            <a:r>
              <a:rPr lang="es-CL" sz="1200" dirty="0" err="1">
                <a:solidFill>
                  <a:schemeClr val="bg1"/>
                </a:solidFill>
              </a:rPr>
              <a:t>pessimistic</a:t>
            </a:r>
            <a:r>
              <a:rPr lang="es-CL" sz="1200" dirty="0">
                <a:solidFill>
                  <a:schemeClr val="bg1"/>
                </a:solidFill>
              </a:rPr>
              <a:t> </a:t>
            </a:r>
            <a:r>
              <a:rPr lang="es-CL" sz="1200" dirty="0" err="1">
                <a:solidFill>
                  <a:schemeClr val="bg1"/>
                </a:solidFill>
              </a:rPr>
              <a:t>scenario</a:t>
            </a:r>
            <a:r>
              <a:rPr lang="es-CL" sz="1200" dirty="0">
                <a:solidFill>
                  <a:schemeClr val="bg1"/>
                </a:solidFill>
              </a:rPr>
              <a:t> </a:t>
            </a:r>
            <a:r>
              <a:rPr lang="es-CL" sz="1200" dirty="0" err="1">
                <a:solidFill>
                  <a:schemeClr val="bg1"/>
                </a:solidFill>
              </a:rPr>
              <a:t>of</a:t>
            </a:r>
            <a:r>
              <a:rPr lang="es-CL" sz="1200" dirty="0">
                <a:solidFill>
                  <a:schemeClr val="bg1"/>
                </a:solidFill>
              </a:rPr>
              <a:t> $508M in </a:t>
            </a:r>
            <a:r>
              <a:rPr lang="es-CL" sz="1200" dirty="0" err="1">
                <a:solidFill>
                  <a:schemeClr val="bg1"/>
                </a:solidFill>
              </a:rPr>
              <a:t>regulatory</a:t>
            </a:r>
            <a:r>
              <a:rPr lang="es-CL" sz="1200" dirty="0">
                <a:solidFill>
                  <a:schemeClr val="bg1"/>
                </a:solidFill>
              </a:rPr>
              <a:t> fines, </a:t>
            </a:r>
            <a:r>
              <a:rPr lang="es-CL" sz="1200" dirty="0" err="1">
                <a:solidFill>
                  <a:schemeClr val="bg1"/>
                </a:solidFill>
              </a:rPr>
              <a:t>equivalent</a:t>
            </a:r>
            <a:r>
              <a:rPr lang="es-CL" sz="1200" dirty="0">
                <a:solidFill>
                  <a:schemeClr val="bg1"/>
                </a:solidFill>
              </a:rPr>
              <a:t> </a:t>
            </a:r>
            <a:r>
              <a:rPr lang="es-CL" sz="1200" dirty="0" err="1">
                <a:solidFill>
                  <a:schemeClr val="bg1"/>
                </a:solidFill>
              </a:rPr>
              <a:t>to</a:t>
            </a:r>
            <a:r>
              <a:rPr lang="es-CL" sz="1200" dirty="0">
                <a:solidFill>
                  <a:schemeClr val="bg1"/>
                </a:solidFill>
              </a:rPr>
              <a:t> 4% </a:t>
            </a:r>
            <a:r>
              <a:rPr lang="es-CL" sz="1200" dirty="0" err="1">
                <a:solidFill>
                  <a:schemeClr val="bg1"/>
                </a:solidFill>
              </a:rPr>
              <a:t>of</a:t>
            </a:r>
            <a:r>
              <a:rPr lang="es-CL" sz="1200" dirty="0">
                <a:solidFill>
                  <a:schemeClr val="bg1"/>
                </a:solidFill>
              </a:rPr>
              <a:t> </a:t>
            </a:r>
            <a:r>
              <a:rPr lang="es-CL" sz="1200" dirty="0" err="1">
                <a:solidFill>
                  <a:schemeClr val="bg1"/>
                </a:solidFill>
              </a:rPr>
              <a:t>Shopify's</a:t>
            </a:r>
            <a:r>
              <a:rPr lang="es-CL" sz="1200" dirty="0">
                <a:solidFill>
                  <a:schemeClr val="bg1"/>
                </a:solidFill>
              </a:rPr>
              <a:t> $12.7B ARR </a:t>
            </a:r>
            <a:r>
              <a:rPr lang="es-CL" sz="1200" dirty="0" err="1">
                <a:solidFill>
                  <a:schemeClr val="bg1"/>
                </a:solidFill>
              </a:rPr>
              <a:t>under</a:t>
            </a:r>
            <a:r>
              <a:rPr lang="es-CL" sz="1200" dirty="0">
                <a:solidFill>
                  <a:schemeClr val="bg1"/>
                </a:solidFill>
              </a:rPr>
              <a:t> GDPR</a:t>
            </a:r>
            <a:r>
              <a:rPr lang="en-US" sz="1200" dirty="0">
                <a:solidFill>
                  <a:schemeClr val="bg1"/>
                </a:solidFill>
              </a:rPr>
              <a:t>, regulatory non-compliance is recommended as a board-level strategic priority, embedding Privacy-by-Design at the architectural</a:t>
            </a:r>
            <a:r>
              <a:rPr lang="es-CL" sz="1200" dirty="0">
                <a:solidFill>
                  <a:schemeClr val="bg1"/>
                </a:solidFill>
              </a:rPr>
              <a:t> </a:t>
            </a:r>
            <a:r>
              <a:rPr lang="es-CL" sz="1200" dirty="0" err="1">
                <a:solidFill>
                  <a:schemeClr val="bg1"/>
                </a:solidFill>
              </a:rPr>
              <a:t>level</a:t>
            </a:r>
            <a:r>
              <a:rPr lang="es-CL" sz="1200" dirty="0">
                <a:solidFill>
                  <a:schemeClr val="bg1"/>
                </a:solidFill>
              </a:rPr>
              <a:t> as </a:t>
            </a:r>
            <a:r>
              <a:rPr lang="es-CL" sz="1200" dirty="0" err="1">
                <a:solidFill>
                  <a:schemeClr val="bg1"/>
                </a:solidFill>
              </a:rPr>
              <a:t>the</a:t>
            </a:r>
            <a:r>
              <a:rPr lang="es-CL" sz="1200" dirty="0">
                <a:solidFill>
                  <a:schemeClr val="bg1"/>
                </a:solidFill>
              </a:rPr>
              <a:t> </a:t>
            </a:r>
            <a:r>
              <a:rPr lang="es-CL" sz="1200" dirty="0" err="1">
                <a:solidFill>
                  <a:schemeClr val="bg1"/>
                </a:solidFill>
              </a:rPr>
              <a:t>only</a:t>
            </a:r>
            <a:r>
              <a:rPr lang="es-CL" sz="1200" dirty="0">
                <a:solidFill>
                  <a:schemeClr val="bg1"/>
                </a:solidFill>
              </a:rPr>
              <a:t> </a:t>
            </a:r>
            <a:r>
              <a:rPr lang="es-CL" sz="1200" dirty="0" err="1">
                <a:solidFill>
                  <a:schemeClr val="bg1"/>
                </a:solidFill>
              </a:rPr>
              <a:t>measure</a:t>
            </a:r>
            <a:r>
              <a:rPr lang="es-CL" sz="1200" dirty="0">
                <a:solidFill>
                  <a:schemeClr val="bg1"/>
                </a:solidFill>
              </a:rPr>
              <a:t> </a:t>
            </a:r>
            <a:r>
              <a:rPr lang="es-CL" sz="1200" dirty="0" err="1">
                <a:solidFill>
                  <a:schemeClr val="bg1"/>
                </a:solidFill>
              </a:rPr>
              <a:t>that</a:t>
            </a:r>
            <a:r>
              <a:rPr lang="es-CL" sz="1200" dirty="0">
                <a:solidFill>
                  <a:schemeClr val="bg1"/>
                </a:solidFill>
              </a:rPr>
              <a:t> </a:t>
            </a:r>
            <a:r>
              <a:rPr lang="es-CL" sz="1200" dirty="0" err="1">
                <a:solidFill>
                  <a:schemeClr val="bg1"/>
                </a:solidFill>
              </a:rPr>
              <a:t>addresses</a:t>
            </a:r>
            <a:r>
              <a:rPr lang="es-CL" sz="1200" dirty="0">
                <a:solidFill>
                  <a:schemeClr val="bg1"/>
                </a:solidFill>
              </a:rPr>
              <a:t> </a:t>
            </a:r>
            <a:r>
              <a:rPr lang="es-CL" sz="1200" dirty="0" err="1">
                <a:solidFill>
                  <a:schemeClr val="bg1"/>
                </a:solidFill>
              </a:rPr>
              <a:t>both</a:t>
            </a:r>
            <a:r>
              <a:rPr lang="es-CL" sz="1200" dirty="0">
                <a:solidFill>
                  <a:schemeClr val="bg1"/>
                </a:solidFill>
              </a:rPr>
              <a:t> </a:t>
            </a:r>
            <a:r>
              <a:rPr lang="es-CL" sz="1200" dirty="0" err="1">
                <a:solidFill>
                  <a:schemeClr val="bg1"/>
                </a:solidFill>
              </a:rPr>
              <a:t>the</a:t>
            </a:r>
            <a:r>
              <a:rPr lang="es-CL" sz="1200" dirty="0">
                <a:solidFill>
                  <a:schemeClr val="bg1"/>
                </a:solidFill>
              </a:rPr>
              <a:t> fine </a:t>
            </a:r>
            <a:r>
              <a:rPr lang="es-CL" sz="1200" dirty="0" err="1">
                <a:solidFill>
                  <a:schemeClr val="bg1"/>
                </a:solidFill>
              </a:rPr>
              <a:t>risk</a:t>
            </a:r>
            <a:r>
              <a:rPr lang="es-CL" sz="1200" dirty="0">
                <a:solidFill>
                  <a:schemeClr val="bg1"/>
                </a:solidFill>
              </a:rPr>
              <a:t> and </a:t>
            </a:r>
            <a:r>
              <a:rPr lang="es-CL" sz="1200" dirty="0" err="1">
                <a:solidFill>
                  <a:schemeClr val="bg1"/>
                </a:solidFill>
              </a:rPr>
              <a:t>the</a:t>
            </a:r>
            <a:r>
              <a:rPr lang="es-CL" sz="1200" dirty="0">
                <a:solidFill>
                  <a:schemeClr val="bg1"/>
                </a:solidFill>
              </a:rPr>
              <a:t> </a:t>
            </a:r>
            <a:r>
              <a:rPr lang="es-CL" sz="1200" dirty="0" err="1">
                <a:solidFill>
                  <a:schemeClr val="bg1"/>
                </a:solidFill>
              </a:rPr>
              <a:t>reputational</a:t>
            </a:r>
            <a:r>
              <a:rPr lang="es-CL" sz="1200" dirty="0">
                <a:solidFill>
                  <a:schemeClr val="bg1"/>
                </a:solidFill>
              </a:rPr>
              <a:t> </a:t>
            </a:r>
            <a:r>
              <a:rPr lang="es-CL" sz="1200" dirty="0" err="1">
                <a:solidFill>
                  <a:schemeClr val="bg1"/>
                </a:solidFill>
              </a:rPr>
              <a:t>consequences</a:t>
            </a:r>
            <a:r>
              <a:rPr lang="es-CL" sz="1200" dirty="0">
                <a:solidFill>
                  <a:schemeClr val="bg1"/>
                </a:solidFill>
              </a:rPr>
              <a:t>.</a:t>
            </a:r>
            <a:endParaRPr sz="1200" b="0" i="0" dirty="0">
              <a:solidFill>
                <a:schemeClr val="bg1"/>
              </a:solidFill>
            </a:endParaRPr>
          </a:p>
        </p:txBody>
      </p:sp>
      <p:sp>
        <p:nvSpPr>
          <p:cNvPr id="15" name="Rectangle 14"/>
          <p:cNvSpPr/>
          <p:nvPr/>
        </p:nvSpPr>
        <p:spPr>
          <a:xfrm>
            <a:off x="777240" y="3913631"/>
            <a:ext cx="640080" cy="1097280"/>
          </a:xfrm>
          <a:prstGeom prst="rect">
            <a:avLst/>
          </a:prstGeom>
          <a:solidFill>
            <a:schemeClr val="accent5">
              <a:lumMod val="5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77240" y="4187951"/>
            <a:ext cx="640080" cy="523220"/>
          </a:xfrm>
          <a:prstGeom prst="rect">
            <a:avLst/>
          </a:prstGeom>
          <a:noFill/>
        </p:spPr>
        <p:txBody>
          <a:bodyPr wrap="square">
            <a:spAutoFit/>
          </a:bodyPr>
          <a:lstStyle/>
          <a:p>
            <a:pPr algn="ctr"/>
            <a:r>
              <a:rPr sz="2800" b="1" i="0" dirty="0">
                <a:solidFill>
                  <a:srgbClr val="FFC200"/>
                </a:solidFill>
              </a:rPr>
              <a:t>3</a:t>
            </a:r>
          </a:p>
        </p:txBody>
      </p:sp>
      <p:sp>
        <p:nvSpPr>
          <p:cNvPr id="17" name="TextBox 16"/>
          <p:cNvSpPr txBox="1"/>
          <p:nvPr/>
        </p:nvSpPr>
        <p:spPr>
          <a:xfrm>
            <a:off x="1508760" y="3959351"/>
            <a:ext cx="9966960" cy="307777"/>
          </a:xfrm>
          <a:prstGeom prst="rect">
            <a:avLst/>
          </a:prstGeom>
          <a:noFill/>
        </p:spPr>
        <p:txBody>
          <a:bodyPr wrap="square">
            <a:spAutoFit/>
          </a:bodyPr>
          <a:lstStyle/>
          <a:p>
            <a:r>
              <a:rPr sz="1400" b="1" i="0" dirty="0">
                <a:solidFill>
                  <a:srgbClr val="FFC200"/>
                </a:solidFill>
              </a:rPr>
              <a:t>Risk 3 closes whether Shopify acts or </a:t>
            </a:r>
            <a:r>
              <a:rPr sz="1400" b="1" dirty="0">
                <a:solidFill>
                  <a:srgbClr val="FFC200"/>
                </a:solidFill>
              </a:rPr>
              <a:t>not</a:t>
            </a:r>
            <a:r>
              <a:rPr lang="es-CL" sz="1400" b="1" dirty="0">
                <a:solidFill>
                  <a:srgbClr val="FFC200"/>
                </a:solidFill>
              </a:rPr>
              <a:t> (AI-First Merchant </a:t>
            </a:r>
            <a:r>
              <a:rPr lang="es-CL" sz="1400" b="1" dirty="0" err="1">
                <a:solidFill>
                  <a:srgbClr val="FFC200"/>
                </a:solidFill>
              </a:rPr>
              <a:t>Acquisition</a:t>
            </a:r>
            <a:r>
              <a:rPr lang="es-CL" sz="1400" b="1" dirty="0">
                <a:solidFill>
                  <a:srgbClr val="FFC200"/>
                </a:solidFill>
              </a:rPr>
              <a:t> Window)</a:t>
            </a:r>
          </a:p>
        </p:txBody>
      </p:sp>
      <p:sp>
        <p:nvSpPr>
          <p:cNvPr id="18" name="TextBox 17"/>
          <p:cNvSpPr txBox="1"/>
          <p:nvPr/>
        </p:nvSpPr>
        <p:spPr>
          <a:xfrm>
            <a:off x="1508760" y="4370831"/>
            <a:ext cx="9966960" cy="646331"/>
          </a:xfrm>
          <a:prstGeom prst="rect">
            <a:avLst/>
          </a:prstGeom>
          <a:noFill/>
        </p:spPr>
        <p:txBody>
          <a:bodyPr wrap="square">
            <a:spAutoFit/>
          </a:bodyPr>
          <a:lstStyle/>
          <a:p>
            <a:pPr algn="just"/>
            <a:r>
              <a:rPr lang="es-CL" sz="1200" dirty="0">
                <a:solidFill>
                  <a:schemeClr val="bg1"/>
                </a:solidFill>
              </a:rPr>
              <a:t>The +$491.3M ARR (</a:t>
            </a:r>
            <a:r>
              <a:rPr lang="es-CL" sz="1200" dirty="0" err="1">
                <a:solidFill>
                  <a:schemeClr val="bg1"/>
                </a:solidFill>
              </a:rPr>
              <a:t>Annual</a:t>
            </a:r>
            <a:r>
              <a:rPr lang="es-CL" sz="1200" dirty="0">
                <a:solidFill>
                  <a:schemeClr val="bg1"/>
                </a:solidFill>
              </a:rPr>
              <a:t> </a:t>
            </a:r>
            <a:r>
              <a:rPr lang="es-CL" sz="1200" dirty="0" err="1">
                <a:solidFill>
                  <a:schemeClr val="bg1"/>
                </a:solidFill>
              </a:rPr>
              <a:t>Recurring</a:t>
            </a:r>
            <a:r>
              <a:rPr lang="es-CL" sz="1200" dirty="0">
                <a:solidFill>
                  <a:schemeClr val="bg1"/>
                </a:solidFill>
              </a:rPr>
              <a:t> </a:t>
            </a:r>
            <a:r>
              <a:rPr lang="es-CL" sz="1200" dirty="0" err="1">
                <a:solidFill>
                  <a:schemeClr val="bg1"/>
                </a:solidFill>
              </a:rPr>
              <a:t>Revenue</a:t>
            </a:r>
            <a:r>
              <a:rPr lang="es-CL" sz="1200" dirty="0">
                <a:solidFill>
                  <a:schemeClr val="bg1"/>
                </a:solidFill>
              </a:rPr>
              <a:t>) </a:t>
            </a:r>
            <a:r>
              <a:rPr lang="es-CL" sz="1200" dirty="0" err="1">
                <a:solidFill>
                  <a:schemeClr val="bg1"/>
                </a:solidFill>
              </a:rPr>
              <a:t>opportunity</a:t>
            </a:r>
            <a:r>
              <a:rPr lang="es-CL" sz="1200" dirty="0">
                <a:solidFill>
                  <a:schemeClr val="bg1"/>
                </a:solidFill>
              </a:rPr>
              <a:t> </a:t>
            </a:r>
            <a:r>
              <a:rPr lang="es-CL" sz="1200" dirty="0" err="1">
                <a:solidFill>
                  <a:schemeClr val="bg1"/>
                </a:solidFill>
              </a:rPr>
              <a:t>is</a:t>
            </a:r>
            <a:r>
              <a:rPr lang="es-CL" sz="1200" dirty="0">
                <a:solidFill>
                  <a:schemeClr val="bg1"/>
                </a:solidFill>
              </a:rPr>
              <a:t> </a:t>
            </a:r>
            <a:r>
              <a:rPr lang="es-CL" sz="1200" dirty="0" err="1">
                <a:solidFill>
                  <a:schemeClr val="bg1"/>
                </a:solidFill>
              </a:rPr>
              <a:t>available</a:t>
            </a:r>
            <a:r>
              <a:rPr lang="es-CL" sz="1200" dirty="0">
                <a:solidFill>
                  <a:schemeClr val="bg1"/>
                </a:solidFill>
              </a:rPr>
              <a:t> </a:t>
            </a:r>
            <a:r>
              <a:rPr lang="es-CL" sz="1200" dirty="0" err="1">
                <a:solidFill>
                  <a:schemeClr val="bg1"/>
                </a:solidFill>
              </a:rPr>
              <a:t>only</a:t>
            </a:r>
            <a:r>
              <a:rPr lang="es-CL" sz="1200" dirty="0">
                <a:solidFill>
                  <a:schemeClr val="bg1"/>
                </a:solidFill>
              </a:rPr>
              <a:t> </a:t>
            </a:r>
            <a:r>
              <a:rPr lang="es-CL" sz="1200" dirty="0" err="1">
                <a:solidFill>
                  <a:schemeClr val="bg1"/>
                </a:solidFill>
              </a:rPr>
              <a:t>over</a:t>
            </a:r>
            <a:r>
              <a:rPr lang="es-CL" sz="1200" dirty="0">
                <a:solidFill>
                  <a:schemeClr val="bg1"/>
                </a:solidFill>
              </a:rPr>
              <a:t> </a:t>
            </a:r>
            <a:r>
              <a:rPr lang="es-CL" sz="1200" dirty="0" err="1">
                <a:solidFill>
                  <a:schemeClr val="bg1"/>
                </a:solidFill>
              </a:rPr>
              <a:t>the</a:t>
            </a:r>
            <a:r>
              <a:rPr lang="es-CL" sz="1200" dirty="0">
                <a:solidFill>
                  <a:schemeClr val="bg1"/>
                </a:solidFill>
              </a:rPr>
              <a:t> </a:t>
            </a:r>
            <a:r>
              <a:rPr lang="es-CL" sz="1200" dirty="0" err="1">
                <a:solidFill>
                  <a:schemeClr val="bg1"/>
                </a:solidFill>
              </a:rPr>
              <a:t>next</a:t>
            </a:r>
            <a:r>
              <a:rPr lang="es-CL" sz="1200" dirty="0">
                <a:solidFill>
                  <a:schemeClr val="bg1"/>
                </a:solidFill>
              </a:rPr>
              <a:t> 6 </a:t>
            </a:r>
            <a:r>
              <a:rPr lang="es-CL" sz="1200" dirty="0" err="1">
                <a:solidFill>
                  <a:schemeClr val="bg1"/>
                </a:solidFill>
              </a:rPr>
              <a:t>to</a:t>
            </a:r>
            <a:r>
              <a:rPr lang="es-CL" sz="1200" dirty="0">
                <a:solidFill>
                  <a:schemeClr val="bg1"/>
                </a:solidFill>
              </a:rPr>
              <a:t> 18 </a:t>
            </a:r>
            <a:r>
              <a:rPr lang="es-CL" sz="1200" dirty="0" err="1">
                <a:solidFill>
                  <a:schemeClr val="bg1"/>
                </a:solidFill>
              </a:rPr>
              <a:t>months</a:t>
            </a:r>
            <a:r>
              <a:rPr lang="es-CL" sz="1200" dirty="0">
                <a:solidFill>
                  <a:schemeClr val="bg1"/>
                </a:solidFill>
              </a:rPr>
              <a:t>, </a:t>
            </a:r>
            <a:r>
              <a:rPr lang="es-CL" sz="1200" dirty="0" err="1">
                <a:solidFill>
                  <a:schemeClr val="bg1"/>
                </a:solidFill>
              </a:rPr>
              <a:t>before</a:t>
            </a:r>
            <a:r>
              <a:rPr lang="es-CL" sz="1200" dirty="0">
                <a:solidFill>
                  <a:schemeClr val="bg1"/>
                </a:solidFill>
              </a:rPr>
              <a:t> </a:t>
            </a:r>
            <a:r>
              <a:rPr lang="es-CL" sz="1200" dirty="0" err="1">
                <a:solidFill>
                  <a:schemeClr val="bg1"/>
                </a:solidFill>
              </a:rPr>
              <a:t>competitors</a:t>
            </a:r>
            <a:r>
              <a:rPr lang="es-CL" sz="1200" dirty="0">
                <a:solidFill>
                  <a:schemeClr val="bg1"/>
                </a:solidFill>
              </a:rPr>
              <a:t> </a:t>
            </a:r>
            <a:r>
              <a:rPr lang="es-CL" sz="1200" dirty="0" err="1">
                <a:solidFill>
                  <a:schemeClr val="bg1"/>
                </a:solidFill>
              </a:rPr>
              <a:t>reach</a:t>
            </a:r>
            <a:r>
              <a:rPr lang="es-CL" sz="1200" dirty="0">
                <a:solidFill>
                  <a:schemeClr val="bg1"/>
                </a:solidFill>
              </a:rPr>
              <a:t> </a:t>
            </a:r>
            <a:r>
              <a:rPr lang="es-CL" sz="1200" dirty="0" err="1">
                <a:solidFill>
                  <a:schemeClr val="bg1"/>
                </a:solidFill>
              </a:rPr>
              <a:t>the</a:t>
            </a:r>
            <a:r>
              <a:rPr lang="es-CL" sz="1200" dirty="0">
                <a:solidFill>
                  <a:schemeClr val="bg1"/>
                </a:solidFill>
              </a:rPr>
              <a:t> </a:t>
            </a:r>
            <a:r>
              <a:rPr lang="es-CL" sz="1200" dirty="0" err="1">
                <a:solidFill>
                  <a:schemeClr val="bg1"/>
                </a:solidFill>
              </a:rPr>
              <a:t>same</a:t>
            </a:r>
            <a:r>
              <a:rPr lang="es-CL" sz="1200" dirty="0">
                <a:solidFill>
                  <a:schemeClr val="bg1"/>
                </a:solidFill>
              </a:rPr>
              <a:t> </a:t>
            </a:r>
            <a:r>
              <a:rPr lang="es-CL" sz="1200" dirty="0" err="1">
                <a:solidFill>
                  <a:schemeClr val="bg1"/>
                </a:solidFill>
              </a:rPr>
              <a:t>technological</a:t>
            </a:r>
            <a:r>
              <a:rPr lang="es-CL" sz="1200" dirty="0">
                <a:solidFill>
                  <a:schemeClr val="bg1"/>
                </a:solidFill>
              </a:rPr>
              <a:t> </a:t>
            </a:r>
            <a:r>
              <a:rPr lang="es-CL" sz="1200" dirty="0" err="1">
                <a:solidFill>
                  <a:schemeClr val="bg1"/>
                </a:solidFill>
              </a:rPr>
              <a:t>level</a:t>
            </a:r>
            <a:r>
              <a:rPr lang="es-CL" sz="1200" dirty="0">
                <a:solidFill>
                  <a:schemeClr val="bg1"/>
                </a:solidFill>
              </a:rPr>
              <a:t>. </a:t>
            </a:r>
            <a:r>
              <a:rPr lang="es-CL" sz="1200" dirty="0" err="1">
                <a:solidFill>
                  <a:schemeClr val="bg1"/>
                </a:solidFill>
              </a:rPr>
              <a:t>This</a:t>
            </a:r>
            <a:r>
              <a:rPr lang="es-CL" sz="1200" dirty="0">
                <a:solidFill>
                  <a:schemeClr val="bg1"/>
                </a:solidFill>
              </a:rPr>
              <a:t> </a:t>
            </a:r>
            <a:r>
              <a:rPr lang="es-CL" sz="1200" dirty="0" err="1">
                <a:solidFill>
                  <a:schemeClr val="bg1"/>
                </a:solidFill>
              </a:rPr>
              <a:t>is</a:t>
            </a:r>
            <a:r>
              <a:rPr lang="es-CL" sz="1200" dirty="0">
                <a:solidFill>
                  <a:schemeClr val="bg1"/>
                </a:solidFill>
              </a:rPr>
              <a:t> </a:t>
            </a:r>
            <a:r>
              <a:rPr lang="es-CL" sz="1200" dirty="0" err="1">
                <a:solidFill>
                  <a:schemeClr val="bg1"/>
                </a:solidFill>
              </a:rPr>
              <a:t>the</a:t>
            </a:r>
            <a:r>
              <a:rPr lang="es-CL" sz="1200" dirty="0">
                <a:solidFill>
                  <a:schemeClr val="bg1"/>
                </a:solidFill>
              </a:rPr>
              <a:t> </a:t>
            </a:r>
            <a:r>
              <a:rPr lang="es-CL" sz="1200" dirty="0" err="1">
                <a:solidFill>
                  <a:schemeClr val="bg1"/>
                </a:solidFill>
              </a:rPr>
              <a:t>most</a:t>
            </a:r>
            <a:r>
              <a:rPr lang="es-CL" sz="1200" dirty="0">
                <a:solidFill>
                  <a:schemeClr val="bg1"/>
                </a:solidFill>
              </a:rPr>
              <a:t> </a:t>
            </a:r>
            <a:r>
              <a:rPr lang="es-CL" sz="1200" dirty="0" err="1">
                <a:solidFill>
                  <a:schemeClr val="bg1"/>
                </a:solidFill>
              </a:rPr>
              <a:t>urgent</a:t>
            </a:r>
            <a:r>
              <a:rPr lang="es-CL" sz="1200" dirty="0">
                <a:solidFill>
                  <a:schemeClr val="bg1"/>
                </a:solidFill>
              </a:rPr>
              <a:t> </a:t>
            </a:r>
            <a:r>
              <a:rPr lang="es-CL" sz="1200" dirty="0" err="1">
                <a:solidFill>
                  <a:schemeClr val="bg1"/>
                </a:solidFill>
              </a:rPr>
              <a:t>finding</a:t>
            </a:r>
            <a:r>
              <a:rPr lang="es-CL" sz="1200" dirty="0">
                <a:solidFill>
                  <a:schemeClr val="bg1"/>
                </a:solidFill>
              </a:rPr>
              <a:t> </a:t>
            </a:r>
            <a:r>
              <a:rPr lang="es-CL" sz="1200" dirty="0" err="1">
                <a:solidFill>
                  <a:schemeClr val="bg1"/>
                </a:solidFill>
              </a:rPr>
              <a:t>of</a:t>
            </a:r>
            <a:r>
              <a:rPr lang="es-CL" sz="1200" dirty="0">
                <a:solidFill>
                  <a:schemeClr val="bg1"/>
                </a:solidFill>
              </a:rPr>
              <a:t> </a:t>
            </a:r>
            <a:r>
              <a:rPr lang="es-CL" sz="1200" dirty="0" err="1">
                <a:solidFill>
                  <a:schemeClr val="bg1"/>
                </a:solidFill>
              </a:rPr>
              <a:t>the</a:t>
            </a:r>
            <a:r>
              <a:rPr lang="es-CL" sz="1200" dirty="0">
                <a:solidFill>
                  <a:schemeClr val="bg1"/>
                </a:solidFill>
              </a:rPr>
              <a:t> </a:t>
            </a:r>
            <a:r>
              <a:rPr lang="es-CL" sz="1200" dirty="0" err="1">
                <a:solidFill>
                  <a:schemeClr val="bg1"/>
                </a:solidFill>
              </a:rPr>
              <a:t>entire</a:t>
            </a:r>
            <a:r>
              <a:rPr lang="es-CL" sz="1200" dirty="0">
                <a:solidFill>
                  <a:schemeClr val="bg1"/>
                </a:solidFill>
              </a:rPr>
              <a:t> </a:t>
            </a:r>
            <a:r>
              <a:rPr lang="es-CL" sz="1200" dirty="0" err="1">
                <a:solidFill>
                  <a:schemeClr val="bg1"/>
                </a:solidFill>
              </a:rPr>
              <a:t>analysis</a:t>
            </a:r>
            <a:r>
              <a:rPr lang="es-CL" sz="1200" dirty="0">
                <a:solidFill>
                  <a:schemeClr val="bg1"/>
                </a:solidFill>
              </a:rPr>
              <a:t>, and </a:t>
            </a:r>
            <a:r>
              <a:rPr lang="es-CL" sz="1200" dirty="0" err="1">
                <a:solidFill>
                  <a:schemeClr val="bg1"/>
                </a:solidFill>
              </a:rPr>
              <a:t>the</a:t>
            </a:r>
            <a:r>
              <a:rPr lang="es-CL" sz="1200" dirty="0">
                <a:solidFill>
                  <a:schemeClr val="bg1"/>
                </a:solidFill>
              </a:rPr>
              <a:t> one </a:t>
            </a:r>
            <a:r>
              <a:rPr lang="es-CL" sz="1200" dirty="0" err="1">
                <a:solidFill>
                  <a:schemeClr val="bg1"/>
                </a:solidFill>
              </a:rPr>
              <a:t>most</a:t>
            </a:r>
            <a:r>
              <a:rPr lang="es-CL" sz="1200" dirty="0">
                <a:solidFill>
                  <a:schemeClr val="bg1"/>
                </a:solidFill>
              </a:rPr>
              <a:t> </a:t>
            </a:r>
            <a:r>
              <a:rPr lang="es-CL" sz="1200" dirty="0" err="1">
                <a:solidFill>
                  <a:schemeClr val="bg1"/>
                </a:solidFill>
              </a:rPr>
              <a:t>likely</a:t>
            </a:r>
            <a:r>
              <a:rPr lang="es-CL" sz="1200" dirty="0">
                <a:solidFill>
                  <a:schemeClr val="bg1"/>
                </a:solidFill>
              </a:rPr>
              <a:t> </a:t>
            </a:r>
            <a:r>
              <a:rPr lang="es-CL" sz="1200" dirty="0" err="1">
                <a:solidFill>
                  <a:schemeClr val="bg1"/>
                </a:solidFill>
              </a:rPr>
              <a:t>to</a:t>
            </a:r>
            <a:r>
              <a:rPr lang="es-CL" sz="1200" dirty="0">
                <a:solidFill>
                  <a:schemeClr val="bg1"/>
                </a:solidFill>
              </a:rPr>
              <a:t> be </a:t>
            </a:r>
            <a:r>
              <a:rPr lang="es-CL" sz="1200" dirty="0" err="1">
                <a:solidFill>
                  <a:schemeClr val="bg1"/>
                </a:solidFill>
              </a:rPr>
              <a:t>pushed</a:t>
            </a:r>
            <a:r>
              <a:rPr lang="es-CL" sz="1200" dirty="0">
                <a:solidFill>
                  <a:schemeClr val="bg1"/>
                </a:solidFill>
              </a:rPr>
              <a:t> aside </a:t>
            </a:r>
            <a:r>
              <a:rPr lang="es-CL" sz="1200" dirty="0" err="1">
                <a:solidFill>
                  <a:schemeClr val="bg1"/>
                </a:solidFill>
              </a:rPr>
              <a:t>while</a:t>
            </a:r>
            <a:r>
              <a:rPr lang="es-CL" sz="1200" dirty="0">
                <a:solidFill>
                  <a:schemeClr val="bg1"/>
                </a:solidFill>
              </a:rPr>
              <a:t> </a:t>
            </a:r>
            <a:r>
              <a:rPr lang="es-CL" sz="1200" dirty="0" err="1">
                <a:solidFill>
                  <a:schemeClr val="bg1"/>
                </a:solidFill>
              </a:rPr>
              <a:t>the</a:t>
            </a:r>
            <a:r>
              <a:rPr lang="es-CL" sz="1200" dirty="0">
                <a:solidFill>
                  <a:schemeClr val="bg1"/>
                </a:solidFill>
              </a:rPr>
              <a:t> </a:t>
            </a:r>
            <a:r>
              <a:rPr lang="es-CL" sz="1200" dirty="0" err="1">
                <a:solidFill>
                  <a:schemeClr val="bg1"/>
                </a:solidFill>
              </a:rPr>
              <a:t>team</a:t>
            </a:r>
            <a:r>
              <a:rPr lang="es-CL" sz="1200" dirty="0">
                <a:solidFill>
                  <a:schemeClr val="bg1"/>
                </a:solidFill>
              </a:rPr>
              <a:t> </a:t>
            </a:r>
            <a:r>
              <a:rPr lang="es-CL" sz="1200" dirty="0" err="1">
                <a:solidFill>
                  <a:schemeClr val="bg1"/>
                </a:solidFill>
              </a:rPr>
              <a:t>focuses</a:t>
            </a:r>
            <a:r>
              <a:rPr lang="es-CL" sz="1200" dirty="0">
                <a:solidFill>
                  <a:schemeClr val="bg1"/>
                </a:solidFill>
              </a:rPr>
              <a:t> </a:t>
            </a:r>
            <a:r>
              <a:rPr lang="es-CL" sz="1200" dirty="0" err="1">
                <a:solidFill>
                  <a:schemeClr val="bg1"/>
                </a:solidFill>
              </a:rPr>
              <a:t>on</a:t>
            </a:r>
            <a:r>
              <a:rPr lang="es-CL" sz="1200" dirty="0">
                <a:solidFill>
                  <a:schemeClr val="bg1"/>
                </a:solidFill>
              </a:rPr>
              <a:t> </a:t>
            </a:r>
            <a:r>
              <a:rPr lang="es-CL" sz="1200" dirty="0" err="1">
                <a:solidFill>
                  <a:schemeClr val="bg1"/>
                </a:solidFill>
              </a:rPr>
              <a:t>solving</a:t>
            </a:r>
            <a:r>
              <a:rPr lang="es-CL" sz="1200" dirty="0">
                <a:solidFill>
                  <a:schemeClr val="bg1"/>
                </a:solidFill>
              </a:rPr>
              <a:t> </a:t>
            </a:r>
            <a:r>
              <a:rPr lang="es-CL" sz="1200" dirty="0" err="1">
                <a:solidFill>
                  <a:schemeClr val="bg1"/>
                </a:solidFill>
              </a:rPr>
              <a:t>the</a:t>
            </a:r>
            <a:r>
              <a:rPr lang="es-CL" sz="1200" dirty="0">
                <a:solidFill>
                  <a:schemeClr val="bg1"/>
                </a:solidFill>
              </a:rPr>
              <a:t> </a:t>
            </a:r>
            <a:r>
              <a:rPr lang="es-CL" sz="1200" dirty="0" err="1">
                <a:solidFill>
                  <a:schemeClr val="bg1"/>
                </a:solidFill>
              </a:rPr>
              <a:t>day-to-day</a:t>
            </a:r>
            <a:r>
              <a:rPr lang="es-CL" sz="1200" dirty="0">
                <a:solidFill>
                  <a:schemeClr val="bg1"/>
                </a:solidFill>
              </a:rPr>
              <a:t> </a:t>
            </a:r>
            <a:r>
              <a:rPr lang="es-CL" sz="1200" dirty="0" err="1">
                <a:solidFill>
                  <a:schemeClr val="bg1"/>
                </a:solidFill>
              </a:rPr>
              <a:t>challenges</a:t>
            </a:r>
            <a:r>
              <a:rPr lang="es-CL" sz="1200" dirty="0">
                <a:solidFill>
                  <a:schemeClr val="bg1"/>
                </a:solidFill>
              </a:rPr>
              <a:t> </a:t>
            </a:r>
            <a:r>
              <a:rPr lang="es-CL" sz="1200" dirty="0" err="1">
                <a:solidFill>
                  <a:schemeClr val="bg1"/>
                </a:solidFill>
              </a:rPr>
              <a:t>of</a:t>
            </a:r>
            <a:r>
              <a:rPr lang="es-CL" sz="1200" dirty="0">
                <a:solidFill>
                  <a:schemeClr val="bg1"/>
                </a:solidFill>
              </a:rPr>
              <a:t> </a:t>
            </a:r>
            <a:r>
              <a:rPr lang="es-CL" sz="1200" dirty="0" err="1">
                <a:solidFill>
                  <a:schemeClr val="bg1"/>
                </a:solidFill>
              </a:rPr>
              <a:t>the</a:t>
            </a:r>
            <a:r>
              <a:rPr lang="es-CL" sz="1200" dirty="0">
                <a:solidFill>
                  <a:schemeClr val="bg1"/>
                </a:solidFill>
              </a:rPr>
              <a:t> </a:t>
            </a:r>
            <a:r>
              <a:rPr lang="es-CL" sz="1200" dirty="0" err="1">
                <a:solidFill>
                  <a:schemeClr val="bg1"/>
                </a:solidFill>
              </a:rPr>
              <a:t>integration</a:t>
            </a:r>
            <a:r>
              <a:rPr lang="es-CL" sz="1200" dirty="0">
                <a:solidFill>
                  <a:schemeClr val="bg1"/>
                </a:solidFill>
              </a:rPr>
              <a:t>.</a:t>
            </a:r>
            <a:endParaRPr sz="1200" b="0" i="0" dirty="0">
              <a:solidFill>
                <a:schemeClr val="bg1"/>
              </a:solidFill>
            </a:endParaRPr>
          </a:p>
        </p:txBody>
      </p:sp>
      <p:sp>
        <p:nvSpPr>
          <p:cNvPr id="19" name="Rectangle 18"/>
          <p:cNvSpPr/>
          <p:nvPr/>
        </p:nvSpPr>
        <p:spPr>
          <a:xfrm>
            <a:off x="777240" y="5221224"/>
            <a:ext cx="640080" cy="1097280"/>
          </a:xfrm>
          <a:prstGeom prst="rect">
            <a:avLst/>
          </a:prstGeom>
          <a:solidFill>
            <a:schemeClr val="accent5">
              <a:lumMod val="5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77240" y="5495544"/>
            <a:ext cx="640080" cy="523220"/>
          </a:xfrm>
          <a:prstGeom prst="rect">
            <a:avLst/>
          </a:prstGeom>
          <a:noFill/>
        </p:spPr>
        <p:txBody>
          <a:bodyPr wrap="square">
            <a:spAutoFit/>
          </a:bodyPr>
          <a:lstStyle/>
          <a:p>
            <a:pPr algn="ctr"/>
            <a:r>
              <a:rPr sz="2800" b="1" i="0" dirty="0">
                <a:solidFill>
                  <a:srgbClr val="FFC200"/>
                </a:solidFill>
              </a:rPr>
              <a:t>4</a:t>
            </a:r>
          </a:p>
        </p:txBody>
      </p:sp>
      <p:sp>
        <p:nvSpPr>
          <p:cNvPr id="21" name="TextBox 20"/>
          <p:cNvSpPr txBox="1"/>
          <p:nvPr/>
        </p:nvSpPr>
        <p:spPr>
          <a:xfrm>
            <a:off x="1508760" y="5266944"/>
            <a:ext cx="9966960" cy="307777"/>
          </a:xfrm>
          <a:prstGeom prst="rect">
            <a:avLst/>
          </a:prstGeom>
          <a:noFill/>
        </p:spPr>
        <p:txBody>
          <a:bodyPr wrap="square">
            <a:spAutoFit/>
          </a:bodyPr>
          <a:lstStyle/>
          <a:p>
            <a:r>
              <a:rPr lang="es-CL" sz="1400" b="1" dirty="0">
                <a:solidFill>
                  <a:srgbClr val="FFC200"/>
                </a:solidFill>
              </a:rPr>
              <a:t>A Clear Path Forward </a:t>
            </a:r>
            <a:r>
              <a:rPr lang="es-CL" sz="1400" b="1" dirty="0" err="1">
                <a:solidFill>
                  <a:srgbClr val="FFC200"/>
                </a:solidFill>
              </a:rPr>
              <a:t>for</a:t>
            </a:r>
            <a:r>
              <a:rPr lang="es-CL" sz="1400" b="1" dirty="0">
                <a:solidFill>
                  <a:srgbClr val="FFC200"/>
                </a:solidFill>
              </a:rPr>
              <a:t> </a:t>
            </a:r>
            <a:r>
              <a:rPr lang="es-CL" sz="1400" b="1" dirty="0" err="1">
                <a:solidFill>
                  <a:srgbClr val="FFC200"/>
                </a:solidFill>
              </a:rPr>
              <a:t>the</a:t>
            </a:r>
            <a:r>
              <a:rPr lang="es-CL" sz="1400" b="1" dirty="0">
                <a:solidFill>
                  <a:srgbClr val="FFC200"/>
                </a:solidFill>
              </a:rPr>
              <a:t> </a:t>
            </a:r>
            <a:r>
              <a:rPr lang="es-CL" sz="1400" b="1" dirty="0" err="1">
                <a:solidFill>
                  <a:srgbClr val="FFC200"/>
                </a:solidFill>
              </a:rPr>
              <a:t>Vantage</a:t>
            </a:r>
            <a:r>
              <a:rPr lang="es-CL" sz="1400" b="1" dirty="0">
                <a:solidFill>
                  <a:srgbClr val="FFC200"/>
                </a:solidFill>
              </a:rPr>
              <a:t> Discovery </a:t>
            </a:r>
            <a:r>
              <a:rPr lang="es-CL" sz="1400" b="1" dirty="0" err="1">
                <a:solidFill>
                  <a:srgbClr val="FFC200"/>
                </a:solidFill>
              </a:rPr>
              <a:t>Acquisition</a:t>
            </a:r>
            <a:endParaRPr sz="1400" b="1" dirty="0">
              <a:solidFill>
                <a:srgbClr val="FFC200"/>
              </a:solidFill>
            </a:endParaRPr>
          </a:p>
        </p:txBody>
      </p:sp>
      <p:sp>
        <p:nvSpPr>
          <p:cNvPr id="22" name="TextBox 21"/>
          <p:cNvSpPr txBox="1"/>
          <p:nvPr/>
        </p:nvSpPr>
        <p:spPr>
          <a:xfrm>
            <a:off x="1508760" y="5678424"/>
            <a:ext cx="9966960" cy="646331"/>
          </a:xfrm>
          <a:prstGeom prst="rect">
            <a:avLst/>
          </a:prstGeom>
          <a:noFill/>
        </p:spPr>
        <p:txBody>
          <a:bodyPr wrap="square">
            <a:spAutoFit/>
          </a:bodyPr>
          <a:lstStyle/>
          <a:p>
            <a:r>
              <a:rPr lang="es-CL" sz="1200" dirty="0">
                <a:solidFill>
                  <a:schemeClr val="bg1"/>
                </a:solidFill>
              </a:rPr>
              <a:t>The </a:t>
            </a:r>
            <a:r>
              <a:rPr lang="es-CL" sz="1200" dirty="0" err="1">
                <a:solidFill>
                  <a:schemeClr val="bg1"/>
                </a:solidFill>
              </a:rPr>
              <a:t>analysis</a:t>
            </a:r>
            <a:r>
              <a:rPr lang="es-CL" sz="1200" dirty="0">
                <a:solidFill>
                  <a:schemeClr val="bg1"/>
                </a:solidFill>
              </a:rPr>
              <a:t> </a:t>
            </a:r>
            <a:r>
              <a:rPr lang="en-US" sz="1200" dirty="0">
                <a:solidFill>
                  <a:schemeClr val="bg1"/>
                </a:solidFill>
              </a:rPr>
              <a:t>we conducted allowed us to evolve from a qualitative risk assessment to a quantified,</a:t>
            </a:r>
            <a:r>
              <a:rPr lang="es-CL" sz="1200" dirty="0">
                <a:solidFill>
                  <a:schemeClr val="bg1"/>
                </a:solidFill>
              </a:rPr>
              <a:t> </a:t>
            </a:r>
            <a:r>
              <a:rPr lang="es-CL" sz="1200" dirty="0" err="1">
                <a:solidFill>
                  <a:schemeClr val="bg1"/>
                </a:solidFill>
              </a:rPr>
              <a:t>actionable</a:t>
            </a:r>
            <a:r>
              <a:rPr lang="es-CL" sz="1200" dirty="0">
                <a:solidFill>
                  <a:schemeClr val="bg1"/>
                </a:solidFill>
              </a:rPr>
              <a:t> </a:t>
            </a:r>
            <a:r>
              <a:rPr lang="es-CL" sz="1200" dirty="0" err="1">
                <a:solidFill>
                  <a:schemeClr val="bg1"/>
                </a:solidFill>
              </a:rPr>
              <a:t>framework</a:t>
            </a:r>
            <a:r>
              <a:rPr lang="es-CL" sz="1200" dirty="0">
                <a:solidFill>
                  <a:schemeClr val="bg1"/>
                </a:solidFill>
              </a:rPr>
              <a:t>. The </a:t>
            </a:r>
            <a:r>
              <a:rPr lang="es-CL" sz="1200" dirty="0" err="1">
                <a:solidFill>
                  <a:schemeClr val="bg1"/>
                </a:solidFill>
              </a:rPr>
              <a:t>results</a:t>
            </a:r>
            <a:r>
              <a:rPr lang="es-CL" sz="1200" dirty="0">
                <a:solidFill>
                  <a:schemeClr val="bg1"/>
                </a:solidFill>
              </a:rPr>
              <a:t> </a:t>
            </a:r>
            <a:r>
              <a:rPr lang="es-CL" sz="1200" dirty="0" err="1">
                <a:solidFill>
                  <a:schemeClr val="bg1"/>
                </a:solidFill>
              </a:rPr>
              <a:t>not</a:t>
            </a:r>
            <a:r>
              <a:rPr lang="es-CL" sz="1200" dirty="0">
                <a:solidFill>
                  <a:schemeClr val="bg1"/>
                </a:solidFill>
              </a:rPr>
              <a:t> </a:t>
            </a:r>
            <a:r>
              <a:rPr lang="es-CL" sz="1200" dirty="0" err="1">
                <a:solidFill>
                  <a:schemeClr val="bg1"/>
                </a:solidFill>
              </a:rPr>
              <a:t>only</a:t>
            </a:r>
            <a:r>
              <a:rPr lang="es-CL" sz="1200" dirty="0">
                <a:solidFill>
                  <a:schemeClr val="bg1"/>
                </a:solidFill>
              </a:rPr>
              <a:t> </a:t>
            </a:r>
            <a:r>
              <a:rPr lang="es-CL" sz="1200" dirty="0" err="1">
                <a:solidFill>
                  <a:schemeClr val="bg1"/>
                </a:solidFill>
              </a:rPr>
              <a:t>identify</a:t>
            </a:r>
            <a:r>
              <a:rPr lang="es-CL" sz="1200" dirty="0">
                <a:solidFill>
                  <a:schemeClr val="bg1"/>
                </a:solidFill>
              </a:rPr>
              <a:t> </a:t>
            </a:r>
            <a:r>
              <a:rPr lang="es-CL" sz="1200" dirty="0" err="1">
                <a:solidFill>
                  <a:schemeClr val="bg1"/>
                </a:solidFill>
              </a:rPr>
              <a:t>what</a:t>
            </a:r>
            <a:r>
              <a:rPr lang="es-CL" sz="1200" dirty="0">
                <a:solidFill>
                  <a:schemeClr val="bg1"/>
                </a:solidFill>
              </a:rPr>
              <a:t> can </a:t>
            </a:r>
            <a:r>
              <a:rPr lang="es-CL" sz="1200" dirty="0" err="1">
                <a:solidFill>
                  <a:schemeClr val="bg1"/>
                </a:solidFill>
              </a:rPr>
              <a:t>go</a:t>
            </a:r>
            <a:r>
              <a:rPr lang="es-CL" sz="1200" dirty="0">
                <a:solidFill>
                  <a:schemeClr val="bg1"/>
                </a:solidFill>
              </a:rPr>
              <a:t> </a:t>
            </a:r>
            <a:r>
              <a:rPr lang="es-CL" sz="1200" dirty="0" err="1">
                <a:solidFill>
                  <a:schemeClr val="bg1"/>
                </a:solidFill>
              </a:rPr>
              <a:t>wrong</a:t>
            </a:r>
            <a:r>
              <a:rPr lang="es-CL" sz="1200" dirty="0">
                <a:solidFill>
                  <a:schemeClr val="bg1"/>
                </a:solidFill>
              </a:rPr>
              <a:t>, </a:t>
            </a:r>
            <a:r>
              <a:rPr lang="es-CL" sz="1200" dirty="0" err="1">
                <a:solidFill>
                  <a:schemeClr val="bg1"/>
                </a:solidFill>
              </a:rPr>
              <a:t>but</a:t>
            </a:r>
            <a:r>
              <a:rPr lang="es-CL" sz="1200" dirty="0">
                <a:solidFill>
                  <a:schemeClr val="bg1"/>
                </a:solidFill>
              </a:rPr>
              <a:t> </a:t>
            </a:r>
            <a:r>
              <a:rPr lang="es-CL" sz="1200" dirty="0" err="1">
                <a:solidFill>
                  <a:schemeClr val="bg1"/>
                </a:solidFill>
              </a:rPr>
              <a:t>establish</a:t>
            </a:r>
            <a:r>
              <a:rPr lang="es-CL" sz="1200" dirty="0">
                <a:solidFill>
                  <a:schemeClr val="bg1"/>
                </a:solidFill>
              </a:rPr>
              <a:t> </a:t>
            </a:r>
            <a:r>
              <a:rPr lang="es-CL" sz="1200" dirty="0" err="1">
                <a:solidFill>
                  <a:schemeClr val="bg1"/>
                </a:solidFill>
              </a:rPr>
              <a:t>with</a:t>
            </a:r>
            <a:r>
              <a:rPr lang="es-CL" sz="1200" dirty="0">
                <a:solidFill>
                  <a:schemeClr val="bg1"/>
                </a:solidFill>
              </a:rPr>
              <a:t> </a:t>
            </a:r>
            <a:r>
              <a:rPr lang="es-CL" sz="1200" dirty="0" err="1">
                <a:solidFill>
                  <a:schemeClr val="bg1"/>
                </a:solidFill>
              </a:rPr>
              <a:t>precision</a:t>
            </a:r>
            <a:r>
              <a:rPr lang="es-CL" sz="1200" dirty="0">
                <a:solidFill>
                  <a:schemeClr val="bg1"/>
                </a:solidFill>
              </a:rPr>
              <a:t> </a:t>
            </a:r>
            <a:r>
              <a:rPr lang="es-CL" sz="1200" dirty="0" err="1">
                <a:solidFill>
                  <a:schemeClr val="bg1"/>
                </a:solidFill>
              </a:rPr>
              <a:t>how</a:t>
            </a:r>
            <a:r>
              <a:rPr lang="es-CL" sz="1200" dirty="0">
                <a:solidFill>
                  <a:schemeClr val="bg1"/>
                </a:solidFill>
              </a:rPr>
              <a:t> </a:t>
            </a:r>
            <a:r>
              <a:rPr lang="es-CL" sz="1200" dirty="0" err="1">
                <a:solidFill>
                  <a:schemeClr val="bg1"/>
                </a:solidFill>
              </a:rPr>
              <a:t>much</a:t>
            </a:r>
            <a:r>
              <a:rPr lang="es-CL" sz="1200" dirty="0">
                <a:solidFill>
                  <a:schemeClr val="bg1"/>
                </a:solidFill>
              </a:rPr>
              <a:t> </a:t>
            </a:r>
            <a:r>
              <a:rPr lang="es-CL" sz="1200" dirty="0" err="1">
                <a:solidFill>
                  <a:schemeClr val="bg1"/>
                </a:solidFill>
              </a:rPr>
              <a:t>it</a:t>
            </a:r>
            <a:r>
              <a:rPr lang="es-CL" sz="1200" dirty="0">
                <a:solidFill>
                  <a:schemeClr val="bg1"/>
                </a:solidFill>
              </a:rPr>
              <a:t> </a:t>
            </a:r>
            <a:r>
              <a:rPr lang="es-CL" sz="1200" dirty="0" err="1">
                <a:solidFill>
                  <a:schemeClr val="bg1"/>
                </a:solidFill>
              </a:rPr>
              <a:t>could</a:t>
            </a:r>
            <a:r>
              <a:rPr lang="es-CL" sz="1200" dirty="0">
                <a:solidFill>
                  <a:schemeClr val="bg1"/>
                </a:solidFill>
              </a:rPr>
              <a:t> </a:t>
            </a:r>
            <a:r>
              <a:rPr lang="es-CL" sz="1200" dirty="0" err="1">
                <a:solidFill>
                  <a:schemeClr val="bg1"/>
                </a:solidFill>
              </a:rPr>
              <a:t>cost</a:t>
            </a:r>
            <a:r>
              <a:rPr lang="es-CL" sz="1200" dirty="0">
                <a:solidFill>
                  <a:schemeClr val="bg1"/>
                </a:solidFill>
              </a:rPr>
              <a:t> and </a:t>
            </a:r>
            <a:r>
              <a:rPr lang="es-CL" sz="1200" dirty="0" err="1">
                <a:solidFill>
                  <a:schemeClr val="bg1"/>
                </a:solidFill>
              </a:rPr>
              <a:t>when</a:t>
            </a:r>
            <a:r>
              <a:rPr lang="es-CL" sz="1200" dirty="0">
                <a:solidFill>
                  <a:schemeClr val="bg1"/>
                </a:solidFill>
              </a:rPr>
              <a:t> Shopify </a:t>
            </a:r>
            <a:r>
              <a:rPr lang="es-CL" sz="1200" dirty="0" err="1">
                <a:solidFill>
                  <a:schemeClr val="bg1"/>
                </a:solidFill>
              </a:rPr>
              <a:t>must</a:t>
            </a:r>
            <a:r>
              <a:rPr lang="es-CL" sz="1200" dirty="0">
                <a:solidFill>
                  <a:schemeClr val="bg1"/>
                </a:solidFill>
              </a:rPr>
              <a:t> </a:t>
            </a:r>
            <a:r>
              <a:rPr lang="es-CL" sz="1200" dirty="0" err="1">
                <a:solidFill>
                  <a:schemeClr val="bg1"/>
                </a:solidFill>
              </a:rPr>
              <a:t>act</a:t>
            </a:r>
            <a:r>
              <a:rPr lang="es-CL" sz="1200" dirty="0">
                <a:solidFill>
                  <a:schemeClr val="bg1"/>
                </a:solidFill>
              </a:rPr>
              <a:t>. With </a:t>
            </a:r>
            <a:r>
              <a:rPr lang="es-CL" sz="1200" dirty="0" err="1">
                <a:solidFill>
                  <a:schemeClr val="bg1"/>
                </a:solidFill>
              </a:rPr>
              <a:t>that</a:t>
            </a:r>
            <a:r>
              <a:rPr lang="es-CL" sz="1200" dirty="0">
                <a:solidFill>
                  <a:schemeClr val="bg1"/>
                </a:solidFill>
              </a:rPr>
              <a:t> </a:t>
            </a:r>
            <a:r>
              <a:rPr lang="es-CL" sz="1200" dirty="0" err="1">
                <a:solidFill>
                  <a:schemeClr val="bg1"/>
                </a:solidFill>
              </a:rPr>
              <a:t>clarity</a:t>
            </a:r>
            <a:r>
              <a:rPr lang="es-CL" sz="1200" dirty="0">
                <a:solidFill>
                  <a:schemeClr val="bg1"/>
                </a:solidFill>
              </a:rPr>
              <a:t>, </a:t>
            </a:r>
            <a:r>
              <a:rPr lang="es-CL" sz="1200" dirty="0" err="1">
                <a:solidFill>
                  <a:schemeClr val="bg1"/>
                </a:solidFill>
              </a:rPr>
              <a:t>the</a:t>
            </a:r>
            <a:r>
              <a:rPr lang="es-CL" sz="1200" dirty="0">
                <a:solidFill>
                  <a:schemeClr val="bg1"/>
                </a:solidFill>
              </a:rPr>
              <a:t> </a:t>
            </a:r>
            <a:r>
              <a:rPr lang="es-CL" sz="1200" dirty="0" err="1">
                <a:solidFill>
                  <a:schemeClr val="bg1"/>
                </a:solidFill>
              </a:rPr>
              <a:t>acquisition</a:t>
            </a:r>
            <a:r>
              <a:rPr lang="es-CL" sz="1200" dirty="0">
                <a:solidFill>
                  <a:schemeClr val="bg1"/>
                </a:solidFill>
              </a:rPr>
              <a:t> </a:t>
            </a:r>
            <a:r>
              <a:rPr lang="es-CL" sz="1200" dirty="0" err="1">
                <a:solidFill>
                  <a:schemeClr val="bg1"/>
                </a:solidFill>
              </a:rPr>
              <a:t>of</a:t>
            </a:r>
            <a:r>
              <a:rPr lang="es-CL" sz="1200" dirty="0">
                <a:solidFill>
                  <a:schemeClr val="bg1"/>
                </a:solidFill>
              </a:rPr>
              <a:t> </a:t>
            </a:r>
            <a:r>
              <a:rPr lang="es-CL" sz="1200" dirty="0" err="1">
                <a:solidFill>
                  <a:schemeClr val="bg1"/>
                </a:solidFill>
              </a:rPr>
              <a:t>Vantage</a:t>
            </a:r>
            <a:r>
              <a:rPr lang="es-CL" sz="1200" dirty="0">
                <a:solidFill>
                  <a:schemeClr val="bg1"/>
                </a:solidFill>
              </a:rPr>
              <a:t> Discovery </a:t>
            </a:r>
            <a:r>
              <a:rPr lang="es-CL" sz="1200" dirty="0" err="1">
                <a:solidFill>
                  <a:schemeClr val="bg1"/>
                </a:solidFill>
              </a:rPr>
              <a:t>ceases</a:t>
            </a:r>
            <a:r>
              <a:rPr lang="es-CL" sz="1200" dirty="0">
                <a:solidFill>
                  <a:schemeClr val="bg1"/>
                </a:solidFill>
              </a:rPr>
              <a:t> </a:t>
            </a:r>
            <a:r>
              <a:rPr lang="es-CL" sz="1200" dirty="0" err="1">
                <a:solidFill>
                  <a:schemeClr val="bg1"/>
                </a:solidFill>
              </a:rPr>
              <a:t>to</a:t>
            </a:r>
            <a:r>
              <a:rPr lang="es-CL" sz="1200" dirty="0">
                <a:solidFill>
                  <a:schemeClr val="bg1"/>
                </a:solidFill>
              </a:rPr>
              <a:t> be a </a:t>
            </a:r>
            <a:r>
              <a:rPr lang="es-CL" sz="1200" dirty="0" err="1">
                <a:solidFill>
                  <a:schemeClr val="bg1"/>
                </a:solidFill>
              </a:rPr>
              <a:t>strategic</a:t>
            </a:r>
            <a:r>
              <a:rPr lang="es-CL" sz="1200" dirty="0">
                <a:solidFill>
                  <a:schemeClr val="bg1"/>
                </a:solidFill>
              </a:rPr>
              <a:t> </a:t>
            </a:r>
            <a:r>
              <a:rPr lang="es-CL" sz="1200" dirty="0" err="1">
                <a:solidFill>
                  <a:schemeClr val="bg1"/>
                </a:solidFill>
              </a:rPr>
              <a:t>bet</a:t>
            </a:r>
            <a:r>
              <a:rPr lang="es-CL" sz="1200" dirty="0">
                <a:solidFill>
                  <a:schemeClr val="bg1"/>
                </a:solidFill>
              </a:rPr>
              <a:t> and </a:t>
            </a:r>
            <a:r>
              <a:rPr lang="es-CL" sz="1200" dirty="0" err="1">
                <a:solidFill>
                  <a:schemeClr val="bg1"/>
                </a:solidFill>
              </a:rPr>
              <a:t>becomes</a:t>
            </a:r>
            <a:r>
              <a:rPr lang="es-CL" sz="1200" dirty="0">
                <a:solidFill>
                  <a:schemeClr val="bg1"/>
                </a:solidFill>
              </a:rPr>
              <a:t> </a:t>
            </a:r>
            <a:r>
              <a:rPr lang="es-CL" sz="1200" dirty="0" err="1">
                <a:solidFill>
                  <a:schemeClr val="bg1"/>
                </a:solidFill>
              </a:rPr>
              <a:t>an</a:t>
            </a:r>
            <a:r>
              <a:rPr lang="es-CL" sz="1200" dirty="0">
                <a:solidFill>
                  <a:schemeClr val="bg1"/>
                </a:solidFill>
              </a:rPr>
              <a:t> </a:t>
            </a:r>
            <a:r>
              <a:rPr lang="es-CL" sz="1200" dirty="0" err="1">
                <a:solidFill>
                  <a:schemeClr val="bg1"/>
                </a:solidFill>
              </a:rPr>
              <a:t>informed</a:t>
            </a:r>
            <a:r>
              <a:rPr lang="es-CL" sz="1200" dirty="0">
                <a:solidFill>
                  <a:schemeClr val="bg1"/>
                </a:solidFill>
              </a:rPr>
              <a:t>, </a:t>
            </a:r>
            <a:r>
              <a:rPr lang="es-CL" sz="1200" dirty="0" err="1">
                <a:solidFill>
                  <a:schemeClr val="bg1"/>
                </a:solidFill>
              </a:rPr>
              <a:t>manageable</a:t>
            </a:r>
            <a:r>
              <a:rPr lang="es-CL" sz="1200" dirty="0">
                <a:solidFill>
                  <a:schemeClr val="bg1"/>
                </a:solidFill>
              </a:rPr>
              <a:t> </a:t>
            </a:r>
            <a:r>
              <a:rPr lang="es-CL" sz="1200" dirty="0" err="1">
                <a:solidFill>
                  <a:schemeClr val="bg1"/>
                </a:solidFill>
              </a:rPr>
              <a:t>decision</a:t>
            </a:r>
            <a:endParaRPr sz="1200" b="0" i="0" dirty="0">
              <a:solidFill>
                <a:schemeClr val="bg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280160"/>
          </a:xfrm>
          <a:prstGeom prst="rect">
            <a:avLst/>
          </a:prstGeom>
          <a:solidFill>
            <a:schemeClr val="accent5">
              <a:lumMod val="5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310896"/>
            <a:ext cx="10972800" cy="553998"/>
          </a:xfrm>
          <a:prstGeom prst="rect">
            <a:avLst/>
          </a:prstGeom>
          <a:noFill/>
        </p:spPr>
        <p:txBody>
          <a:bodyPr wrap="square">
            <a:spAutoFit/>
          </a:bodyPr>
          <a:lstStyle/>
          <a:p>
            <a:pPr algn="l"/>
            <a:r>
              <a:rPr sz="3000" b="1" i="0" dirty="0">
                <a:solidFill>
                  <a:srgbClr val="FFFFFF"/>
                </a:solidFill>
              </a:rPr>
              <a:t>References</a:t>
            </a:r>
            <a:r>
              <a:rPr lang="es-CL" sz="3000" b="1" i="0" dirty="0">
                <a:solidFill>
                  <a:srgbClr val="FFFFFF"/>
                </a:solidFill>
              </a:rPr>
              <a:t>:</a:t>
            </a:r>
            <a:endParaRPr sz="3000" b="1" i="0" dirty="0">
              <a:solidFill>
                <a:srgbClr val="FFFFFF"/>
              </a:solidFill>
            </a:endParaRPr>
          </a:p>
        </p:txBody>
      </p:sp>
      <p:sp>
        <p:nvSpPr>
          <p:cNvPr id="12" name="Rectangle 11"/>
          <p:cNvSpPr/>
          <p:nvPr/>
        </p:nvSpPr>
        <p:spPr>
          <a:xfrm>
            <a:off x="274320" y="3099815"/>
            <a:ext cx="45720" cy="347472"/>
          </a:xfrm>
          <a:prstGeom prst="rect">
            <a:avLst/>
          </a:prstGeom>
          <a:solidFill>
            <a:srgbClr val="F6D9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5" name="Group 4">
            <a:extLst>
              <a:ext uri="{FF2B5EF4-FFF2-40B4-BE49-F238E27FC236}">
                <a16:creationId xmlns:a16="http://schemas.microsoft.com/office/drawing/2014/main" id="{18BEB99A-F82E-A597-68F2-8DA6E752A848}"/>
              </a:ext>
            </a:extLst>
          </p:cNvPr>
          <p:cNvGrpSpPr/>
          <p:nvPr/>
        </p:nvGrpSpPr>
        <p:grpSpPr>
          <a:xfrm>
            <a:off x="274320" y="6190488"/>
            <a:ext cx="11631168" cy="502920"/>
            <a:chOff x="274320" y="5861304"/>
            <a:chExt cx="11631168" cy="502920"/>
          </a:xfrm>
        </p:grpSpPr>
        <p:sp>
          <p:nvSpPr>
            <p:cNvPr id="22" name="Rectangle 21"/>
            <p:cNvSpPr/>
            <p:nvPr/>
          </p:nvSpPr>
          <p:spPr>
            <a:xfrm>
              <a:off x="292608" y="5861304"/>
              <a:ext cx="11612880" cy="502920"/>
            </a:xfrm>
            <a:prstGeom prst="rect">
              <a:avLst/>
            </a:prstGeom>
            <a:solidFill>
              <a:srgbClr val="0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274320" y="5888736"/>
              <a:ext cx="11612880" cy="430887"/>
            </a:xfrm>
            <a:prstGeom prst="rect">
              <a:avLst/>
            </a:prstGeom>
            <a:noFill/>
          </p:spPr>
          <p:txBody>
            <a:bodyPr wrap="square">
              <a:spAutoFit/>
            </a:bodyPr>
            <a:lstStyle/>
            <a:p>
              <a:pPr algn="ctr"/>
              <a:r>
                <a:rPr sz="1100" b="1" dirty="0">
                  <a:solidFill>
                    <a:srgbClr val="FFC200"/>
                  </a:solidFill>
                </a:rPr>
                <a:t>ALY 6130  ·  Northeastern University  ·  June 2026</a:t>
              </a:r>
              <a:endParaRPr lang="en-CA" sz="1100" b="1" dirty="0">
                <a:solidFill>
                  <a:srgbClr val="FFC200"/>
                </a:solidFill>
              </a:endParaRPr>
            </a:p>
            <a:p>
              <a:pPr algn="ctr"/>
              <a:r>
                <a:rPr lang="es-CL" sz="1100" b="1" dirty="0">
                  <a:solidFill>
                    <a:srgbClr val="FFC200"/>
                  </a:solidFill>
                </a:rPr>
                <a:t>Group 1:  Lissette Diaz  ·  Terry Lucas Boye  ·  Ekene </a:t>
              </a:r>
              <a:r>
                <a:rPr lang="es-CL" sz="1100" b="1" dirty="0" err="1">
                  <a:solidFill>
                    <a:srgbClr val="FFC200"/>
                  </a:solidFill>
                </a:rPr>
                <a:t>Onyemanjo</a:t>
              </a:r>
              <a:endParaRPr sz="1100" b="1" dirty="0">
                <a:solidFill>
                  <a:srgbClr val="FFC200"/>
                </a:solidFill>
              </a:endParaRPr>
            </a:p>
          </p:txBody>
        </p:sp>
      </p:grpSp>
      <p:grpSp>
        <p:nvGrpSpPr>
          <p:cNvPr id="26" name="Group 25">
            <a:extLst>
              <a:ext uri="{FF2B5EF4-FFF2-40B4-BE49-F238E27FC236}">
                <a16:creationId xmlns:a16="http://schemas.microsoft.com/office/drawing/2014/main" id="{41B9FD30-7400-24EB-BDD0-C30F87233061}"/>
              </a:ext>
            </a:extLst>
          </p:cNvPr>
          <p:cNvGrpSpPr/>
          <p:nvPr/>
        </p:nvGrpSpPr>
        <p:grpSpPr>
          <a:xfrm>
            <a:off x="274320" y="1508760"/>
            <a:ext cx="11201400" cy="4526280"/>
            <a:chOff x="274320" y="1508760"/>
            <a:chExt cx="11201400" cy="4526280"/>
          </a:xfrm>
        </p:grpSpPr>
        <p:sp>
          <p:nvSpPr>
            <p:cNvPr id="6" name="Rectangle 5"/>
            <p:cNvSpPr/>
            <p:nvPr/>
          </p:nvSpPr>
          <p:spPr>
            <a:xfrm>
              <a:off x="274320" y="1508760"/>
              <a:ext cx="45720" cy="347472"/>
            </a:xfrm>
            <a:prstGeom prst="rect">
              <a:avLst/>
            </a:prstGeom>
            <a:solidFill>
              <a:srgbClr val="F6D9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1527048"/>
              <a:ext cx="10972800" cy="276999"/>
            </a:xfrm>
            <a:prstGeom prst="rect">
              <a:avLst/>
            </a:prstGeom>
            <a:noFill/>
          </p:spPr>
          <p:txBody>
            <a:bodyPr wrap="square">
              <a:spAutoFit/>
            </a:bodyPr>
            <a:lstStyle/>
            <a:p>
              <a:pPr algn="l"/>
              <a:r>
                <a:rPr sz="1200" b="0" i="0">
                  <a:solidFill>
                    <a:srgbClr val="0A1A2E"/>
                  </a:solidFill>
                </a:rPr>
                <a:t>Shopify Inc. (2026). Q1 2026 Investor Press Release. investor.shopify.com</a:t>
              </a:r>
            </a:p>
          </p:txBody>
        </p:sp>
        <p:sp>
          <p:nvSpPr>
            <p:cNvPr id="8" name="Rectangle 7"/>
            <p:cNvSpPr/>
            <p:nvPr/>
          </p:nvSpPr>
          <p:spPr>
            <a:xfrm>
              <a:off x="274320" y="2039112"/>
              <a:ext cx="45720" cy="347472"/>
            </a:xfrm>
            <a:prstGeom prst="rect">
              <a:avLst/>
            </a:prstGeom>
            <a:solidFill>
              <a:srgbClr val="F6D9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02920" y="2057400"/>
              <a:ext cx="10972800" cy="276999"/>
            </a:xfrm>
            <a:prstGeom prst="rect">
              <a:avLst/>
            </a:prstGeom>
            <a:noFill/>
          </p:spPr>
          <p:txBody>
            <a:bodyPr wrap="square">
              <a:spAutoFit/>
            </a:bodyPr>
            <a:lstStyle/>
            <a:p>
              <a:pPr algn="l"/>
              <a:r>
                <a:rPr sz="1200" b="0" i="0">
                  <a:solidFill>
                    <a:srgbClr val="0A1A2E"/>
                  </a:solidFill>
                </a:rPr>
                <a:t>Shopify Inc. (2026). Financial Statements &amp; Supplemental Data — Q1 2026.</a:t>
              </a:r>
            </a:p>
          </p:txBody>
        </p:sp>
        <p:sp>
          <p:nvSpPr>
            <p:cNvPr id="10" name="Rectangle 9"/>
            <p:cNvSpPr/>
            <p:nvPr/>
          </p:nvSpPr>
          <p:spPr>
            <a:xfrm>
              <a:off x="274320" y="2569463"/>
              <a:ext cx="45720" cy="347472"/>
            </a:xfrm>
            <a:prstGeom prst="rect">
              <a:avLst/>
            </a:prstGeom>
            <a:solidFill>
              <a:srgbClr val="F6D9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02920" y="2587751"/>
              <a:ext cx="10972800" cy="276999"/>
            </a:xfrm>
            <a:prstGeom prst="rect">
              <a:avLst/>
            </a:prstGeom>
            <a:noFill/>
          </p:spPr>
          <p:txBody>
            <a:bodyPr wrap="square">
              <a:spAutoFit/>
            </a:bodyPr>
            <a:lstStyle/>
            <a:p>
              <a:pPr algn="l"/>
              <a:r>
                <a:rPr sz="1200" b="0" i="0">
                  <a:solidFill>
                    <a:srgbClr val="0A1A2E"/>
                  </a:solidFill>
                </a:rPr>
                <a:t>BetaKit. (2025). Shopify acquires Vantage Discovery to bolster AI-powered search. betakit.com</a:t>
              </a:r>
            </a:p>
          </p:txBody>
        </p:sp>
        <p:sp>
          <p:nvSpPr>
            <p:cNvPr id="13" name="TextBox 12"/>
            <p:cNvSpPr txBox="1"/>
            <p:nvPr/>
          </p:nvSpPr>
          <p:spPr>
            <a:xfrm>
              <a:off x="502920" y="3118103"/>
              <a:ext cx="10972800" cy="276999"/>
            </a:xfrm>
            <a:prstGeom prst="rect">
              <a:avLst/>
            </a:prstGeom>
            <a:noFill/>
          </p:spPr>
          <p:txBody>
            <a:bodyPr wrap="square">
              <a:spAutoFit/>
            </a:bodyPr>
            <a:lstStyle/>
            <a:p>
              <a:pPr algn="l"/>
              <a:r>
                <a:rPr sz="1200" b="0" i="0">
                  <a:solidFill>
                    <a:srgbClr val="0A1A2E"/>
                  </a:solidFill>
                </a:rPr>
                <a:t>COSO. (2017). Enterprise Risk Management — Integrating with Strategy and Performance.</a:t>
              </a:r>
            </a:p>
          </p:txBody>
        </p:sp>
        <p:sp>
          <p:nvSpPr>
            <p:cNvPr id="14" name="Rectangle 13"/>
            <p:cNvSpPr/>
            <p:nvPr/>
          </p:nvSpPr>
          <p:spPr>
            <a:xfrm>
              <a:off x="274320" y="3630168"/>
              <a:ext cx="45720" cy="347472"/>
            </a:xfrm>
            <a:prstGeom prst="rect">
              <a:avLst/>
            </a:prstGeom>
            <a:solidFill>
              <a:srgbClr val="F6D9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02920" y="3648456"/>
              <a:ext cx="10972800" cy="276999"/>
            </a:xfrm>
            <a:prstGeom prst="rect">
              <a:avLst/>
            </a:prstGeom>
            <a:noFill/>
          </p:spPr>
          <p:txBody>
            <a:bodyPr wrap="square">
              <a:spAutoFit/>
            </a:bodyPr>
            <a:lstStyle/>
            <a:p>
              <a:pPr algn="l"/>
              <a:r>
                <a:rPr sz="1200" b="0" i="0">
                  <a:solidFill>
                    <a:srgbClr val="0A1A2E"/>
                  </a:solidFill>
                </a:rPr>
                <a:t>Palmer, D. (2025). EU AI Act implementation timeline and enforcement priorities.</a:t>
              </a:r>
            </a:p>
          </p:txBody>
        </p:sp>
        <p:sp>
          <p:nvSpPr>
            <p:cNvPr id="16" name="Rectangle 15"/>
            <p:cNvSpPr/>
            <p:nvPr/>
          </p:nvSpPr>
          <p:spPr>
            <a:xfrm>
              <a:off x="274320" y="4160520"/>
              <a:ext cx="45720" cy="347472"/>
            </a:xfrm>
            <a:prstGeom prst="rect">
              <a:avLst/>
            </a:prstGeom>
            <a:solidFill>
              <a:srgbClr val="F6D9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02920" y="4178807"/>
              <a:ext cx="10972800" cy="276999"/>
            </a:xfrm>
            <a:prstGeom prst="rect">
              <a:avLst/>
            </a:prstGeom>
            <a:noFill/>
          </p:spPr>
          <p:txBody>
            <a:bodyPr wrap="square">
              <a:spAutoFit/>
            </a:bodyPr>
            <a:lstStyle/>
            <a:p>
              <a:pPr algn="l"/>
              <a:r>
                <a:rPr sz="1200" b="0" i="0">
                  <a:solidFill>
                    <a:srgbClr val="0A1A2E"/>
                  </a:solidFill>
                </a:rPr>
                <a:t>Recurly. (2024). Subscription churn benchmarks — SaaS and e-commerce platforms.</a:t>
              </a:r>
            </a:p>
          </p:txBody>
        </p:sp>
        <p:sp>
          <p:nvSpPr>
            <p:cNvPr id="18" name="Rectangle 17"/>
            <p:cNvSpPr/>
            <p:nvPr/>
          </p:nvSpPr>
          <p:spPr>
            <a:xfrm>
              <a:off x="274320" y="4690871"/>
              <a:ext cx="45720" cy="347472"/>
            </a:xfrm>
            <a:prstGeom prst="rect">
              <a:avLst/>
            </a:prstGeom>
            <a:solidFill>
              <a:srgbClr val="F6D9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02920" y="4709159"/>
              <a:ext cx="10972800" cy="276999"/>
            </a:xfrm>
            <a:prstGeom prst="rect">
              <a:avLst/>
            </a:prstGeom>
            <a:noFill/>
          </p:spPr>
          <p:txBody>
            <a:bodyPr wrap="square">
              <a:spAutoFit/>
            </a:bodyPr>
            <a:lstStyle/>
            <a:p>
              <a:pPr algn="l"/>
              <a:r>
                <a:rPr sz="1200" b="0" i="0" dirty="0">
                  <a:solidFill>
                    <a:srgbClr val="0A1A2E"/>
                  </a:solidFill>
                </a:rPr>
                <a:t>Turi, A. N. (2026). ALY 6130 Risk Management Analytics — Course Lectures &amp; Modules.</a:t>
              </a:r>
            </a:p>
          </p:txBody>
        </p:sp>
        <p:sp>
          <p:nvSpPr>
            <p:cNvPr id="20" name="Rectangle 19"/>
            <p:cNvSpPr/>
            <p:nvPr/>
          </p:nvSpPr>
          <p:spPr>
            <a:xfrm>
              <a:off x="274320" y="5221223"/>
              <a:ext cx="45720" cy="347472"/>
            </a:xfrm>
            <a:prstGeom prst="rect">
              <a:avLst/>
            </a:prstGeom>
            <a:solidFill>
              <a:srgbClr val="F6D9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02920" y="5239511"/>
              <a:ext cx="10972800" cy="276999"/>
            </a:xfrm>
            <a:prstGeom prst="rect">
              <a:avLst/>
            </a:prstGeom>
            <a:noFill/>
          </p:spPr>
          <p:txBody>
            <a:bodyPr wrap="square">
              <a:spAutoFit/>
            </a:bodyPr>
            <a:lstStyle/>
            <a:p>
              <a:pPr algn="l"/>
              <a:r>
                <a:rPr sz="1200" b="0" i="0" dirty="0">
                  <a:solidFill>
                    <a:srgbClr val="0A1A2E"/>
                  </a:solidFill>
                </a:rPr>
                <a:t>Jefferies. (2026). Shopify Equity Research — Vantage Discovery Acquisition Analysis.</a:t>
              </a:r>
              <a:endParaRPr lang="es-CL" sz="1200" b="0" i="0" dirty="0">
                <a:solidFill>
                  <a:srgbClr val="0A1A2E"/>
                </a:solidFill>
              </a:endParaRPr>
            </a:p>
          </p:txBody>
        </p:sp>
        <p:sp>
          <p:nvSpPr>
            <p:cNvPr id="24" name="Rectangle 23">
              <a:extLst>
                <a:ext uri="{FF2B5EF4-FFF2-40B4-BE49-F238E27FC236}">
                  <a16:creationId xmlns:a16="http://schemas.microsoft.com/office/drawing/2014/main" id="{FCD2EFA0-56BB-0D44-0FC5-FA03A119B789}"/>
                </a:ext>
              </a:extLst>
            </p:cNvPr>
            <p:cNvSpPr/>
            <p:nvPr/>
          </p:nvSpPr>
          <p:spPr>
            <a:xfrm>
              <a:off x="274320" y="5687568"/>
              <a:ext cx="45720" cy="347472"/>
            </a:xfrm>
            <a:prstGeom prst="rect">
              <a:avLst/>
            </a:prstGeom>
            <a:solidFill>
              <a:srgbClr val="F6D9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sp>
        <p:nvSpPr>
          <p:cNvPr id="27" name="TextBox 26">
            <a:extLst>
              <a:ext uri="{FF2B5EF4-FFF2-40B4-BE49-F238E27FC236}">
                <a16:creationId xmlns:a16="http://schemas.microsoft.com/office/drawing/2014/main" id="{DF25E898-1FFB-EF73-7BD2-E97A1FA7E4D9}"/>
              </a:ext>
            </a:extLst>
          </p:cNvPr>
          <p:cNvSpPr txBox="1"/>
          <p:nvPr/>
        </p:nvSpPr>
        <p:spPr>
          <a:xfrm>
            <a:off x="502920" y="5710982"/>
            <a:ext cx="10972800" cy="276999"/>
          </a:xfrm>
          <a:prstGeom prst="rect">
            <a:avLst/>
          </a:prstGeom>
          <a:noFill/>
        </p:spPr>
        <p:txBody>
          <a:bodyPr wrap="square">
            <a:spAutoFit/>
          </a:bodyPr>
          <a:lstStyle/>
          <a:p>
            <a:r>
              <a:rPr lang="es-CL" sz="1200" dirty="0"/>
              <a:t>Diaz, L., Lucas, T., &amp; </a:t>
            </a:r>
            <a:r>
              <a:rPr lang="es-CL" sz="1200" dirty="0" err="1"/>
              <a:t>Onyemanjo</a:t>
            </a:r>
            <a:r>
              <a:rPr lang="es-CL" sz="1200" dirty="0"/>
              <a:t>, E. (2026). </a:t>
            </a:r>
            <a:r>
              <a:rPr lang="es-CL" sz="1200" i="1" dirty="0"/>
              <a:t>ALY-6130 Risk Management</a:t>
            </a:r>
            <a:r>
              <a:rPr lang="es-CL" sz="1200" dirty="0"/>
              <a:t> [GitHub </a:t>
            </a:r>
            <a:r>
              <a:rPr lang="es-CL" sz="1200" dirty="0" err="1"/>
              <a:t>repository</a:t>
            </a:r>
            <a:r>
              <a:rPr lang="es-CL" sz="1200" dirty="0"/>
              <a:t>]. GitHub. </a:t>
            </a:r>
            <a:r>
              <a:rPr lang="es-CL" sz="1200" dirty="0">
                <a:hlinkClick r:id="rId3"/>
              </a:rPr>
              <a:t>https://github.com/Lissdi/ALY-6130-Risk-Management</a:t>
            </a:r>
            <a:endParaRPr lang="es-CL" sz="1200" b="0" i="0" dirty="0">
              <a:solidFill>
                <a:srgbClr val="0A1A2E"/>
              </a:solidFil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Ion</Template>
  <TotalTime>682</TotalTime>
  <Words>3736</Words>
  <Application>Microsoft Office PowerPoint</Application>
  <PresentationFormat>Custom</PresentationFormat>
  <Paragraphs>304</Paragraphs>
  <Slides>13</Slides>
  <Notes>13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Aptos</vt:lpstr>
      <vt:lpstr>Arial</vt:lpstr>
      <vt:lpstr>Calibri</vt:lpstr>
      <vt:lpstr>Calirbri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Lissette Diaz</dc:creator>
  <cp:keywords/>
  <dc:description>generated using python-pptx</dc:description>
  <cp:lastModifiedBy>Lissette Diaz</cp:lastModifiedBy>
  <cp:revision>10</cp:revision>
  <dcterms:created xsi:type="dcterms:W3CDTF">2013-01-27T09:14:16Z</dcterms:created>
  <dcterms:modified xsi:type="dcterms:W3CDTF">2026-06-26T19:32:24Z</dcterms:modified>
  <cp:category/>
</cp:coreProperties>
</file>