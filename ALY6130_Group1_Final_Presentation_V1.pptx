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A84636-ED77-41D1-A492-00F7F5D7EF2D}" v="3" dt="2026-06-25T10:10:37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sette Diaz" userId="3a6a6417acab1291" providerId="LiveId" clId="{FB6E4C15-FBEE-4DCC-B100-6036B25C0B75}"/>
    <pc:docChg chg="undo custSel modSld">
      <pc:chgData name="Lissette Diaz" userId="3a6a6417acab1291" providerId="LiveId" clId="{FB6E4C15-FBEE-4DCC-B100-6036B25C0B75}" dt="2026-06-25T10:11:51.575" v="72" actId="478"/>
      <pc:docMkLst>
        <pc:docMk/>
      </pc:docMkLst>
      <pc:sldChg chg="addSp delSp modSp mod">
        <pc:chgData name="Lissette Diaz" userId="3a6a6417acab1291" providerId="LiveId" clId="{FB6E4C15-FBEE-4DCC-B100-6036B25C0B75}" dt="2026-06-25T10:08:12.668" v="10" actId="20577"/>
        <pc:sldMkLst>
          <pc:docMk/>
          <pc:sldMk cId="0" sldId="261"/>
        </pc:sldMkLst>
        <pc:spChg chg="del">
          <ac:chgData name="Lissette Diaz" userId="3a6a6417acab1291" providerId="LiveId" clId="{FB6E4C15-FBEE-4DCC-B100-6036B25C0B75}" dt="2026-06-25T10:07:49.632" v="1" actId="478"/>
          <ac:spMkLst>
            <pc:docMk/>
            <pc:sldMk cId="0" sldId="261"/>
            <ac:spMk id="58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8:05.543" v="5" actId="20577"/>
          <ac:spMkLst>
            <pc:docMk/>
            <pc:sldMk cId="0" sldId="261"/>
            <ac:spMk id="61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8:09.031" v="7" actId="20577"/>
          <ac:spMkLst>
            <pc:docMk/>
            <pc:sldMk cId="0" sldId="261"/>
            <ac:spMk id="64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8:12.668" v="10" actId="20577"/>
          <ac:spMkLst>
            <pc:docMk/>
            <pc:sldMk cId="0" sldId="261"/>
            <ac:spMk id="67" creationId="{00000000-0000-0000-0000-000000000000}"/>
          </ac:spMkLst>
        </pc:spChg>
        <pc:grpChg chg="add del">
          <ac:chgData name="Lissette Diaz" userId="3a6a6417acab1291" providerId="LiveId" clId="{FB6E4C15-FBEE-4DCC-B100-6036B25C0B75}" dt="2026-06-25T10:07:54.214" v="3" actId="478"/>
          <ac:grpSpMkLst>
            <pc:docMk/>
            <pc:sldMk cId="0" sldId="261"/>
            <ac:grpSpMk id="73" creationId="{D78EF509-925E-5297-1696-C2C28F46B035}"/>
          </ac:grpSpMkLst>
        </pc:grpChg>
        <pc:grpChg chg="del">
          <ac:chgData name="Lissette Diaz" userId="3a6a6417acab1291" providerId="LiveId" clId="{FB6E4C15-FBEE-4DCC-B100-6036B25C0B75}" dt="2026-06-25T10:07:48.503" v="0" actId="478"/>
          <ac:grpSpMkLst>
            <pc:docMk/>
            <pc:sldMk cId="0" sldId="261"/>
            <ac:grpSpMk id="109" creationId="{3841449E-0CC4-F14D-4AB3-BCA8226960E5}"/>
          </ac:grpSpMkLst>
        </pc:grpChg>
      </pc:sldChg>
      <pc:sldChg chg="delSp modSp mod">
        <pc:chgData name="Lissette Diaz" userId="3a6a6417acab1291" providerId="LiveId" clId="{FB6E4C15-FBEE-4DCC-B100-6036B25C0B75}" dt="2026-06-25T10:08:41.860" v="18" actId="478"/>
        <pc:sldMkLst>
          <pc:docMk/>
          <pc:sldMk cId="0" sldId="262"/>
        </pc:sldMkLst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1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15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1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21.840" v="11" actId="478"/>
          <ac:spMkLst>
            <pc:docMk/>
            <pc:sldMk cId="0" sldId="262"/>
            <ac:spMk id="2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23.475" v="12" actId="478"/>
          <ac:spMkLst>
            <pc:docMk/>
            <pc:sldMk cId="0" sldId="262"/>
            <ac:spMk id="2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24.921" v="13" actId="478"/>
          <ac:spMkLst>
            <pc:docMk/>
            <pc:sldMk cId="0" sldId="262"/>
            <ac:spMk id="2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2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41.860" v="18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29.481" v="17" actId="478"/>
          <ac:spMkLst>
            <pc:docMk/>
            <pc:sldMk cId="0" sldId="262"/>
            <ac:spMk id="39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08:26.623" v="15" actId="478"/>
          <ac:spMkLst>
            <pc:docMk/>
            <pc:sldMk cId="0" sldId="262"/>
            <ac:spMk id="4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27.993" v="16" actId="478"/>
          <ac:spMkLst>
            <pc:docMk/>
            <pc:sldMk cId="0" sldId="262"/>
            <ac:spMk id="41" creationId="{00000000-0000-0000-0000-000000000000}"/>
          </ac:spMkLst>
        </pc:spChg>
      </pc:sldChg>
      <pc:sldChg chg="delSp modSp mod">
        <pc:chgData name="Lissette Diaz" userId="3a6a6417acab1291" providerId="LiveId" clId="{FB6E4C15-FBEE-4DCC-B100-6036B25C0B75}" dt="2026-06-25T10:09:42.142" v="43"/>
        <pc:sldMkLst>
          <pc:docMk/>
          <pc:sldMk cId="0" sldId="263"/>
        </pc:sldMkLst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7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8:53.199" v="19" actId="478"/>
          <ac:spMkLst>
            <pc:docMk/>
            <pc:sldMk cId="0" sldId="263"/>
            <ac:spMk id="18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9:11.023" v="21" actId="6549"/>
          <ac:spMkLst>
            <pc:docMk/>
            <pc:sldMk cId="0" sldId="263"/>
            <ac:spMk id="36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9:31.967" v="37" actId="20577"/>
          <ac:spMkLst>
            <pc:docMk/>
            <pc:sldMk cId="0" sldId="263"/>
            <ac:spMk id="38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9:28.258" v="32" actId="20577"/>
          <ac:spMkLst>
            <pc:docMk/>
            <pc:sldMk cId="0" sldId="263"/>
            <ac:spMk id="4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14.438" v="22" actId="478"/>
          <ac:spMkLst>
            <pc:docMk/>
            <pc:sldMk cId="0" sldId="263"/>
            <ac:spMk id="46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09:19.604" v="25" actId="478"/>
          <ac:spMkLst>
            <pc:docMk/>
            <pc:sldMk cId="0" sldId="263"/>
            <ac:spMk id="48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09:23.214" v="28" actId="478"/>
          <ac:spMkLst>
            <pc:docMk/>
            <pc:sldMk cId="0" sldId="263"/>
            <ac:spMk id="50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09:38.778" v="41" actId="6549"/>
          <ac:spMkLst>
            <pc:docMk/>
            <pc:sldMk cId="0" sldId="263"/>
            <ac:spMk id="52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09:42.142" v="43"/>
          <ac:spMkLst>
            <pc:docMk/>
            <pc:sldMk cId="0" sldId="263"/>
            <ac:spMk id="56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09:33.908" v="39" actId="478"/>
          <ac:spMkLst>
            <pc:docMk/>
            <pc:sldMk cId="0" sldId="263"/>
            <ac:spMk id="5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21.941" v="27" actId="478"/>
          <ac:spMkLst>
            <pc:docMk/>
            <pc:sldMk cId="0" sldId="263"/>
            <ac:spMk id="6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5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7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01.019" v="20" actId="478"/>
          <ac:spMkLst>
            <pc:docMk/>
            <pc:sldMk cId="0" sldId="263"/>
            <ac:spMk id="69" creationId="{00000000-0000-0000-0000-000000000000}"/>
          </ac:spMkLst>
        </pc:spChg>
      </pc:sldChg>
      <pc:sldChg chg="addSp delSp modSp mod">
        <pc:chgData name="Lissette Diaz" userId="3a6a6417acab1291" providerId="LiveId" clId="{FB6E4C15-FBEE-4DCC-B100-6036B25C0B75}" dt="2026-06-25T10:10:28.208" v="61" actId="478"/>
        <pc:sldMkLst>
          <pc:docMk/>
          <pc:sldMk cId="0" sldId="264"/>
        </pc:sldMkLst>
        <pc:spChg chg="add del">
          <ac:chgData name="Lissette Diaz" userId="3a6a6417acab1291" providerId="LiveId" clId="{FB6E4C15-FBEE-4DCC-B100-6036B25C0B75}" dt="2026-06-25T10:10:22.722" v="58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25.139" v="59" actId="478"/>
          <ac:spMkLst>
            <pc:docMk/>
            <pc:sldMk cId="0" sldId="264"/>
            <ac:spMk id="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18.645" v="56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17.181" v="55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16.336" v="54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26.857" v="60" actId="478"/>
          <ac:spMkLst>
            <pc:docMk/>
            <pc:sldMk cId="0" sldId="264"/>
            <ac:spMk id="13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10:13.802" v="52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09.322" v="46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11.444" v="49" actId="478"/>
          <ac:spMkLst>
            <pc:docMk/>
            <pc:sldMk cId="0" sldId="264"/>
            <ac:spMk id="20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10:10.722" v="48" actId="478"/>
          <ac:spMkLst>
            <pc:docMk/>
            <pc:sldMk cId="0" sldId="264"/>
            <ac:spMk id="21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10:14.911" v="53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09.322" v="46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28.208" v="61" actId="478"/>
          <ac:spMkLst>
            <pc:docMk/>
            <pc:sldMk cId="0" sldId="264"/>
            <ac:spMk id="24" creationId="{00000000-0000-0000-0000-000000000000}"/>
          </ac:spMkLst>
        </pc:spChg>
        <pc:spChg chg="add mod">
          <ac:chgData name="Lissette Diaz" userId="3a6a6417acab1291" providerId="LiveId" clId="{FB6E4C15-FBEE-4DCC-B100-6036B25C0B75}" dt="2026-06-25T10:09:55.107" v="44" actId="571"/>
          <ac:spMkLst>
            <pc:docMk/>
            <pc:sldMk cId="0" sldId="264"/>
            <ac:spMk id="25" creationId="{B000B59D-38A2-935F-BEA5-FF54D0FC3237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26" creationId="{5212EB34-3432-5235-CB61-5ACB98D60853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27" creationId="{D32DDE55-C7A0-6DC0-8EB4-5A8C98504846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28" creationId="{3917DD37-09BF-7E0C-4B5D-B846338636A2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29" creationId="{38A41C43-DC9D-C152-D0AE-0A8413E86F0A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30" creationId="{A4FFCD51-B9D9-A4C7-8A34-A14DAFB96BD6}"/>
          </ac:spMkLst>
        </pc:spChg>
        <pc:spChg chg="add mod">
          <ac:chgData name="Lissette Diaz" userId="3a6a6417acab1291" providerId="LiveId" clId="{FB6E4C15-FBEE-4DCC-B100-6036B25C0B75}" dt="2026-06-25T10:09:55.107" v="44" actId="571"/>
          <ac:spMkLst>
            <pc:docMk/>
            <pc:sldMk cId="0" sldId="264"/>
            <ac:spMk id="31" creationId="{26F5B1D6-D54D-1F11-F8F4-74909698971A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32" creationId="{6BA4F1CB-9690-27C4-7685-B1F48C2C7118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33" creationId="{733BB5B1-856A-A787-B08D-96EE79FED474}"/>
          </ac:spMkLst>
        </pc:spChg>
        <pc:spChg chg="add del mod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34" creationId="{45264088-7332-C597-5B20-9BABA14BD848}"/>
          </ac:spMkLst>
        </pc:spChg>
        <pc:spChg chg="del">
          <ac:chgData name="Lissette Diaz" userId="3a6a6417acab1291" providerId="LiveId" clId="{FB6E4C15-FBEE-4DCC-B100-6036B25C0B75}" dt="2026-06-25T10:09:56.530" v="45" actId="478"/>
          <ac:spMkLst>
            <pc:docMk/>
            <pc:sldMk cId="0" sldId="264"/>
            <ac:spMk id="35" creationId="{7B46A6A0-A6BF-691D-9316-1303C2650CCE}"/>
          </ac:spMkLst>
        </pc:spChg>
      </pc:sldChg>
      <pc:sldChg chg="addSp delSp modSp mod">
        <pc:chgData name="Lissette Diaz" userId="3a6a6417acab1291" providerId="LiveId" clId="{FB6E4C15-FBEE-4DCC-B100-6036B25C0B75}" dt="2026-06-25T10:10:43.976" v="66" actId="478"/>
        <pc:sldMkLst>
          <pc:docMk/>
          <pc:sldMk cId="0" sldId="265"/>
        </pc:sldMkLst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2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2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0:41.337" v="64" actId="478"/>
          <ac:spMkLst>
            <pc:docMk/>
            <pc:sldMk cId="0" sldId="265"/>
            <ac:spMk id="23" creationId="{00000000-0000-0000-0000-000000000000}"/>
          </ac:spMkLst>
        </pc:spChg>
        <pc:spChg chg="del mod">
          <ac:chgData name="Lissette Diaz" userId="3a6a6417acab1291" providerId="LiveId" clId="{FB6E4C15-FBEE-4DCC-B100-6036B25C0B75}" dt="2026-06-25T10:10:43.976" v="66" actId="478"/>
          <ac:spMkLst>
            <pc:docMk/>
            <pc:sldMk cId="0" sldId="265"/>
            <ac:spMk id="24" creationId="{00000000-0000-0000-0000-000000000000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25" creationId="{A72A4BB0-DB22-10DC-618D-1BCF17A65F0C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26" creationId="{13BAFC38-6C04-D717-9BB2-3242735A681A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27" creationId="{1FDA6050-68FD-6EE3-B684-DF1EE0D5CEDD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28" creationId="{CEB43FDC-DCD2-ED29-B265-692428376129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29" creationId="{DCD7827E-B37D-4F9D-E269-9BD307B173C4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30" creationId="{2C908C1F-9205-F8DE-0C5E-37179370D404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31" creationId="{A00B1F62-EC62-6796-96E1-32298610BD1F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32" creationId="{99D57083-6A18-F748-81F8-1F594444B22B}"/>
          </ac:spMkLst>
        </pc:spChg>
        <pc:spChg chg="add mod">
          <ac:chgData name="Lissette Diaz" userId="3a6a6417acab1291" providerId="LiveId" clId="{FB6E4C15-FBEE-4DCC-B100-6036B25C0B75}" dt="2026-06-25T10:10:37.679" v="63" actId="571"/>
          <ac:spMkLst>
            <pc:docMk/>
            <pc:sldMk cId="0" sldId="265"/>
            <ac:spMk id="33" creationId="{7E19CE18-01E3-CB89-CCD2-E444E51EBD4B}"/>
          </ac:spMkLst>
        </pc:spChg>
      </pc:sldChg>
      <pc:sldChg chg="delSp mod">
        <pc:chgData name="Lissette Diaz" userId="3a6a6417acab1291" providerId="LiveId" clId="{FB6E4C15-FBEE-4DCC-B100-6036B25C0B75}" dt="2026-06-25T10:11:02.966" v="68" actId="478"/>
        <pc:sldMkLst>
          <pc:docMk/>
          <pc:sldMk cId="0" sldId="266"/>
        </pc:sldMkLst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1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2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2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2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0.582" v="67" actId="478"/>
          <ac:spMkLst>
            <pc:docMk/>
            <pc:sldMk cId="0" sldId="266"/>
            <ac:spMk id="2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02.966" v="68" actId="478"/>
          <ac:spMkLst>
            <pc:docMk/>
            <pc:sldMk cId="0" sldId="266"/>
            <ac:spMk id="24" creationId="{00000000-0000-0000-0000-000000000000}"/>
          </ac:spMkLst>
        </pc:spChg>
      </pc:sldChg>
      <pc:sldChg chg="delSp modSp mod">
        <pc:chgData name="Lissette Diaz" userId="3a6a6417acab1291" providerId="LiveId" clId="{FB6E4C15-FBEE-4DCC-B100-6036B25C0B75}" dt="2026-06-25T10:11:39.762" v="71" actId="478"/>
        <pc:sldMkLst>
          <pc:docMk/>
          <pc:sldMk cId="0" sldId="267"/>
        </pc:sldMkLst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4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4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4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5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5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6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6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6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72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39.762" v="71" actId="478"/>
          <ac:spMkLst>
            <pc:docMk/>
            <pc:sldMk cId="0" sldId="267"/>
            <ac:spMk id="74" creationId="{00000000-0000-0000-0000-000000000000}"/>
          </ac:spMkLst>
        </pc:spChg>
        <pc:spChg chg="mod">
          <ac:chgData name="Lissette Diaz" userId="3a6a6417acab1291" providerId="LiveId" clId="{FB6E4C15-FBEE-4DCC-B100-6036B25C0B75}" dt="2026-06-25T10:11:22.186" v="70" actId="6549"/>
          <ac:spMkLst>
            <pc:docMk/>
            <pc:sldMk cId="0" sldId="267"/>
            <ac:spMk id="76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15.072" v="69" actId="478"/>
          <ac:spMkLst>
            <pc:docMk/>
            <pc:sldMk cId="0" sldId="267"/>
            <ac:spMk id="7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15.072" v="69" actId="478"/>
          <ac:spMkLst>
            <pc:docMk/>
            <pc:sldMk cId="0" sldId="267"/>
            <ac:spMk id="8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15.072" v="69" actId="478"/>
          <ac:spMkLst>
            <pc:docMk/>
            <pc:sldMk cId="0" sldId="267"/>
            <ac:spMk id="82" creationId="{00000000-0000-0000-0000-000000000000}"/>
          </ac:spMkLst>
        </pc:spChg>
      </pc:sldChg>
      <pc:sldChg chg="delSp mod">
        <pc:chgData name="Lissette Diaz" userId="3a6a6417acab1291" providerId="LiveId" clId="{FB6E4C15-FBEE-4DCC-B100-6036B25C0B75}" dt="2026-06-25T10:11:51.575" v="72" actId="478"/>
        <pc:sldMkLst>
          <pc:docMk/>
          <pc:sldMk cId="0" sldId="268"/>
        </pc:sldMkLst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9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10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13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14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17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18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21" creationId="{00000000-0000-0000-0000-000000000000}"/>
          </ac:spMkLst>
        </pc:spChg>
        <pc:spChg chg="del">
          <ac:chgData name="Lissette Diaz" userId="3a6a6417acab1291" providerId="LiveId" clId="{FB6E4C15-FBEE-4DCC-B100-6036B25C0B75}" dt="2026-06-25T10:11:51.575" v="72" actId="478"/>
          <ac:spMkLst>
            <pc:docMk/>
            <pc:sldMk cId="0" sldId="268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9B4B5-4098-49B4-AF9B-06A79BDE6A77}" type="datetimeFigureOut">
              <a:rPr lang="es-CL" smtClean="0"/>
              <a:t>25-06-2026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073EB-3053-48EF-8468-C6EBFD6E86D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297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073EB-3053-48EF-8468-C6EBFD6E86D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3350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 	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200"/>
                </a:solidFill>
              </a:rPr>
              <a:t>ALY 6130 · Risk Management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</a:rPr>
              <a:t>Enterprise 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E8F5EE"/>
                </a:solidFill>
              </a:rPr>
              <a:t>Shopify's Acquisition of Vantage Discovery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7772400" cy="3657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10515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64748B"/>
                </a:solidFill>
              </a:rPr>
              <a:t>ERM Framework: SWOT · Risk Register · Heat Map · Monte Carlo · Mitigation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291840"/>
            <a:ext cx="5568604" cy="2240742"/>
          </a:xfrm>
          <a:prstGeom prst="rect">
            <a:avLst/>
          </a:prstGeom>
          <a:solidFill>
            <a:srgbClr val="1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FC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 1</a:t>
            </a:r>
            <a:r>
              <a:rPr lang="es-CL" sz="1200" b="1" i="0" dirty="0">
                <a:solidFill>
                  <a:srgbClr val="FFC2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sz="1200" b="1" i="0" dirty="0">
              <a:solidFill>
                <a:srgbClr val="FFC2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+mj-lt"/>
              </a:rPr>
              <a:t>Lissette Diaz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886200"/>
            <a:ext cx="2743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E8F5EE"/>
                </a:solidFill>
              </a:rPr>
              <a:t>Part 1 · Context · SWOT · Risk Register</a:t>
            </a:r>
            <a:r>
              <a:rPr lang="es-CL" sz="1200" b="0" i="1" dirty="0">
                <a:solidFill>
                  <a:srgbClr val="E8F5EE"/>
                </a:solidFill>
              </a:rPr>
              <a:t> </a:t>
            </a:r>
          </a:p>
          <a:p>
            <a:r>
              <a:rPr lang="es-CL" sz="1200" i="1" dirty="0">
                <a:solidFill>
                  <a:srgbClr val="E8F5EE"/>
                </a:solidFill>
              </a:rPr>
              <a:t>Part 4 · </a:t>
            </a:r>
            <a:r>
              <a:rPr lang="es-CL" sz="1200" i="1" dirty="0" err="1">
                <a:solidFill>
                  <a:srgbClr val="E8F5EE"/>
                </a:solidFill>
              </a:rPr>
              <a:t>Conclusions</a:t>
            </a:r>
            <a:endParaRPr sz="1200" b="0" i="1" dirty="0">
              <a:solidFill>
                <a:srgbClr val="E8F5EE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+mj-lt"/>
                <a:cs typeface="Times New Roman" panose="02020603050405020304" pitchFamily="18" charset="0"/>
              </a:rPr>
              <a:t>Terry Lucas Boye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389120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E8F5EE"/>
                </a:solidFill>
              </a:rPr>
              <a:t>Part 2 · Heat Map · Monte Carlo · KRIs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21945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+mj-lt"/>
              </a:rPr>
              <a:t>Ekene </a:t>
            </a:r>
            <a:r>
              <a:rPr sz="1300" b="1" i="0" dirty="0" err="1">
                <a:solidFill>
                  <a:srgbClr val="FFFFFF"/>
                </a:solidFill>
                <a:latin typeface="+mj-lt"/>
              </a:rPr>
              <a:t>Onyemanjo</a:t>
            </a:r>
            <a:endParaRPr sz="1300" b="1" i="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46119" y="4892040"/>
            <a:ext cx="29791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 dirty="0">
                <a:solidFill>
                  <a:srgbClr val="E8F5EE"/>
                </a:solidFill>
              </a:rPr>
              <a:t>Part 3 · Mitigation ·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126480"/>
            <a:ext cx="1101805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100" i="1" dirty="0">
                <a:solidFill>
                  <a:srgbClr val="64748B"/>
                </a:solidFill>
              </a:rPr>
              <a:t>Instructor: Abeba Nigussie Turi </a:t>
            </a:r>
            <a:r>
              <a:rPr lang="es-CL" sz="1100" i="1" dirty="0">
                <a:solidFill>
                  <a:srgbClr val="64748B"/>
                </a:solidFill>
              </a:rPr>
              <a:t>·</a:t>
            </a:r>
            <a:endParaRPr lang="en-CA" sz="1100" i="1" dirty="0">
              <a:solidFill>
                <a:srgbClr val="64748B"/>
              </a:solidFill>
            </a:endParaRPr>
          </a:p>
          <a:p>
            <a:pPr algn="ctr"/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sz="1100" i="1" dirty="0">
                <a:solidFill>
                  <a:srgbClr val="64748B"/>
                </a:solidFill>
              </a:rPr>
              <a:t>Northeastern University · </a:t>
            </a:r>
            <a:r>
              <a:rPr lang="es-CL" sz="1100" i="1" dirty="0">
                <a:solidFill>
                  <a:srgbClr val="64748B"/>
                </a:solidFill>
              </a:rPr>
              <a:t>26th </a:t>
            </a:r>
            <a:r>
              <a:rPr sz="1100" i="1" dirty="0">
                <a:solidFill>
                  <a:srgbClr val="64748B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Shopify + Vantage Discovery: Why This Acquisition Matters</a:t>
            </a:r>
            <a:r>
              <a:rPr lang="es-CL" sz="3000" b="1" i="0" dirty="0">
                <a:solidFill>
                  <a:srgbClr val="FFFFFF"/>
                </a:solidFill>
              </a:rPr>
              <a:t>?</a:t>
            </a:r>
            <a:endParaRPr sz="3000" b="1" i="0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1 · Lissette Diaz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3949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8C5A"/>
                </a:solidFill>
              </a:rPr>
              <a:t>Shopify Inc.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4937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 dirty="0">
                <a:solidFill>
                  <a:srgbClr val="64748B"/>
                </a:solidFill>
              </a:rPr>
              <a:t>Ottawa, Ontario · Founded 2006 · </a:t>
            </a:r>
            <a:r>
              <a:rPr lang="es-CL" sz="1100" i="1" dirty="0">
                <a:solidFill>
                  <a:srgbClr val="64748B"/>
                </a:solidFill>
              </a:rPr>
              <a:t>TSX: SHOP · NYSE: SHOP</a:t>
            </a:r>
            <a:endParaRPr sz="1100" i="1" dirty="0">
              <a:solidFill>
                <a:srgbClr val="64748B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" y="2423160"/>
            <a:ext cx="13716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chemeClr val="bg1"/>
                </a:solidFill>
              </a:rPr>
              <a:t>175+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587752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L" sz="1200" b="0" i="0" dirty="0">
                <a:solidFill>
                  <a:srgbClr val="0A1A2E"/>
                </a:solidFill>
              </a:rPr>
              <a:t>C</a:t>
            </a:r>
            <a:r>
              <a:rPr sz="1200" b="0" i="0" dirty="0" err="1">
                <a:solidFill>
                  <a:srgbClr val="0A1A2E"/>
                </a:solidFill>
              </a:rPr>
              <a:t>ountries</a:t>
            </a:r>
            <a:r>
              <a:rPr sz="1200" b="0" i="0" dirty="0">
                <a:solidFill>
                  <a:srgbClr val="0A1A2E"/>
                </a:solidFill>
              </a:rPr>
              <a:t> of operation</a:t>
            </a:r>
            <a:r>
              <a:rPr lang="es-CL" sz="1200" b="0" i="0" dirty="0">
                <a:solidFill>
                  <a:srgbClr val="0A1A2E"/>
                </a:solidFill>
              </a:rPr>
              <a:t>.</a:t>
            </a:r>
            <a:endParaRPr sz="1200" b="0" i="0" dirty="0">
              <a:solidFill>
                <a:srgbClr val="0A1A2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11480" y="3291839"/>
            <a:ext cx="13716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chemeClr val="bg1"/>
                </a:solidFill>
              </a:rPr>
              <a:t>$3.17B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456432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</a:rPr>
              <a:t>Q1 2026 Revenue (+</a:t>
            </a:r>
            <a:r>
              <a:rPr lang="es-CL" sz="1200" dirty="0">
                <a:solidFill>
                  <a:srgbClr val="0A1A2E"/>
                </a:solidFill>
              </a:rPr>
              <a:t>3</a:t>
            </a:r>
            <a:r>
              <a:rPr lang="es-CL" sz="1200" b="0" i="0" dirty="0">
                <a:solidFill>
                  <a:srgbClr val="0A1A2E"/>
                </a:solidFill>
              </a:rPr>
              <a:t>4</a:t>
            </a:r>
            <a:r>
              <a:rPr sz="1200" b="0" i="0" dirty="0">
                <a:solidFill>
                  <a:srgbClr val="0A1A2E"/>
                </a:solidFill>
              </a:rPr>
              <a:t>% Y</a:t>
            </a:r>
            <a:r>
              <a:rPr lang="es-CL" sz="1200" b="0" i="0" dirty="0" err="1">
                <a:solidFill>
                  <a:srgbClr val="0A1A2E"/>
                </a:solidFill>
              </a:rPr>
              <a:t>ear</a:t>
            </a:r>
            <a:r>
              <a:rPr lang="es-CL" sz="1200" b="0" i="0" dirty="0">
                <a:solidFill>
                  <a:srgbClr val="0A1A2E"/>
                </a:solidFill>
              </a:rPr>
              <a:t> </a:t>
            </a:r>
            <a:r>
              <a:rPr sz="1200" b="0" i="0" dirty="0">
                <a:solidFill>
                  <a:srgbClr val="0A1A2E"/>
                </a:solidFill>
              </a:rPr>
              <a:t>o</a:t>
            </a:r>
            <a:r>
              <a:rPr lang="es-CL" sz="1200" b="0" i="0" dirty="0">
                <a:solidFill>
                  <a:srgbClr val="0A1A2E"/>
                </a:solidFill>
              </a:rPr>
              <a:t>ver </a:t>
            </a:r>
            <a:r>
              <a:rPr sz="1200" b="0" i="0" dirty="0">
                <a:solidFill>
                  <a:srgbClr val="0A1A2E"/>
                </a:solidFill>
              </a:rPr>
              <a:t>Y</a:t>
            </a:r>
            <a:r>
              <a:rPr lang="es-CL" sz="1200" b="0" i="0" dirty="0" err="1">
                <a:solidFill>
                  <a:srgbClr val="0A1A2E"/>
                </a:solidFill>
              </a:rPr>
              <a:t>ear</a:t>
            </a:r>
            <a:r>
              <a:rPr lang="es-CL" sz="1200" b="0" i="0" dirty="0">
                <a:solidFill>
                  <a:srgbClr val="0A1A2E"/>
                </a:solidFill>
              </a:rPr>
              <a:t> (YoY)</a:t>
            </a:r>
            <a:r>
              <a:rPr sz="1200" b="0" i="0" dirty="0">
                <a:solidFill>
                  <a:srgbClr val="0A1A2E"/>
                </a:solidFill>
              </a:rPr>
              <a:t>)</a:t>
            </a:r>
            <a:r>
              <a:rPr lang="es-CL" sz="1200" b="0" i="0" dirty="0">
                <a:solidFill>
                  <a:srgbClr val="0A1A2E"/>
                </a:solidFill>
              </a:rPr>
              <a:t>.</a:t>
            </a:r>
            <a:endParaRPr sz="1200" b="0" i="0" dirty="0">
              <a:solidFill>
                <a:srgbClr val="0A1A2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1480" y="4160520"/>
            <a:ext cx="13716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29814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chemeClr val="bg1"/>
                </a:solidFill>
              </a:rPr>
              <a:t>$476M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325112"/>
            <a:ext cx="3566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</a:rPr>
              <a:t>Free Cash Flow</a:t>
            </a:r>
            <a:r>
              <a:rPr lang="es-CL" sz="1200" b="0" i="0" dirty="0">
                <a:solidFill>
                  <a:srgbClr val="0A1A2E"/>
                </a:solidFill>
              </a:rPr>
              <a:t> (FCF)</a:t>
            </a:r>
            <a:r>
              <a:rPr sz="1200" b="0" i="0" dirty="0">
                <a:solidFill>
                  <a:srgbClr val="0A1A2E"/>
                </a:solidFill>
              </a:rPr>
              <a:t> — Q1 2026</a:t>
            </a:r>
            <a:r>
              <a:rPr lang="es-CL" sz="1200" b="0" i="0" dirty="0">
                <a:solidFill>
                  <a:srgbClr val="0A1A2E"/>
                </a:solidFill>
              </a:rPr>
              <a:t>.</a:t>
            </a:r>
            <a:endParaRPr sz="1200" b="0" i="0" dirty="0">
              <a:solidFill>
                <a:srgbClr val="0A1A2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11480" y="5029200"/>
            <a:ext cx="1371600" cy="6858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19379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b="1" dirty="0">
                <a:solidFill>
                  <a:schemeClr val="bg1"/>
                </a:solidFill>
              </a:rPr>
              <a:t>$750M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5193792"/>
            <a:ext cx="3566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200" dirty="0" err="1"/>
              <a:t>Subscription</a:t>
            </a:r>
            <a:r>
              <a:rPr lang="es-CL" sz="1200" dirty="0"/>
              <a:t> </a:t>
            </a:r>
            <a:r>
              <a:rPr lang="es-CL" sz="1200" dirty="0" err="1"/>
              <a:t>Solutions</a:t>
            </a:r>
            <a:r>
              <a:rPr lang="es-CL" sz="1200" dirty="0"/>
              <a:t> </a:t>
            </a:r>
            <a:r>
              <a:rPr lang="es-CL" sz="1200" dirty="0" err="1"/>
              <a:t>Revenue</a:t>
            </a:r>
            <a:r>
              <a:rPr lang="es-CL" sz="1200" dirty="0"/>
              <a:t> — Q1 2026 </a:t>
            </a:r>
          </a:p>
          <a:p>
            <a:r>
              <a:rPr lang="es-CL" sz="1200" b="0" i="0" dirty="0">
                <a:solidFill>
                  <a:srgbClr val="0A1A2E"/>
                </a:solidFill>
              </a:rPr>
              <a:t>(+21% YoY</a:t>
            </a:r>
            <a:r>
              <a:rPr lang="es-CL" sz="1200" dirty="0">
                <a:solidFill>
                  <a:srgbClr val="0A1A2E"/>
                </a:solidFill>
              </a:rPr>
              <a:t>)</a:t>
            </a:r>
            <a:endParaRPr sz="1200" b="0" i="0" dirty="0">
              <a:solidFill>
                <a:srgbClr val="0A1A2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35040" y="1463040"/>
            <a:ext cx="585216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600200"/>
            <a:ext cx="53949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8C5A"/>
                </a:solidFill>
              </a:rPr>
              <a:t>The Acquisition</a:t>
            </a:r>
            <a:r>
              <a:rPr lang="es-CL" sz="1600" b="1" i="0" dirty="0">
                <a:solidFill>
                  <a:srgbClr val="008C5A"/>
                </a:solidFill>
              </a:rPr>
              <a:t>: </a:t>
            </a:r>
            <a:r>
              <a:rPr lang="es-CL" sz="1600" b="1" i="0" dirty="0" err="1">
                <a:solidFill>
                  <a:srgbClr val="008C5A"/>
                </a:solidFill>
              </a:rPr>
              <a:t>Vantage</a:t>
            </a:r>
            <a:r>
              <a:rPr lang="es-CL" sz="1600" b="1" i="0" dirty="0">
                <a:solidFill>
                  <a:srgbClr val="008C5A"/>
                </a:solidFill>
              </a:rPr>
              <a:t> Discovery</a:t>
            </a:r>
            <a:endParaRPr sz="1600" b="1" i="0" dirty="0">
              <a:solidFill>
                <a:srgbClr val="008C5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965960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4748B"/>
                </a:solidFill>
              </a:rPr>
              <a:t>Vantage Discovery · </a:t>
            </a:r>
            <a:r>
              <a:rPr lang="es-CL" sz="1100" b="0" i="1" dirty="0">
                <a:solidFill>
                  <a:srgbClr val="64748B"/>
                </a:solidFill>
              </a:rPr>
              <a:t>San Francisco</a:t>
            </a:r>
            <a:r>
              <a:rPr sz="1100" b="0" i="1" dirty="0">
                <a:solidFill>
                  <a:srgbClr val="64748B"/>
                </a:solidFill>
              </a:rPr>
              <a:t>, </a:t>
            </a:r>
            <a:r>
              <a:rPr lang="es-CL" sz="1100" b="0" i="1" dirty="0">
                <a:solidFill>
                  <a:srgbClr val="64748B"/>
                </a:solidFill>
              </a:rPr>
              <a:t>CA</a:t>
            </a:r>
            <a:r>
              <a:rPr sz="1100" b="0" i="1" dirty="0">
                <a:solidFill>
                  <a:srgbClr val="64748B"/>
                </a:solidFill>
              </a:rPr>
              <a:t> · March 2025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423160"/>
            <a:ext cx="5577840" cy="6858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2450591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4A3A"/>
                </a:solidFill>
              </a:rPr>
              <a:t>$</a:t>
            </a:r>
            <a:r>
              <a:rPr lang="es-CL" sz="1400" b="1" i="0" dirty="0">
                <a:solidFill>
                  <a:srgbClr val="1A4A3A"/>
                </a:solidFill>
              </a:rPr>
              <a:t>65</a:t>
            </a:r>
            <a:r>
              <a:rPr sz="1400" b="1" i="0" dirty="0">
                <a:solidFill>
                  <a:srgbClr val="1A4A3A"/>
                </a:solidFill>
              </a:rPr>
              <a:t>M cash + restricted Class A shares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788920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4748B"/>
                </a:solidFill>
              </a:rPr>
              <a:t>Acquisition value</a:t>
            </a:r>
            <a:r>
              <a:rPr lang="es-CL" sz="1100" b="0" i="1" dirty="0">
                <a:solidFill>
                  <a:srgbClr val="64748B"/>
                </a:solidFill>
              </a:rPr>
              <a:t> – </a:t>
            </a:r>
            <a:r>
              <a:rPr lang="es-CL" sz="1100" b="0" i="1" dirty="0" err="1">
                <a:solidFill>
                  <a:srgbClr val="64748B"/>
                </a:solidFill>
              </a:rPr>
              <a:t>includes</a:t>
            </a:r>
            <a:r>
              <a:rPr lang="es-CL" sz="1100" b="0" i="1" dirty="0">
                <a:solidFill>
                  <a:srgbClr val="64748B"/>
                </a:solidFill>
              </a:rPr>
              <a:t> $6M </a:t>
            </a:r>
            <a:r>
              <a:rPr lang="es-CL" sz="1100" b="0" i="1" dirty="0" err="1">
                <a:solidFill>
                  <a:srgbClr val="64748B"/>
                </a:solidFill>
              </a:rPr>
              <a:t>retention</a:t>
            </a:r>
            <a:r>
              <a:rPr lang="es-CL" sz="1100" b="0" i="1" dirty="0">
                <a:solidFill>
                  <a:srgbClr val="64748B"/>
                </a:solidFill>
              </a:rPr>
              <a:t> </a:t>
            </a:r>
            <a:r>
              <a:rPr lang="es-CL" sz="1100" b="0" i="1" dirty="0" err="1">
                <a:solidFill>
                  <a:srgbClr val="64748B"/>
                </a:solidFill>
              </a:rPr>
              <a:t>compensation</a:t>
            </a:r>
            <a:r>
              <a:rPr lang="es-CL" sz="1100" b="0" i="1" dirty="0">
                <a:solidFill>
                  <a:srgbClr val="64748B"/>
                </a:solidFill>
              </a:rPr>
              <a:t>.</a:t>
            </a:r>
            <a:endParaRPr sz="1100" b="0" i="1" dirty="0">
              <a:solidFill>
                <a:srgbClr val="64748B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72200" y="3291839"/>
            <a:ext cx="5577840" cy="6858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319271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4A3A"/>
                </a:solidFill>
              </a:rPr>
              <a:t>L</a:t>
            </a:r>
            <a:r>
              <a:rPr lang="es-CL" sz="1400" b="1" i="0" dirty="0" err="1">
                <a:solidFill>
                  <a:srgbClr val="1A4A3A"/>
                </a:solidFill>
              </a:rPr>
              <a:t>arge</a:t>
            </a:r>
            <a:r>
              <a:rPr lang="es-CL" sz="1400" b="1" i="0" dirty="0">
                <a:solidFill>
                  <a:srgbClr val="1A4A3A"/>
                </a:solidFill>
              </a:rPr>
              <a:t> </a:t>
            </a:r>
            <a:r>
              <a:rPr sz="1400" b="1" i="0" dirty="0">
                <a:solidFill>
                  <a:srgbClr val="1A4A3A"/>
                </a:solidFill>
              </a:rPr>
              <a:t>L</a:t>
            </a:r>
            <a:r>
              <a:rPr lang="es-CL" sz="1400" b="1" i="0" dirty="0" err="1">
                <a:solidFill>
                  <a:srgbClr val="1A4A3A"/>
                </a:solidFill>
              </a:rPr>
              <a:t>anguage</a:t>
            </a:r>
            <a:r>
              <a:rPr lang="es-CL" sz="1400" b="1" i="0" dirty="0">
                <a:solidFill>
                  <a:srgbClr val="1A4A3A"/>
                </a:solidFill>
              </a:rPr>
              <a:t> </a:t>
            </a:r>
            <a:r>
              <a:rPr sz="1400" b="1" i="0" dirty="0">
                <a:solidFill>
                  <a:srgbClr val="1A4A3A"/>
                </a:solidFill>
              </a:rPr>
              <a:t>M</a:t>
            </a:r>
            <a:r>
              <a:rPr lang="es-CL" sz="1400" b="1" i="0" dirty="0" err="1">
                <a:solidFill>
                  <a:srgbClr val="1A4A3A"/>
                </a:solidFill>
              </a:rPr>
              <a:t>odel</a:t>
            </a:r>
            <a:r>
              <a:rPr lang="es-CL" sz="1400" b="1" i="0" dirty="0">
                <a:solidFill>
                  <a:srgbClr val="1A4A3A"/>
                </a:solidFill>
              </a:rPr>
              <a:t> (LLM)</a:t>
            </a:r>
            <a:r>
              <a:rPr sz="1400" b="1" i="0" dirty="0">
                <a:solidFill>
                  <a:srgbClr val="1A4A3A"/>
                </a:solidFill>
              </a:rPr>
              <a:t>-based AI product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657599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4748B"/>
                </a:solidFill>
              </a:rPr>
              <a:t>Core technology acquired</a:t>
            </a:r>
            <a:r>
              <a:rPr lang="es-CL" sz="1100" b="0" i="1" dirty="0">
                <a:solidFill>
                  <a:srgbClr val="64748B"/>
                </a:solidFill>
              </a:rPr>
              <a:t>.</a:t>
            </a:r>
            <a:endParaRPr sz="1100" b="0" i="1" dirty="0">
              <a:solidFill>
                <a:srgbClr val="64748B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72200" y="4160520"/>
            <a:ext cx="5577840" cy="6858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418795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4A3A"/>
                </a:solidFill>
              </a:rPr>
              <a:t>Amazon · Google · Microsoft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526280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64748B"/>
                </a:solidFill>
              </a:rPr>
              <a:t>Competitive landscape entered</a:t>
            </a:r>
            <a:r>
              <a:rPr lang="es-CL" sz="1100" b="0" i="1" dirty="0">
                <a:solidFill>
                  <a:srgbClr val="64748B"/>
                </a:solidFill>
              </a:rPr>
              <a:t>.</a:t>
            </a:r>
            <a:endParaRPr sz="1100" b="0" i="1" dirty="0">
              <a:solidFill>
                <a:srgbClr val="64748B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72200" y="5029200"/>
            <a:ext cx="5577840" cy="6858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5056632"/>
            <a:ext cx="53949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4A3A"/>
                </a:solidFill>
              </a:rPr>
              <a:t>6–18 months</a:t>
            </a:r>
            <a:r>
              <a:rPr lang="es-CL" sz="1400" b="1" i="0" dirty="0">
                <a:solidFill>
                  <a:srgbClr val="1A4A3A"/>
                </a:solidFill>
              </a:rPr>
              <a:t>*</a:t>
            </a:r>
            <a:endParaRPr sz="1400" b="1" i="0" dirty="0">
              <a:solidFill>
                <a:srgbClr val="1A4A3A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63640" y="5394960"/>
            <a:ext cx="5394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100" i="1" dirty="0">
                <a:solidFill>
                  <a:srgbClr val="64748B"/>
                </a:solidFill>
              </a:rPr>
              <a:t>Competitive </a:t>
            </a:r>
            <a:r>
              <a:rPr lang="es-CL" sz="1100" i="1" dirty="0" err="1">
                <a:solidFill>
                  <a:srgbClr val="64748B"/>
                </a:solidFill>
              </a:rPr>
              <a:t>advantage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window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before</a:t>
            </a:r>
            <a:r>
              <a:rPr lang="es-CL" sz="1100" i="1" dirty="0">
                <a:solidFill>
                  <a:srgbClr val="64748B"/>
                </a:solidFill>
              </a:rPr>
              <a:t> Amazon &amp; Google </a:t>
            </a:r>
            <a:r>
              <a:rPr lang="es-CL" sz="1100" i="1" dirty="0" err="1">
                <a:solidFill>
                  <a:srgbClr val="64748B"/>
                </a:solidFill>
              </a:rPr>
              <a:t>reach</a:t>
            </a:r>
            <a:r>
              <a:rPr lang="es-CL" sz="1100" i="1" dirty="0">
                <a:solidFill>
                  <a:srgbClr val="64748B"/>
                </a:solidFill>
              </a:rPr>
              <a:t> AI </a:t>
            </a:r>
            <a:r>
              <a:rPr lang="es-CL" sz="1100" i="1" dirty="0" err="1">
                <a:solidFill>
                  <a:srgbClr val="64748B"/>
                </a:solidFill>
              </a:rPr>
              <a:t>search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parity</a:t>
            </a:r>
            <a:r>
              <a:rPr lang="es-CL" sz="1100" i="1" dirty="0">
                <a:solidFill>
                  <a:srgbClr val="64748B"/>
                </a:solidFill>
              </a:rPr>
              <a:t>.</a:t>
            </a:r>
            <a:endParaRPr sz="1100" i="1" dirty="0">
              <a:solidFill>
                <a:srgbClr val="64748B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43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43C6F9-4D54-A485-4045-87DFB28174E1}"/>
              </a:ext>
            </a:extLst>
          </p:cNvPr>
          <p:cNvSpPr txBox="1"/>
          <p:nvPr/>
        </p:nvSpPr>
        <p:spPr>
          <a:xfrm>
            <a:off x="457200" y="36739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50" b="1" i="0" dirty="0">
                <a:solidFill>
                  <a:schemeClr val="bg1"/>
                </a:solidFill>
              </a:rPr>
              <a:t>USD</a:t>
            </a:r>
            <a:endParaRPr sz="1050" b="1" i="0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C3F6C6-2BDC-63DA-4A9E-188C8B35972B}"/>
              </a:ext>
            </a:extLst>
          </p:cNvPr>
          <p:cNvSpPr txBox="1"/>
          <p:nvPr/>
        </p:nvSpPr>
        <p:spPr>
          <a:xfrm>
            <a:off x="457199" y="4538990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50" b="1" i="0" dirty="0">
                <a:solidFill>
                  <a:schemeClr val="bg1"/>
                </a:solidFill>
              </a:rPr>
              <a:t>USD</a:t>
            </a:r>
            <a:endParaRPr sz="1050" b="1" i="0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A0173C-BEDC-5BCE-CFCB-30A57C19BA15}"/>
              </a:ext>
            </a:extLst>
          </p:cNvPr>
          <p:cNvSpPr txBox="1"/>
          <p:nvPr/>
        </p:nvSpPr>
        <p:spPr>
          <a:xfrm>
            <a:off x="438785" y="5391967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50" b="1" i="0" dirty="0">
                <a:solidFill>
                  <a:schemeClr val="bg1"/>
                </a:solidFill>
              </a:rPr>
              <a:t>USD</a:t>
            </a:r>
            <a:endParaRPr sz="1050" b="1" i="0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2DC687-0E65-E969-687B-48D0BA427329}"/>
              </a:ext>
            </a:extLst>
          </p:cNvPr>
          <p:cNvSpPr txBox="1"/>
          <p:nvPr/>
        </p:nvSpPr>
        <p:spPr>
          <a:xfrm>
            <a:off x="6172200" y="6003636"/>
            <a:ext cx="5577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100" i="1" dirty="0">
                <a:solidFill>
                  <a:srgbClr val="64748B"/>
                </a:solidFill>
              </a:rPr>
              <a:t>* Based </a:t>
            </a:r>
            <a:r>
              <a:rPr lang="es-CL" sz="1100" i="1" dirty="0" err="1">
                <a:solidFill>
                  <a:srgbClr val="64748B"/>
                </a:solidFill>
              </a:rPr>
              <a:t>on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industry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sources</a:t>
            </a:r>
            <a:r>
              <a:rPr lang="es-CL" sz="1100" i="1" dirty="0">
                <a:solidFill>
                  <a:srgbClr val="64748B"/>
                </a:solidFill>
              </a:rPr>
              <a:t> (</a:t>
            </a:r>
            <a:r>
              <a:rPr lang="es-CL" sz="1100" i="1" dirty="0" err="1">
                <a:solidFill>
                  <a:srgbClr val="64748B"/>
                </a:solidFill>
              </a:rPr>
              <a:t>BetaKit</a:t>
            </a:r>
            <a:r>
              <a:rPr lang="es-CL" sz="1100" i="1" dirty="0">
                <a:solidFill>
                  <a:srgbClr val="64748B"/>
                </a:solidFill>
              </a:rPr>
              <a:t>, 2025). The </a:t>
            </a:r>
            <a:r>
              <a:rPr lang="es-CL" sz="1100" i="1" dirty="0" err="1">
                <a:solidFill>
                  <a:srgbClr val="64748B"/>
                </a:solidFill>
              </a:rPr>
              <a:t>estimate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reflects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the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observed</a:t>
            </a:r>
            <a:r>
              <a:rPr lang="es-CL" sz="1100" i="1" dirty="0">
                <a:solidFill>
                  <a:srgbClr val="64748B"/>
                </a:solidFill>
              </a:rPr>
              <a:t> pace </a:t>
            </a:r>
            <a:r>
              <a:rPr lang="es-CL" sz="1100" i="1" dirty="0" err="1">
                <a:solidFill>
                  <a:srgbClr val="64748B"/>
                </a:solidFill>
              </a:rPr>
              <a:t>of</a:t>
            </a:r>
            <a:r>
              <a:rPr lang="es-CL" sz="1100" i="1" dirty="0">
                <a:solidFill>
                  <a:srgbClr val="64748B"/>
                </a:solidFill>
              </a:rPr>
              <a:t> AI </a:t>
            </a:r>
            <a:r>
              <a:rPr lang="es-CL" sz="1100" i="1" dirty="0" err="1">
                <a:solidFill>
                  <a:srgbClr val="64748B"/>
                </a:solidFill>
              </a:rPr>
              <a:t>adoption</a:t>
            </a:r>
            <a:r>
              <a:rPr lang="es-CL" sz="1100" i="1" dirty="0">
                <a:solidFill>
                  <a:srgbClr val="64748B"/>
                </a:solidFill>
              </a:rPr>
              <a:t> in e-</a:t>
            </a:r>
            <a:r>
              <a:rPr lang="es-CL" sz="1100" i="1" dirty="0" err="1">
                <a:solidFill>
                  <a:srgbClr val="64748B"/>
                </a:solidFill>
              </a:rPr>
              <a:t>commerce</a:t>
            </a:r>
            <a:r>
              <a:rPr lang="es-CL" sz="1100" i="1" dirty="0">
                <a:solidFill>
                  <a:srgbClr val="64748B"/>
                </a:solidFill>
              </a:rPr>
              <a:t>; </a:t>
            </a:r>
            <a:r>
              <a:rPr lang="es-CL" sz="1100" i="1" dirty="0" err="1">
                <a:solidFill>
                  <a:srgbClr val="64748B"/>
                </a:solidFill>
              </a:rPr>
              <a:t>the</a:t>
            </a:r>
            <a:r>
              <a:rPr lang="es-CL" sz="1100" i="1" dirty="0">
                <a:solidFill>
                  <a:srgbClr val="64748B"/>
                </a:solidFill>
              </a:rPr>
              <a:t> actual </a:t>
            </a:r>
            <a:r>
              <a:rPr lang="es-CL" sz="1100" i="1" dirty="0" err="1">
                <a:solidFill>
                  <a:srgbClr val="64748B"/>
                </a:solidFill>
              </a:rPr>
              <a:t>window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may</a:t>
            </a:r>
            <a:r>
              <a:rPr lang="es-CL" sz="1100" i="1" dirty="0">
                <a:solidFill>
                  <a:srgbClr val="64748B"/>
                </a:solidFill>
              </a:rPr>
              <a:t> </a:t>
            </a:r>
            <a:r>
              <a:rPr lang="es-CL" sz="1100" i="1" dirty="0" err="1">
                <a:solidFill>
                  <a:srgbClr val="64748B"/>
                </a:solidFill>
              </a:rPr>
              <a:t>vary</a:t>
            </a:r>
            <a:r>
              <a:rPr lang="es-CL" sz="1100" i="1" dirty="0">
                <a:solidFill>
                  <a:srgbClr val="64748B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 err="1">
                <a:solidFill>
                  <a:srgbClr val="FFFFFF"/>
                </a:solidFill>
              </a:rPr>
              <a:t>Strategic</a:t>
            </a:r>
            <a:r>
              <a:rPr lang="es-CL" sz="3000" b="1" dirty="0">
                <a:solidFill>
                  <a:srgbClr val="FFFFFF"/>
                </a:solidFill>
              </a:rPr>
              <a:t> Risk </a:t>
            </a:r>
            <a:r>
              <a:rPr lang="es-CL" sz="3000" b="1" dirty="0" err="1">
                <a:solidFill>
                  <a:srgbClr val="FFFFFF"/>
                </a:solidFill>
              </a:rPr>
              <a:t>Assessment</a:t>
            </a:r>
            <a:r>
              <a:rPr lang="es-CL" sz="3000" b="1" dirty="0">
                <a:solidFill>
                  <a:srgbClr val="FFFFFF"/>
                </a:solidFill>
              </a:rPr>
              <a:t>: </a:t>
            </a:r>
            <a:r>
              <a:rPr lang="es-CL" sz="3000" b="1" dirty="0" err="1">
                <a:solidFill>
                  <a:srgbClr val="FFFFFF"/>
                </a:solidFill>
              </a:rPr>
              <a:t>Internal</a:t>
            </a:r>
            <a:r>
              <a:rPr lang="es-CL" sz="3000" b="1" dirty="0">
                <a:solidFill>
                  <a:srgbClr val="FFFFFF"/>
                </a:solidFill>
              </a:rPr>
              <a:t> &amp; </a:t>
            </a:r>
            <a:r>
              <a:rPr lang="es-CL" sz="3000" b="1" dirty="0" err="1">
                <a:solidFill>
                  <a:srgbClr val="FFFFFF"/>
                </a:solidFill>
              </a:rPr>
              <a:t>External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Factors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1 · Lissette Diaz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577840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 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2996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Global merchant ecosystem across 175+ countries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8912" y="246888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Strong cash position: $476M FCF in Q1 2026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8912" y="290779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Pro-merchant brand vs. Amazon's seller-centric model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" y="3346704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Existing payment &amp; logistics infrastructure for AI integration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463040"/>
            <a:ext cx="55778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15270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  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02996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LLM integration timeline slower than initially projected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8231" y="246888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Vantage Discovery team small — talent retention risk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8231" y="290779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Limited prior experience competing in AI search space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8231" y="3346704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Dependence on third-party cloud infra for AI workloads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4069080"/>
            <a:ext cx="5577840" cy="457200"/>
          </a:xfrm>
          <a:prstGeom prst="rect">
            <a:avLst/>
          </a:prstGeom>
          <a:solidFill>
            <a:srgbClr val="1A4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4048" y="41330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 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63600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Capture merchants dissatisfied with Amazon's fees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8912" y="507492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Shopify Plus AI search as premium differentiator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" y="551383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Non-English markets where Amazon AI search is weaker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8912" y="5952744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6–18 month window before competitive parity closes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63640" y="4069080"/>
            <a:ext cx="557784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4069080"/>
            <a:ext cx="5577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73368" y="41330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  THREATS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1" y="4636008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Amazon &amp; Google: years of AI search investment lead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28231" y="5074920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GDPR + EU AI Act + PIPEDA multi-jurisdictional exposure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8231" y="5513832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Merchant churn if integration is perceived as inferior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28231" y="5952744"/>
            <a:ext cx="5212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1A2E"/>
                </a:solidFill>
                <a:latin typeface="+mj-lt"/>
              </a:rPr>
              <a:t>· Rapid AI commoditization </a:t>
            </a:r>
            <a:r>
              <a:rPr lang="es-CL" sz="1200" b="0" i="0" dirty="0" err="1">
                <a:solidFill>
                  <a:srgbClr val="0A1A2E"/>
                </a:solidFill>
                <a:latin typeface="+mj-lt"/>
              </a:rPr>
              <a:t>is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 </a:t>
            </a:r>
            <a:r>
              <a:rPr lang="es-CL" sz="1200" b="0" i="0" dirty="0" err="1">
                <a:solidFill>
                  <a:srgbClr val="0A1A2E"/>
                </a:solidFill>
                <a:latin typeface="+mj-lt"/>
              </a:rPr>
              <a:t>compressing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 </a:t>
            </a:r>
            <a:r>
              <a:rPr lang="es-CL" sz="1200" b="0" i="0" dirty="0" err="1">
                <a:solidFill>
                  <a:srgbClr val="0A1A2E"/>
                </a:solidFill>
                <a:latin typeface="+mj-lt"/>
              </a:rPr>
              <a:t>the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 </a:t>
            </a:r>
            <a:r>
              <a:rPr sz="1200" b="0" i="0" dirty="0">
                <a:solidFill>
                  <a:srgbClr val="0A1A2E"/>
                </a:solidFill>
                <a:latin typeface="+mj-lt"/>
              </a:rPr>
              <a:t>differentiation window</a:t>
            </a:r>
            <a:r>
              <a:rPr lang="es-CL" sz="1200" b="0" i="0" dirty="0">
                <a:solidFill>
                  <a:srgbClr val="0A1A2E"/>
                </a:solidFill>
                <a:latin typeface="+mj-lt"/>
              </a:rPr>
              <a:t>.</a:t>
            </a:r>
            <a:endParaRPr sz="1200" b="0" i="0" dirty="0">
              <a:solidFill>
                <a:srgbClr val="0A1A2E"/>
              </a:solidFill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 err="1">
                <a:solidFill>
                  <a:srgbClr val="FFFFFF"/>
                </a:solidFill>
              </a:rPr>
              <a:t>Critical</a:t>
            </a:r>
            <a:r>
              <a:rPr lang="es-CL" sz="3000" b="1" dirty="0">
                <a:solidFill>
                  <a:srgbClr val="FFFFFF"/>
                </a:solidFill>
              </a:rPr>
              <a:t> Risk </a:t>
            </a:r>
            <a:r>
              <a:rPr lang="es-CL" sz="3000" b="1" dirty="0" err="1">
                <a:solidFill>
                  <a:srgbClr val="FFFFFF"/>
                </a:solidFill>
              </a:rPr>
              <a:t>Exposure</a:t>
            </a:r>
            <a:r>
              <a:rPr lang="es-CL" sz="3000" b="1" dirty="0">
                <a:solidFill>
                  <a:srgbClr val="FFFFFF"/>
                </a:solidFill>
              </a:rPr>
              <a:t> — Top 3 </a:t>
            </a:r>
            <a:r>
              <a:rPr lang="es-CL" sz="3000" b="1" dirty="0" err="1">
                <a:solidFill>
                  <a:srgbClr val="FFFFFF"/>
                </a:solidFill>
              </a:rPr>
              <a:t>Risks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Requiring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Immediate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Attention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1 · Lissette Diaz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91440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53619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Risk #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2728" y="1508760"/>
            <a:ext cx="109728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1536192"/>
            <a:ext cx="10241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 dirty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4016" y="1508760"/>
            <a:ext cx="256032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59736" y="1536192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Risk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8344" y="1508760"/>
            <a:ext cx="201168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84064" y="1536192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Caused by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4032" y="1508760"/>
            <a:ext cx="201168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59752" y="1536192"/>
            <a:ext cx="1938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Resulting 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20" y="1508760"/>
            <a:ext cx="50292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536192"/>
            <a:ext cx="429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6648" y="1508760"/>
            <a:ext cx="50292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02368" y="1536192"/>
            <a:ext cx="4297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23576" y="1508760"/>
            <a:ext cx="59436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69296" y="1536192"/>
            <a:ext cx="5212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Score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81944" y="1508760"/>
            <a:ext cx="685800" cy="34747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27664" y="1536192"/>
            <a:ext cx="6126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965960"/>
            <a:ext cx="9144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252728" y="1965960"/>
            <a:ext cx="109728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414016" y="1965960"/>
            <a:ext cx="25603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038344" y="1965960"/>
            <a:ext cx="201168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114032" y="1965960"/>
            <a:ext cx="201168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189720" y="1965960"/>
            <a:ext cx="5029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756648" y="1965960"/>
            <a:ext cx="5029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323576" y="1965960"/>
            <a:ext cx="5943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981944" y="1965960"/>
            <a:ext cx="6858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74320" y="3337560"/>
            <a:ext cx="914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252728" y="3337560"/>
            <a:ext cx="10972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414016" y="3337560"/>
            <a:ext cx="25603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038344" y="333756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114032" y="3337560"/>
            <a:ext cx="20116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189720" y="3337560"/>
            <a:ext cx="502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756648" y="3337560"/>
            <a:ext cx="5029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323576" y="3337560"/>
            <a:ext cx="5943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981944" y="3337560"/>
            <a:ext cx="6858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74320" y="4709160"/>
            <a:ext cx="9144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252728" y="4709160"/>
            <a:ext cx="109728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414016" y="4709160"/>
            <a:ext cx="25603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038344" y="4709160"/>
            <a:ext cx="201168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114032" y="4709160"/>
            <a:ext cx="201168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0" name="Rectangle 69"/>
          <p:cNvSpPr/>
          <p:nvPr/>
        </p:nvSpPr>
        <p:spPr>
          <a:xfrm>
            <a:off x="9189720" y="4709160"/>
            <a:ext cx="5029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9756648" y="4709160"/>
            <a:ext cx="50292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0323576" y="4709160"/>
            <a:ext cx="5943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0981944" y="4709160"/>
            <a:ext cx="6858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92B4F0C-8CC9-1021-5FEF-1CBE6B4200C5}"/>
              </a:ext>
            </a:extLst>
          </p:cNvPr>
          <p:cNvGrpSpPr/>
          <p:nvPr/>
        </p:nvGrpSpPr>
        <p:grpSpPr>
          <a:xfrm>
            <a:off x="320040" y="2288772"/>
            <a:ext cx="11301984" cy="3343365"/>
            <a:chOff x="320040" y="2011679"/>
            <a:chExt cx="11301984" cy="3343365"/>
          </a:xfrm>
        </p:grpSpPr>
        <p:sp>
          <p:nvSpPr>
            <p:cNvPr id="25" name="TextBox 24"/>
            <p:cNvSpPr txBox="1"/>
            <p:nvPr/>
          </p:nvSpPr>
          <p:spPr>
            <a:xfrm>
              <a:off x="320040" y="2011679"/>
              <a:ext cx="822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0A1A2E"/>
                  </a:solidFill>
                  <a:latin typeface="+mj-lt"/>
                </a:rPr>
                <a:t>RISK 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298448" y="2011679"/>
              <a:ext cx="10058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Negative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459736" y="2011679"/>
              <a:ext cx="24688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Merchant Churn — AI Search Competition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084064" y="2011679"/>
              <a:ext cx="192024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Slow/incomplete Vantage integration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59752" y="2011679"/>
              <a:ext cx="192024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Migration of merchants to Amazon/Google-integrated competitors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9235440" y="2011679"/>
              <a:ext cx="411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0A1A2E"/>
                  </a:solidFill>
                  <a:latin typeface="+mj-lt"/>
                </a:rPr>
                <a:t>3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802368" y="2011679"/>
              <a:ext cx="411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4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0369296" y="2011679"/>
              <a:ext cx="502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0A1A2E"/>
                  </a:solidFill>
                  <a:latin typeface="+mj-lt"/>
                </a:rPr>
                <a:t>12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027664" y="2011679"/>
              <a:ext cx="5943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DC2626"/>
                  </a:solidFill>
                  <a:latin typeface="+mj-lt"/>
                </a:rPr>
                <a:t>HIGH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20040" y="3383279"/>
              <a:ext cx="822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0A1A2E"/>
                  </a:solidFill>
                  <a:latin typeface="+mj-lt"/>
                </a:rPr>
                <a:t>RISK 2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298448" y="3383279"/>
              <a:ext cx="10058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Negative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459736" y="3383279"/>
              <a:ext cx="24688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Regulatory Non-Compliance — GDPR / EU AI Act / PIPEDA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084064" y="3383279"/>
              <a:ext cx="192024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LLM processing user data without adequate consent governance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159752" y="3383279"/>
              <a:ext cx="1920240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Regulatory fines, legal action, operational disruption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9235440" y="3383279"/>
              <a:ext cx="411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3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9802368" y="3383279"/>
              <a:ext cx="411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5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0369296" y="3383279"/>
              <a:ext cx="502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 dirty="0">
                  <a:solidFill>
                    <a:srgbClr val="0A1A2E"/>
                  </a:solidFill>
                  <a:latin typeface="+mj-lt"/>
                </a:rPr>
                <a:t>15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1027664" y="3383279"/>
              <a:ext cx="5943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 dirty="0">
                  <a:solidFill>
                    <a:srgbClr val="DC2626"/>
                  </a:solidFill>
                  <a:latin typeface="+mj-lt"/>
                </a:rPr>
                <a:t>HIGH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20040" y="4754880"/>
              <a:ext cx="8229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i="0">
                  <a:solidFill>
                    <a:srgbClr val="0A1A2E"/>
                  </a:solidFill>
                  <a:latin typeface="+mj-lt"/>
                </a:rPr>
                <a:t>RISK 3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298448" y="4754880"/>
              <a:ext cx="100583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Positive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459736" y="4754880"/>
              <a:ext cx="246887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AI-First Merchant Acquisition Window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084064" y="4754880"/>
              <a:ext cx="192024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Competitive parity not yet reached by Amazon/Google in this segment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159752" y="4754880"/>
              <a:ext cx="1920240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100" b="0" i="0" dirty="0">
                  <a:solidFill>
                    <a:srgbClr val="0A1A2E"/>
                  </a:solidFill>
                  <a:latin typeface="+mj-lt"/>
                </a:rPr>
                <a:t>Opportunity to grow ARR by capturing dissatisfied merchants</a:t>
              </a:r>
              <a:r>
                <a:rPr lang="es-CL" sz="1100" b="0" i="0" dirty="0">
                  <a:solidFill>
                    <a:srgbClr val="0A1A2E"/>
                  </a:solidFill>
                  <a:latin typeface="+mj-lt"/>
                </a:rPr>
                <a:t>.</a:t>
              </a:r>
              <a:endParaRPr sz="1100" b="0" i="0" dirty="0">
                <a:solidFill>
                  <a:srgbClr val="0A1A2E"/>
                </a:solidFill>
                <a:latin typeface="+mj-lt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9235440" y="4754880"/>
              <a:ext cx="411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5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9802368" y="4754880"/>
              <a:ext cx="41148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0" i="0">
                  <a:solidFill>
                    <a:srgbClr val="0A1A2E"/>
                  </a:solidFill>
                  <a:latin typeface="+mj-lt"/>
                </a:rP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369296" y="4754880"/>
              <a:ext cx="50292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dirty="0">
                  <a:solidFill>
                    <a:srgbClr val="0A1A2E"/>
                  </a:solidFill>
                  <a:latin typeface="+mj-lt"/>
                </a:rPr>
                <a:t>20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1027664" y="4754880"/>
              <a:ext cx="5943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400" b="1" dirty="0">
                  <a:solidFill>
                    <a:srgbClr val="DC2626"/>
                  </a:solidFill>
                  <a:latin typeface="+mj-lt"/>
                </a:rPr>
                <a:t>HIGH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27432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L = Likelihood (1–9) · I = Impact (1–5) · Score = L × 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 err="1">
                <a:solidFill>
                  <a:srgbClr val="FFFFFF"/>
                </a:solidFill>
              </a:rPr>
              <a:t>Where</a:t>
            </a:r>
            <a:r>
              <a:rPr lang="es-CL" sz="3000" b="1" dirty="0">
                <a:solidFill>
                  <a:srgbClr val="FFFFFF"/>
                </a:solidFill>
              </a:rPr>
              <a:t> Shopify </a:t>
            </a:r>
            <a:r>
              <a:rPr lang="es-CL" sz="3000" b="1" dirty="0" err="1">
                <a:solidFill>
                  <a:srgbClr val="FFFFFF"/>
                </a:solidFill>
              </a:rPr>
              <a:t>is</a:t>
            </a:r>
            <a:r>
              <a:rPr lang="es-CL" sz="3000" b="1" dirty="0">
                <a:solidFill>
                  <a:srgbClr val="FFFFFF"/>
                </a:solidFill>
              </a:rPr>
              <a:t> Most Exposed: Risk </a:t>
            </a:r>
            <a:r>
              <a:rPr lang="es-CL" sz="3000" b="1" dirty="0" err="1">
                <a:solidFill>
                  <a:srgbClr val="FFFFFF"/>
                </a:solidFill>
              </a:rPr>
              <a:t>Concentration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Analysis</a:t>
            </a:r>
            <a:r>
              <a:rPr lang="es-CL" sz="3000" b="1" dirty="0">
                <a:solidFill>
                  <a:srgbClr val="FFFFFF"/>
                </a:solidFill>
              </a:rPr>
              <a:t>?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2 · Terry Lucas Boye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16459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5A"/>
                </a:solidFill>
              </a:rPr>
              <a:t>Key Findings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78EF509-925E-5297-1696-C2C28F46B035}"/>
              </a:ext>
            </a:extLst>
          </p:cNvPr>
          <p:cNvGrpSpPr/>
          <p:nvPr/>
        </p:nvGrpSpPr>
        <p:grpSpPr>
          <a:xfrm>
            <a:off x="7589520" y="2103120"/>
            <a:ext cx="4114800" cy="298186"/>
            <a:chOff x="7589520" y="2103120"/>
            <a:chExt cx="4114800" cy="298186"/>
          </a:xfrm>
        </p:grpSpPr>
        <p:sp>
          <p:nvSpPr>
            <p:cNvPr id="60" name="Rectangle 59"/>
            <p:cNvSpPr/>
            <p:nvPr/>
          </p:nvSpPr>
          <p:spPr>
            <a:xfrm>
              <a:off x="7589520" y="2103120"/>
              <a:ext cx="4114800" cy="292608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7680960" y="2139696"/>
              <a:ext cx="39319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FFFFFF"/>
                  </a:solidFill>
                </a:rPr>
                <a:t>🔴 HIGH / CRITICAL (</a:t>
              </a:r>
              <a:r>
                <a:rPr lang="es-CL" sz="1100" b="1" i="0" dirty="0">
                  <a:solidFill>
                    <a:srgbClr val="FFFFFF"/>
                  </a:solidFill>
                </a:rPr>
                <a:t>X</a:t>
              </a:r>
              <a:r>
                <a:rPr sz="1100" b="1" i="0" dirty="0">
                  <a:solidFill>
                    <a:srgbClr val="FFFFFF"/>
                  </a:solidFill>
                </a:rPr>
                <a:t> risks)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894DB70-9F20-24B4-55E0-FAC4155B783B}"/>
              </a:ext>
            </a:extLst>
          </p:cNvPr>
          <p:cNvGrpSpPr/>
          <p:nvPr/>
        </p:nvGrpSpPr>
        <p:grpSpPr>
          <a:xfrm>
            <a:off x="7589520" y="3345416"/>
            <a:ext cx="4114800" cy="298186"/>
            <a:chOff x="7589520" y="3474720"/>
            <a:chExt cx="4114800" cy="298186"/>
          </a:xfrm>
        </p:grpSpPr>
        <p:sp>
          <p:nvSpPr>
            <p:cNvPr id="63" name="Rectangle 62"/>
            <p:cNvSpPr/>
            <p:nvPr/>
          </p:nvSpPr>
          <p:spPr>
            <a:xfrm>
              <a:off x="7589520" y="3474720"/>
              <a:ext cx="4114800" cy="292608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680960" y="3511296"/>
              <a:ext cx="39319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FFFFFF"/>
                  </a:solidFill>
                </a:rPr>
                <a:t>🟠 MEDIUM-HIGH (</a:t>
              </a:r>
              <a:r>
                <a:rPr lang="es-CL" sz="1100" b="1" i="0" dirty="0">
                  <a:solidFill>
                    <a:srgbClr val="FFFFFF"/>
                  </a:solidFill>
                </a:rPr>
                <a:t>X</a:t>
              </a:r>
              <a:r>
                <a:rPr sz="1100" b="1" i="0" dirty="0">
                  <a:solidFill>
                    <a:srgbClr val="FFFFFF"/>
                  </a:solidFill>
                </a:rPr>
                <a:t> risks)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3E160C-1992-1E09-95D2-EEC508BAE937}"/>
              </a:ext>
            </a:extLst>
          </p:cNvPr>
          <p:cNvGrpSpPr/>
          <p:nvPr/>
        </p:nvGrpSpPr>
        <p:grpSpPr>
          <a:xfrm>
            <a:off x="7589520" y="4633892"/>
            <a:ext cx="4114800" cy="298186"/>
            <a:chOff x="7589520" y="4846320"/>
            <a:chExt cx="4114800" cy="298186"/>
          </a:xfrm>
        </p:grpSpPr>
        <p:sp>
          <p:nvSpPr>
            <p:cNvPr id="66" name="Rectangle 65"/>
            <p:cNvSpPr/>
            <p:nvPr/>
          </p:nvSpPr>
          <p:spPr>
            <a:xfrm>
              <a:off x="7589520" y="4846320"/>
              <a:ext cx="4114800" cy="292608"/>
            </a:xfrm>
            <a:prstGeom prst="rect">
              <a:avLst/>
            </a:prstGeom>
            <a:solidFill>
              <a:srgbClr val="008C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7680960" y="4882896"/>
              <a:ext cx="3931920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100" b="1" i="0" dirty="0">
                  <a:solidFill>
                    <a:srgbClr val="FFFFFF"/>
                  </a:solidFill>
                </a:rPr>
                <a:t>🟢 LOW / MONITORING (</a:t>
              </a:r>
              <a:r>
                <a:rPr lang="es-CL" sz="1100" b="1" i="0" dirty="0">
                  <a:solidFill>
                    <a:srgbClr val="FFFFFF"/>
                  </a:solidFill>
                </a:rPr>
                <a:t>X</a:t>
              </a:r>
              <a:r>
                <a:rPr sz="1100" b="1" i="0" dirty="0">
                  <a:solidFill>
                    <a:srgbClr val="FFFFFF"/>
                  </a:solidFill>
                </a:rPr>
                <a:t> risks)</a:t>
              </a:r>
            </a:p>
          </p:txBody>
        </p:sp>
      </p:grpSp>
      <p:sp>
        <p:nvSpPr>
          <p:cNvPr id="70" name="TextBox 6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527FA7-4D36-9FEE-6591-9C85FC44F71C}"/>
              </a:ext>
            </a:extLst>
          </p:cNvPr>
          <p:cNvSpPr txBox="1"/>
          <p:nvPr/>
        </p:nvSpPr>
        <p:spPr>
          <a:xfrm>
            <a:off x="7635240" y="3856827"/>
            <a:ext cx="1998287" cy="541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4FAB0AD-D16E-1A13-72E1-68FF68284F44}"/>
              </a:ext>
            </a:extLst>
          </p:cNvPr>
          <p:cNvSpPr txBox="1"/>
          <p:nvPr/>
        </p:nvSpPr>
        <p:spPr>
          <a:xfrm>
            <a:off x="7694353" y="5081118"/>
            <a:ext cx="1998287" cy="541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 err="1">
                <a:solidFill>
                  <a:srgbClr val="FFFFFF"/>
                </a:solidFill>
              </a:rPr>
              <a:t>Quantified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Financial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Exposure</a:t>
            </a:r>
            <a:r>
              <a:rPr lang="es-CL" sz="3000" b="1" dirty="0">
                <a:solidFill>
                  <a:srgbClr val="FFFFFF"/>
                </a:solidFill>
              </a:rPr>
              <a:t>: Merchant Churn &amp; </a:t>
            </a:r>
            <a:r>
              <a:rPr lang="es-CL" sz="3000" b="1" dirty="0" err="1">
                <a:solidFill>
                  <a:srgbClr val="FFFFFF"/>
                </a:solidFill>
              </a:rPr>
              <a:t>Regulatory</a:t>
            </a:r>
            <a:r>
              <a:rPr lang="es-CL" sz="3000" b="1" dirty="0">
                <a:solidFill>
                  <a:srgbClr val="FFFFFF"/>
                </a:solidFill>
              </a:rPr>
              <a:t> Risk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2 · Terry Lucas Boye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RISK 1 — Merchant Churn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645920" cy="13716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6000" y="2103120"/>
            <a:ext cx="1645920" cy="13716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0" y="2103120"/>
            <a:ext cx="1645920" cy="13716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1508760"/>
            <a:ext cx="557784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RISK 2 — GDPR / Regulatory Non-Compliance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103120"/>
            <a:ext cx="1645920" cy="13716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75320" y="2103120"/>
            <a:ext cx="1645920" cy="13716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04120" y="2103120"/>
            <a:ext cx="1645920" cy="13716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>
                <a:solidFill>
                  <a:srgbClr val="FFFFFF"/>
                </a:solidFill>
              </a:rPr>
              <a:t>$491M Market </a:t>
            </a:r>
            <a:r>
              <a:rPr lang="es-CL" sz="3000" b="1" dirty="0" err="1">
                <a:solidFill>
                  <a:srgbClr val="FFFFFF"/>
                </a:solidFill>
              </a:rPr>
              <a:t>Opportunity</a:t>
            </a:r>
            <a:r>
              <a:rPr lang="es-CL" sz="3000" b="1" dirty="0">
                <a:solidFill>
                  <a:srgbClr val="FFFFFF"/>
                </a:solidFill>
              </a:rPr>
              <a:t> &amp; Risk </a:t>
            </a:r>
            <a:r>
              <a:rPr lang="es-CL" sz="3000" b="1" dirty="0" err="1">
                <a:solidFill>
                  <a:srgbClr val="FFFFFF"/>
                </a:solidFill>
              </a:rPr>
              <a:t>Monitoring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Thresholds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2 · Terry Lucas Boye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59"/>
            <a:ext cx="5577840" cy="3137863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RISK 3 — Market Window Opportunity (Positive Risk)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1645920" cy="100584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86000" y="2084831"/>
            <a:ext cx="1645920" cy="100584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14800" y="2084831"/>
            <a:ext cx="1645920" cy="100584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4674056"/>
            <a:ext cx="672684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5A"/>
                </a:solidFill>
              </a:rPr>
              <a:t>KRI Traffic Light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956048"/>
            <a:ext cx="731520" cy="2743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4974336"/>
            <a:ext cx="6766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6" y="4956048"/>
            <a:ext cx="1828800" cy="2743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16152" y="4974336"/>
            <a:ext cx="17739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KRI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44952" y="4956048"/>
            <a:ext cx="1234440" cy="2743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081528" y="497433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</a:rPr>
              <a:t>L3 — Green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4956048"/>
            <a:ext cx="1234440" cy="2743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2544" y="497433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L2 — Amber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86984" y="4956048"/>
            <a:ext cx="1234440" cy="2743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23560" y="4974336"/>
            <a:ext cx="1179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L1 — 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257800"/>
            <a:ext cx="7315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8056" y="5276088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Risk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79576" y="5257800"/>
            <a:ext cx="18288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216152" y="5276088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Monthly merchant loss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44952" y="5257800"/>
            <a:ext cx="123444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81528" y="5276088"/>
            <a:ext cx="1179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15968" y="5257800"/>
            <a:ext cx="123444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52544" y="5276088"/>
            <a:ext cx="1179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86984" y="5257800"/>
            <a:ext cx="123444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5276088"/>
            <a:ext cx="117957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605272"/>
            <a:ext cx="7315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8056" y="5623559"/>
            <a:ext cx="6766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Risk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9576" y="5605272"/>
            <a:ext cx="18288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216152" y="5623559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Regulatory inquiries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4952" y="5605272"/>
            <a:ext cx="12344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315968" y="5605272"/>
            <a:ext cx="12344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586984" y="5605272"/>
            <a:ext cx="123444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11480" y="5952744"/>
            <a:ext cx="73152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8056" y="5971031"/>
            <a:ext cx="67665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Risk 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79576" y="5952744"/>
            <a:ext cx="182880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216152" y="5971031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New merchant signups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044952" y="5952744"/>
            <a:ext cx="123444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4315968" y="5952744"/>
            <a:ext cx="123444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586984" y="5952744"/>
            <a:ext cx="1234440" cy="320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6263640" y="1508760"/>
            <a:ext cx="5577840" cy="316529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46520" y="1645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5A"/>
                </a:solidFill>
              </a:rPr>
              <a:t>Simulation Design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>
                <a:solidFill>
                  <a:srgbClr val="FFFFFF"/>
                </a:solidFill>
              </a:rPr>
              <a:t>Merchant </a:t>
            </a:r>
            <a:r>
              <a:rPr lang="es-CL" sz="3000" b="1" dirty="0" err="1">
                <a:solidFill>
                  <a:srgbClr val="FFFFFF"/>
                </a:solidFill>
              </a:rPr>
              <a:t>Retention</a:t>
            </a:r>
            <a:r>
              <a:rPr lang="es-CL" sz="3000" b="1" dirty="0">
                <a:solidFill>
                  <a:srgbClr val="FFFFFF"/>
                </a:solidFill>
              </a:rPr>
              <a:t>: </a:t>
            </a:r>
            <a:r>
              <a:rPr lang="es-CL" sz="3000" b="1" dirty="0" err="1">
                <a:solidFill>
                  <a:srgbClr val="FFFFFF"/>
                </a:solidFill>
              </a:rPr>
              <a:t>Mitigation</a:t>
            </a:r>
            <a:r>
              <a:rPr lang="es-CL" sz="3000" b="1" dirty="0">
                <a:solidFill>
                  <a:srgbClr val="FFFFFF"/>
                </a:solidFill>
              </a:rPr>
              <a:t> Plan &amp; Response </a:t>
            </a:r>
            <a:r>
              <a:rPr lang="es-CL" sz="3000" b="1" dirty="0" err="1">
                <a:solidFill>
                  <a:srgbClr val="FFFFFF"/>
                </a:solidFill>
              </a:rPr>
              <a:t>Protocol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8F5EE"/>
                </a:solidFill>
              </a:rPr>
              <a:t>Part 3 · Ekene Onyemanjo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OPTIMAL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55778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SUB-OPTIMAL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 err="1">
                <a:solidFill>
                  <a:srgbClr val="FFFFFF"/>
                </a:solidFill>
              </a:rPr>
              <a:t>Managing</a:t>
            </a:r>
            <a:r>
              <a:rPr lang="es-CL" sz="3000" b="1" dirty="0">
                <a:solidFill>
                  <a:srgbClr val="FFFFFF"/>
                </a:solidFill>
              </a:rPr>
              <a:t> Legal </a:t>
            </a:r>
            <a:r>
              <a:rPr lang="es-CL" sz="3000" b="1" dirty="0" err="1">
                <a:solidFill>
                  <a:srgbClr val="FFFFFF"/>
                </a:solidFill>
              </a:rPr>
              <a:t>Exposure</a:t>
            </a:r>
            <a:r>
              <a:rPr lang="es-CL" sz="3000" b="1" dirty="0">
                <a:solidFill>
                  <a:srgbClr val="FFFFFF"/>
                </a:solidFill>
              </a:rPr>
              <a:t>: GDPR · EU AI </a:t>
            </a:r>
            <a:r>
              <a:rPr lang="es-CL" sz="3000" b="1" dirty="0" err="1">
                <a:solidFill>
                  <a:srgbClr val="FFFFFF"/>
                </a:solidFill>
              </a:rPr>
              <a:t>Act</a:t>
            </a:r>
            <a:r>
              <a:rPr lang="es-CL" sz="3000" b="1" dirty="0">
                <a:solidFill>
                  <a:srgbClr val="FFFFFF"/>
                </a:solidFill>
              </a:rPr>
              <a:t> · PIPEDA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3 · Ekene </a:t>
            </a:r>
            <a:r>
              <a:rPr sz="1300" b="0" i="0" dirty="0" err="1">
                <a:solidFill>
                  <a:srgbClr val="E8F5EE"/>
                </a:solidFill>
              </a:rPr>
              <a:t>Onyemanjo</a:t>
            </a:r>
            <a:endParaRPr sz="1300" b="0" i="0" dirty="0">
              <a:solidFill>
                <a:srgbClr val="E8F5E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OPTIMAL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55778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SUB-OPTIMAL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000" b="1" dirty="0" err="1">
                <a:solidFill>
                  <a:srgbClr val="FFFFFF"/>
                </a:solidFill>
              </a:rPr>
              <a:t>Exploiting</a:t>
            </a:r>
            <a:r>
              <a:rPr lang="es-CL" sz="3000" b="1" dirty="0">
                <a:solidFill>
                  <a:srgbClr val="FFFFFF"/>
                </a:solidFill>
              </a:rPr>
              <a:t> </a:t>
            </a:r>
            <a:r>
              <a:rPr lang="es-CL" sz="3000" b="1" dirty="0" err="1">
                <a:solidFill>
                  <a:srgbClr val="FFFFFF"/>
                </a:solidFill>
              </a:rPr>
              <a:t>the</a:t>
            </a:r>
            <a:r>
              <a:rPr lang="es-CL" sz="3000" b="1" dirty="0">
                <a:solidFill>
                  <a:srgbClr val="FFFFFF"/>
                </a:solidFill>
              </a:rPr>
              <a:t> AI Search </a:t>
            </a:r>
            <a:r>
              <a:rPr lang="es-CL" sz="3000" b="1" dirty="0" err="1">
                <a:solidFill>
                  <a:srgbClr val="FFFFFF"/>
                </a:solidFill>
              </a:rPr>
              <a:t>Opportunity</a:t>
            </a:r>
            <a:r>
              <a:rPr lang="es-CL" sz="3000" b="1" dirty="0">
                <a:solidFill>
                  <a:srgbClr val="FFFFFF"/>
                </a:solidFill>
              </a:rPr>
              <a:t>: $491M Window</a:t>
            </a:r>
            <a:endParaRPr sz="3000" b="1" dirty="0">
              <a:solidFill>
                <a:srgbClr val="FFFF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3 · Ekene </a:t>
            </a:r>
            <a:r>
              <a:rPr sz="1300" b="0" i="0" dirty="0" err="1">
                <a:solidFill>
                  <a:srgbClr val="E8F5EE"/>
                </a:solidFill>
              </a:rPr>
              <a:t>Onyemanjo</a:t>
            </a:r>
            <a:endParaRPr sz="1300" b="0" i="0" dirty="0">
              <a:solidFill>
                <a:srgbClr val="E8F5E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577840" cy="457200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79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OPTIMAL STRATEGY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508760"/>
            <a:ext cx="5577840" cy="4983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sz="1200">
              <a:latin typeface="+mj-l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63640" y="1508760"/>
            <a:ext cx="55778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SUB-OPTIMAL STRATEGY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</a:rPr>
              <a:t>Risk Monitoring &amp; 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8F5EE"/>
                </a:solidFill>
              </a:rPr>
              <a:t>Part 3 · Ekene </a:t>
            </a:r>
            <a:r>
              <a:rPr sz="1300" b="0" i="0" dirty="0" err="1">
                <a:solidFill>
                  <a:srgbClr val="E8F5EE"/>
                </a:solidFill>
              </a:rPr>
              <a:t>Onyemanjo</a:t>
            </a:r>
            <a:endParaRPr sz="1300" b="0" i="0" dirty="0">
              <a:solidFill>
                <a:srgbClr val="E8F5E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508760"/>
            <a:ext cx="2011680" cy="10515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9276" y="1720739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/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C5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96312" y="1508760"/>
            <a:ext cx="2011680" cy="105156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548" y="1720739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/>
              <a:t>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C5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2584" y="1508760"/>
            <a:ext cx="2011680" cy="105156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820" y="1720739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/>
              <a:t>Quantify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4264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C5A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48856" y="1508760"/>
            <a:ext cx="2011680" cy="105156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92" y="1720739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/>
              <a:t>Prioritize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C5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1508760"/>
            <a:ext cx="2011680" cy="10515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34364" y="1720739"/>
            <a:ext cx="2011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/>
              <a:t>Monitor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43200"/>
            <a:ext cx="1161288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2834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5A"/>
                </a:solidFill>
              </a:rPr>
              <a:t>Risk Owners &amp; Review Frequency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3182112"/>
            <a:ext cx="640080" cy="25603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200400"/>
            <a:ext cx="5943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8136" y="3182112"/>
            <a:ext cx="2560320" cy="25603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" y="320040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85031" y="3182112"/>
            <a:ext cx="2011680" cy="25603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12463" y="3200400"/>
            <a:ext cx="1965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33288" y="3182112"/>
            <a:ext cx="2377440" cy="25603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0" y="3200400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KRI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7303" y="3182112"/>
            <a:ext cx="1234440" cy="25603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5" y="320040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Review Freq.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18319" y="3182112"/>
            <a:ext cx="2377440" cy="256032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45751" y="3200400"/>
            <a:ext cx="2331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Next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456432"/>
            <a:ext cx="64008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3465576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R1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88136" y="3456432"/>
            <a:ext cx="256032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5568" y="3465576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A2E"/>
                </a:solidFill>
              </a:rPr>
              <a:t>Merchant Churn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85031" y="3456432"/>
            <a:ext cx="201168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733288" y="3456432"/>
            <a:ext cx="237744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147303" y="3456432"/>
            <a:ext cx="123444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9418319" y="3456432"/>
            <a:ext cx="2377440" cy="27432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11480" y="3758183"/>
            <a:ext cx="6400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8912" y="3767328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A1A2E"/>
                </a:solidFill>
              </a:rPr>
              <a:t>R2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88136" y="3758183"/>
            <a:ext cx="256032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15568" y="3767328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A2E"/>
                </a:solidFill>
              </a:rPr>
              <a:t>GDPR / Regulatory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85031" y="3758183"/>
            <a:ext cx="201168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733288" y="3758183"/>
            <a:ext cx="237744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147303" y="3758183"/>
            <a:ext cx="123444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19" y="3758183"/>
            <a:ext cx="2377440" cy="274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11480" y="4059935"/>
            <a:ext cx="6400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38912" y="4069080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0A1A2E"/>
                </a:solidFill>
              </a:rPr>
              <a:t>R3+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8136" y="4059935"/>
            <a:ext cx="2560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15568" y="406908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1A2E"/>
                </a:solidFill>
              </a:rPr>
              <a:t>Market Window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85031" y="4059935"/>
            <a:ext cx="20116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733288" y="4059935"/>
            <a:ext cx="2377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147303" y="4059935"/>
            <a:ext cx="1234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418319" y="4059935"/>
            <a:ext cx="23774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74320" y="4370832"/>
            <a:ext cx="11612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57200" y="4462272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C5A"/>
                </a:solidFill>
              </a:rPr>
              <a:t>Monitoring Principles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4864608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A3A"/>
                </a:solidFill>
                <a:latin typeface="+mj-lt"/>
              </a:rPr>
              <a:t>Ongoing Evaluation: 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321808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A4A3A"/>
                </a:solidFill>
                <a:latin typeface="+mj-lt"/>
              </a:rPr>
              <a:t>Separate Evaluation:  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5779008"/>
            <a:ext cx="16459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4A3A"/>
                </a:solidFill>
                <a:latin typeface="+mj-lt"/>
              </a:rPr>
              <a:t>Reporting to Board: 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FFC200"/>
                </a:solidFill>
              </a:rPr>
              <a:t>Part </a:t>
            </a:r>
            <a:r>
              <a:rPr lang="es-CL" sz="1300" b="0" i="1" dirty="0">
                <a:solidFill>
                  <a:srgbClr val="FFC200"/>
                </a:solidFill>
              </a:rPr>
              <a:t>4</a:t>
            </a:r>
            <a:r>
              <a:rPr sz="1300" b="0" i="1" dirty="0">
                <a:solidFill>
                  <a:srgbClr val="FFC200"/>
                </a:solidFill>
              </a:rPr>
              <a:t> · </a:t>
            </a:r>
            <a:r>
              <a:rPr lang="es-CL" sz="1300" b="0" i="1" dirty="0">
                <a:solidFill>
                  <a:srgbClr val="FFC200"/>
                </a:solidFill>
              </a:rPr>
              <a:t>Lissette Diaz</a:t>
            </a:r>
            <a:endParaRPr sz="1300" b="0" i="1" dirty="0">
              <a:solidFill>
                <a:srgbClr val="FFC2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1143000"/>
            <a:ext cx="10515600" cy="36576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298448"/>
            <a:ext cx="640080" cy="10972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C200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06039"/>
            <a:ext cx="640080" cy="10972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880359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C200"/>
                </a:solidFill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913631"/>
            <a:ext cx="640080" cy="10972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187951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C200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221224"/>
            <a:ext cx="640080" cy="109728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495544"/>
            <a:ext cx="64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FFC200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492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</a:rPr>
              <a:t>Northeastern University · ALY 6130 · Group 1 · June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Shopify Inc. (2026). Q1 2026 Investor Press Release. investor.shopify.com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39112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Shopify Inc. (2026). Financial Statements &amp; Supplemental Data — Q1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69463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58775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BetaKit. (2025). Shopify acquires Vantage Discovery to bolster AI-powered search. betakit.com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99815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3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COSO. (2017). Enterprise Risk Management — Integrating with Strategy and Performance.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630168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648456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Palmer, D. (2025). EU AI Act implementation timeline and enforcement priorities.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60520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178807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Recurly. (2024). Subscription churn benchmarks — SaaS and e-commerce platforms.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690871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709159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Turi, A. N. (2026). ALY 6130 Risk Management Analytics — Course Lectures &amp; Modules.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21223"/>
            <a:ext cx="45720" cy="347472"/>
          </a:xfrm>
          <a:prstGeom prst="rect">
            <a:avLst/>
          </a:prstGeom>
          <a:solidFill>
            <a:srgbClr val="00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5239511"/>
            <a:ext cx="10972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A1A2E"/>
                </a:solidFill>
              </a:rPr>
              <a:t>Jefferies. (2026). Shopify Equity Research — Vantage Discovery Acquisition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833872"/>
            <a:ext cx="11612880" cy="50292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5888736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FFFFFF"/>
                </a:solidFill>
              </a:rPr>
              <a:t>Group 1  ·  Lissette Diaz  ·  Terry Lucas Boye  ·  Ekene </a:t>
            </a:r>
            <a:r>
              <a:rPr sz="1100" b="0" i="0" dirty="0" err="1">
                <a:solidFill>
                  <a:srgbClr val="FFFFFF"/>
                </a:solidFill>
              </a:rPr>
              <a:t>Onyemanjo</a:t>
            </a:r>
            <a:r>
              <a:rPr sz="1100" b="0" i="0" dirty="0">
                <a:solidFill>
                  <a:srgbClr val="FFFFFF"/>
                </a:solidFill>
              </a:rPr>
              <a:t>  ·  ALY 6130  ·  Northeastern University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1061</Words>
  <Application>Microsoft Office PowerPoint</Application>
  <PresentationFormat>Custom</PresentationFormat>
  <Paragraphs>197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Lissette Diaz</dc:creator>
  <cp:keywords/>
  <dc:description>generated using python-pptx</dc:description>
  <cp:lastModifiedBy>Lissette Diaz</cp:lastModifiedBy>
  <cp:revision>7</cp:revision>
  <dcterms:created xsi:type="dcterms:W3CDTF">2013-01-27T09:14:16Z</dcterms:created>
  <dcterms:modified xsi:type="dcterms:W3CDTF">2026-06-25T10:12:43Z</dcterms:modified>
  <cp:category/>
</cp:coreProperties>
</file>